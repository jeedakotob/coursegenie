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81" r:id="rId11"/>
    <p:sldId id="282" r:id="rId12"/>
    <p:sldId id="283" r:id="rId13"/>
    <p:sldId id="284" r:id="rId14"/>
    <p:sldId id="285" r:id="rId15"/>
    <p:sldId id="286" r:id="rId16"/>
  </p:sldIdLst>
  <p:sldSz cx="9144000" cy="5143500" type="screen16x9"/>
  <p:notesSz cx="6858000" cy="9144000"/>
  <p:embeddedFontLst>
    <p:embeddedFont>
      <p:font typeface="Cairo" pitchFamily="2" charset="-78"/>
      <p:regular r:id="rId18"/>
      <p:bold r:id="rId19"/>
    </p:embeddedFont>
    <p:embeddedFont>
      <p:font typeface="Ubuntu" panose="020B0504030602030204" pitchFamily="34" charset="0"/>
      <p:regular r:id="rId20"/>
      <p:bold r:id="rId21"/>
      <p:italic r:id="rId22"/>
      <p:boldItalic r:id="rId23"/>
    </p:embeddedFont>
    <p:embeddedFont>
      <p:font typeface="Ubuntu Condensed" panose="020B0506030602030204" pitchFamily="3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62B"/>
    <a:srgbClr val="024964"/>
    <a:srgbClr val="00A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6D4ECC-2E9A-4D92-8BDE-3A10419CA156}">
  <a:tblStyle styleId="{726D4ECC-2E9A-4D92-8BDE-3A10419CA1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E487423-8152-41B6-B0DC-3F3956A2397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5029E4-43CB-49BD-968D-FCFBB625835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70"/>
    <p:restoredTop sz="94652"/>
  </p:normalViewPr>
  <p:slideViewPr>
    <p:cSldViewPr snapToGrid="0">
      <p:cViewPr>
        <p:scale>
          <a:sx n="73" d="100"/>
          <a:sy n="73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3738B9F2-794C-98D7-5201-6D9D89F2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>
            <a:extLst>
              <a:ext uri="{FF2B5EF4-FFF2-40B4-BE49-F238E27FC236}">
                <a16:creationId xmlns:a16="http://schemas.microsoft.com/office/drawing/2014/main" id="{39FEE298-3A54-8E2F-0D30-42AF106640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30:notes">
            <a:extLst>
              <a:ext uri="{FF2B5EF4-FFF2-40B4-BE49-F238E27FC236}">
                <a16:creationId xmlns:a16="http://schemas.microsoft.com/office/drawing/2014/main" id="{C1DF05D9-C586-DF1C-FEF9-C4AFF33F4A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36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0" y="26517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-628">
            <a:off x="719999" y="3269922"/>
            <a:ext cx="3286200" cy="4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767925" y="431200"/>
            <a:ext cx="2931600" cy="174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Google Shape;13;p2"/>
          <p:cNvSpPr>
            <a:spLocks noGrp="1"/>
          </p:cNvSpPr>
          <p:nvPr>
            <p:ph type="pic" idx="3"/>
          </p:nvPr>
        </p:nvSpPr>
        <p:spPr>
          <a:xfrm>
            <a:off x="5767925" y="2362725"/>
            <a:ext cx="2931600" cy="2349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4" name="Google Shape;14;p2"/>
          <p:cNvSpPr/>
          <p:nvPr/>
        </p:nvSpPr>
        <p:spPr>
          <a:xfrm>
            <a:off x="0" y="4984750"/>
            <a:ext cx="8574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5A4AE6D-D330-A365-7AA1-67B56460C9B8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 amt="14000"/>
          </a:blip>
          <a:srcRect/>
          <a:stretch/>
        </p:blipFill>
        <p:spPr>
          <a:xfrm>
            <a:off x="0" y="27432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720000" y="1237075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4572000" y="1237075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720000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720000" y="2577766"/>
            <a:ext cx="23364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3"/>
          </p:nvPr>
        </p:nvSpPr>
        <p:spPr>
          <a:xfrm>
            <a:off x="3403748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4"/>
          </p:nvPr>
        </p:nvSpPr>
        <p:spPr>
          <a:xfrm>
            <a:off x="3403800" y="2577766"/>
            <a:ext cx="23364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5"/>
          </p:nvPr>
        </p:nvSpPr>
        <p:spPr>
          <a:xfrm>
            <a:off x="6087496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6"/>
          </p:nvPr>
        </p:nvSpPr>
        <p:spPr>
          <a:xfrm>
            <a:off x="6087600" y="2577766"/>
            <a:ext cx="23364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1789200" y="919200"/>
            <a:ext cx="5565600" cy="13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1131850" y="1294750"/>
            <a:ext cx="41628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ubTitle" idx="1"/>
          </p:nvPr>
        </p:nvSpPr>
        <p:spPr>
          <a:xfrm>
            <a:off x="1442600" y="2589925"/>
            <a:ext cx="3541200" cy="12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60;p7">
            <a:extLst>
              <a:ext uri="{FF2B5EF4-FFF2-40B4-BE49-F238E27FC236}">
                <a16:creationId xmlns:a16="http://schemas.microsoft.com/office/drawing/2014/main" id="{85409822-79EB-42AC-F863-86D0D7C65485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>
            <a:spLocks noGrp="1"/>
          </p:cNvSpPr>
          <p:nvPr>
            <p:ph type="pic" idx="2"/>
          </p:nvPr>
        </p:nvSpPr>
        <p:spPr>
          <a:xfrm>
            <a:off x="-7650" y="-7650"/>
            <a:ext cx="9159300" cy="5158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720000" y="4000500"/>
            <a:ext cx="7704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" name="Google Shape;60;p7">
            <a:extLst>
              <a:ext uri="{FF2B5EF4-FFF2-40B4-BE49-F238E27FC236}">
                <a16:creationId xmlns:a16="http://schemas.microsoft.com/office/drawing/2014/main" id="{6BBCFEC0-73CD-DB0E-C68D-84B82F027593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7">
            <a:extLst>
              <a:ext uri="{FF2B5EF4-FFF2-40B4-BE49-F238E27FC236}">
                <a16:creationId xmlns:a16="http://schemas.microsoft.com/office/drawing/2014/main" id="{6B3C6959-349F-A791-70FD-B25E18776BA6}"/>
              </a:ext>
            </a:extLst>
          </p:cNvPr>
          <p:cNvSpPr txBox="1"/>
          <p:nvPr userDrawn="1"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1"/>
          <p:cNvPicPr preferRelativeResize="0"/>
          <p:nvPr/>
        </p:nvPicPr>
        <p:blipFill rotWithShape="1">
          <a:blip r:embed="rId2">
            <a:alphaModFix amt="14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2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/>
          <p:nvPr/>
        </p:nvSpPr>
        <p:spPr>
          <a:xfrm>
            <a:off x="0" y="0"/>
            <a:ext cx="11241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/21</a:t>
            </a: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 Condensed"/>
              <a:buNone/>
              <a:defRPr sz="35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 idx="4294967295"/>
          </p:nvPr>
        </p:nvSpPr>
        <p:spPr>
          <a:xfrm>
            <a:off x="720000" y="829550"/>
            <a:ext cx="46668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600" b="1" i="0" u="none" strike="noStrike" cap="none" dirty="0">
                <a:solidFill>
                  <a:srgbClr val="00A7E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CourseGenie</a:t>
            </a:r>
            <a:r>
              <a:rPr lang="en-US" sz="4600" b="1" i="0" u="none" strike="noStrike" cap="none" dirty="0">
                <a:solidFill>
                  <a:srgbClr val="FFA62B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+</a:t>
            </a:r>
            <a:r>
              <a:rPr lang="en-US" sz="4600" b="1" i="0" u="none" strike="noStrike" cap="none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:</a:t>
            </a:r>
            <a:r>
              <a:rPr lang="en-US" sz="4600" b="1" i="0" u="none" strike="noStrike" cap="none" dirty="0">
                <a:solidFill>
                  <a:srgbClr val="00ADEF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Centralized Academic Workflow Automation</a:t>
            </a:r>
            <a:endParaRPr sz="3800" b="1" i="0" u="none" strike="noStrike" cap="none" dirty="0">
              <a:solidFill>
                <a:schemeClr val="dk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cxnSp>
        <p:nvCxnSpPr>
          <p:cNvPr id="86" name="Google Shape;86;p13"/>
          <p:cNvCxnSpPr/>
          <p:nvPr/>
        </p:nvCxnSpPr>
        <p:spPr>
          <a:xfrm>
            <a:off x="0" y="33972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3"/>
          <p:cNvSpPr txBox="1"/>
          <p:nvPr/>
        </p:nvSpPr>
        <p:spPr>
          <a:xfrm>
            <a:off x="720000" y="3144399"/>
            <a:ext cx="352697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Team Members: Jeeda Kotob, Ryma Ait Tayeb, Ibraheem Mustafa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Deliverable 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Mentors: Dr. Ali Assi &amp;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Mr.Qusai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Hassan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November 2025</a:t>
            </a:r>
            <a:endParaRPr dirty="0"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6800" y="1236083"/>
            <a:ext cx="2660233" cy="2660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Motivation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720000" y="1374727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Faculty and administrators spend significant time on repetitive academic tasks such as:</a:t>
            </a:r>
            <a:endParaRPr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Preparing Course Assessment Reports (CAR)</a:t>
            </a:r>
            <a:endParaRPr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Extracting and analyzing student grade statistics</a:t>
            </a:r>
            <a:endParaRPr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Preparing course peer-review reports.  </a:t>
            </a:r>
            <a:endParaRPr dirty="0"/>
          </a:p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Because these tasks are done manually, they reduce valuable time for teaching and research. CourseGenie+ streamlines these processes through automation and centralized dashboards, improving efficiency across the academic workflow.</a:t>
            </a:r>
            <a:endParaRPr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User Stories </a:t>
            </a:r>
            <a:r>
              <a:rPr lang="en-US" dirty="0">
                <a:solidFill>
                  <a:schemeClr val="lt2"/>
                </a:solidFill>
              </a:rPr>
              <a:t>- </a:t>
            </a:r>
            <a:r>
              <a:rPr lang="en-US" dirty="0">
                <a:solidFill>
                  <a:srgbClr val="024964"/>
                </a:solidFill>
              </a:rPr>
              <a:t>Professor Features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28"/>
          <p:cNvGraphicFramePr/>
          <p:nvPr>
            <p:extLst>
              <p:ext uri="{D42A27DB-BD31-4B8C-83A1-F6EECF244321}">
                <p14:modId xmlns:p14="http://schemas.microsoft.com/office/powerpoint/2010/main" val="310940306"/>
              </p:ext>
            </p:extLst>
          </p:nvPr>
        </p:nvGraphicFramePr>
        <p:xfrm>
          <a:off x="1410575" y="1427728"/>
          <a:ext cx="6322850" cy="2959997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 Professor, the system features should allow me to:</a:t>
                      </a:r>
                      <a:endParaRPr sz="1600" b="1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Log in to the correct dashboard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Manage course calendar (drag &amp; drop assessments)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Generate and edit syllabus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professors teaching same course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Submit syllabus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Assign exam rooms to students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gradebook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Send automatic exam notifications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Grade color-highlighting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Download exam room assignment report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class performance statistics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Edit profile info (office hours, email, room)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Auto-generate CAR report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Map CLO–PLO 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5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User Stories - Administrator Features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" name="Google Shape;236;p29"/>
          <p:cNvGraphicFramePr/>
          <p:nvPr>
            <p:extLst>
              <p:ext uri="{D42A27DB-BD31-4B8C-83A1-F6EECF244321}">
                <p14:modId xmlns:p14="http://schemas.microsoft.com/office/powerpoint/2010/main" val="2471484332"/>
              </p:ext>
            </p:extLst>
          </p:nvPr>
        </p:nvGraphicFramePr>
        <p:xfrm>
          <a:off x="1410575" y="1654003"/>
          <a:ext cx="6322850" cy="2179445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an Administrator, the system features should allow me to: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Admin dashboard access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Assign reviewer to reviewee and vice versa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Track syllabus submissions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Track peer review progress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Preview + download syllabus files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Initiate peer review workflow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Track CAR submissions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Automatic reminder emails (syllabus + CAR)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Preview + download CAR files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Create + configure course sections</a:t>
                      </a:r>
                      <a:endParaRPr dirty="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29762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User Stories - Reviewer &amp; Reviewee Features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805225" y="1237200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246" name="Google Shape;246;p30"/>
          <p:cNvGraphicFramePr/>
          <p:nvPr>
            <p:extLst>
              <p:ext uri="{D42A27DB-BD31-4B8C-83A1-F6EECF244321}">
                <p14:modId xmlns:p14="http://schemas.microsoft.com/office/powerpoint/2010/main" val="332480538"/>
              </p:ext>
            </p:extLst>
          </p:nvPr>
        </p:nvGraphicFramePr>
        <p:xfrm>
          <a:off x="1228395" y="1890329"/>
          <a:ext cx="2893025" cy="1743815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 Reviewer, the system features should allow me to: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assigned review tasks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Complete evaluation forms</a:t>
                      </a:r>
                      <a:endParaRPr dirty="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Submit structured feedback</a:t>
                      </a:r>
                      <a:endParaRPr dirty="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7" name="Google Shape;247;p30"/>
          <p:cNvGraphicFramePr/>
          <p:nvPr>
            <p:extLst>
              <p:ext uri="{D42A27DB-BD31-4B8C-83A1-F6EECF244321}">
                <p14:modId xmlns:p14="http://schemas.microsoft.com/office/powerpoint/2010/main" val="1608663833"/>
              </p:ext>
            </p:extLst>
          </p:nvPr>
        </p:nvGraphicFramePr>
        <p:xfrm>
          <a:off x="4868810" y="1887466"/>
          <a:ext cx="2893025" cy="1743814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66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 Reviewee, the system features should allow me to: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received feedback</a:t>
                      </a:r>
                      <a:endParaRPr sz="1400" b="1" u="none" strike="noStrike" cap="none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7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Submit reflection response</a:t>
                      </a:r>
                      <a:endParaRPr sz="1400" b="1" u="none" strike="noStrike" cap="none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6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 dirty="0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713932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Use Case: UC01 - User Login &amp; Dashboard Selection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720000" y="1237200"/>
            <a:ext cx="735745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Goal: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Direct user to correct dashboard based on role(s)</a:t>
            </a:r>
            <a:endParaRPr sz="1200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Actors: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Admin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(Authentication)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Main Flow: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User enters credentials → System verifies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checks user role(s)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If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one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role → go directly to dashboard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If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multiple roles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→ show role selection popup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User chooses role → go to selected dashboard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Alternate / Exceptions: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Invalid credentials will show an error message</a:t>
            </a: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713932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Use Case: UC02 - CAR Preview &amp; Submission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720000" y="1237200"/>
            <a:ext cx="7704000" cy="3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Goal: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Allow professor to view, download, and submit auto-generated CAR)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Actors: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(Database)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Main Flow: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 opens course section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Opens CAR Report tab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generates CAR preview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 reviews preview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Alternate / Exceptions: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If required data missing → system disables Submit and  shows error message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 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Use Case Diagram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3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75" name="Google Shape;275;p33" descr="A diagram of a dia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11427"/>
          <a:stretch>
            <a:fillRect/>
          </a:stretch>
        </p:blipFill>
        <p:spPr>
          <a:xfrm>
            <a:off x="1939199" y="1297864"/>
            <a:ext cx="5441652" cy="353646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Work Breakdown Structure (WBS)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95" name="Google Shape;295;p35" descr="A diagram with text and box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133" y="1334375"/>
            <a:ext cx="7227650" cy="34017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Project Risk Register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323" name="Google Shape;323;p38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325" name="Google Shape;325;p38"/>
          <p:cNvGraphicFramePr/>
          <p:nvPr>
            <p:extLst>
              <p:ext uri="{D42A27DB-BD31-4B8C-83A1-F6EECF244321}">
                <p14:modId xmlns:p14="http://schemas.microsoft.com/office/powerpoint/2010/main" val="1535146783"/>
              </p:ext>
            </p:extLst>
          </p:nvPr>
        </p:nvGraphicFramePr>
        <p:xfrm>
          <a:off x="796017" y="1406855"/>
          <a:ext cx="7704000" cy="3342986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322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Risk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Impact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Mitigation</a:t>
                      </a:r>
                      <a:endParaRPr sz="1100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curve in Spring Boot / Angular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sprints, pair programming, small prototype modules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Time constraints due to other courses</a:t>
                      </a:r>
                      <a:endParaRPr sz="1100" dirty="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Critical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Strict weekly sprint schedule; prioritize MVP features first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No access to MyCourses data/API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Run CourseGenie+ as standalone platform and allow manual import/export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Adoption resistance from professors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Simple UI, short training videos, early feedback loops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UI complexity causing confusion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Medium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Consistent layouts, tooltips, user testing with mentors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Data entry or selection errors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Medium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Validation fields, warnings, clear form guidance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curve in Spring Boot / Angular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sprints, pair programming, small prototype modules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2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Time constraints due to other courses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0" u="none" strike="noStrike" cap="none" dirty="0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Critical</a:t>
                      </a:r>
                      <a:endParaRPr sz="1100" dirty="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Strict weekly sprint schedule; prioritize MVP features first</a:t>
                      </a:r>
                      <a:endParaRPr sz="1100" dirty="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/>
        </p:nvSpPr>
        <p:spPr>
          <a:xfrm>
            <a:off x="4804360" y="1329001"/>
            <a:ext cx="4604400" cy="2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Technical Resources</a:t>
            </a:r>
            <a:endParaRPr sz="1200" b="1" i="0" u="none" strike="noStrike" cap="none" dirty="0">
              <a:solidFill>
                <a:schemeClr val="dk2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Spring Boot – backend framework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Angular – frontend dashboards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MySQL – data storage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GitHub – version control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VS Code / IntelliJ / </a:t>
            </a:r>
            <a:r>
              <a:rPr lang="en-US" sz="1200" b="0" i="0" u="none" strike="noStrike" cap="none" dirty="0" err="1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PlantUML</a:t>
            </a: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– dev &amp; documentation tools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1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720000" y="1273475"/>
            <a:ext cx="4604400" cy="1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Human Resources</a:t>
            </a:r>
            <a:endParaRPr sz="1200" b="1" i="0" u="none" strike="noStrike" cap="none" dirty="0">
              <a:solidFill>
                <a:schemeClr val="dk2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Jeeda Kotob – Full-Stack (backend–frontend integration, DB)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Ryma Ait Tayeb – Backend (APIs, Spring Boot)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Ibraheem Mustafa – Frontend (Angular dashboards)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Mentors: Dr. Ali Assi &amp; Mr. Qusai Hasan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Stakeholder: Ms. Dezzil Castelino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Weekly mentor reviews &amp; sprint meetings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1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2762180" y="3161975"/>
            <a:ext cx="4604400" cy="1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Logistical Resources</a:t>
            </a:r>
            <a:endParaRPr sz="1200" b="1" i="0" u="none" strike="noStrike" cap="none">
              <a:solidFill>
                <a:schemeClr val="dk2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Personal / RIT laptops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Campus labs &amp; meeting rooms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Google Drive &amp; GitHub for collaboration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Mentor feedback sessions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228600" marR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1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335" name="Google Shape;335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Resource Planning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Budget Overview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720000" y="139582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Ubuntu Condensed"/>
              <a:buChar char="●"/>
            </a:pPr>
            <a: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All tools = open-source or academic licenses</a:t>
            </a:r>
            <a:b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</a:br>
            <a:endParaRPr sz="14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Ubuntu Condensed"/>
              <a:buChar char="●"/>
            </a:pPr>
            <a: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Infrastructure &amp; hosting = RIT provided</a:t>
            </a:r>
            <a:b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</a:br>
            <a:endParaRPr sz="14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Ubuntu Condensed"/>
              <a:buChar char="●"/>
            </a:pPr>
            <a: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Total Cost = 0 AED (University-supported)</a:t>
            </a:r>
            <a:endParaRPr sz="14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Initial Bill of Materials (BoM)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353" name="Google Shape;353;p41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4" name="Google Shape;354;p41"/>
          <p:cNvGraphicFramePr/>
          <p:nvPr>
            <p:extLst>
              <p:ext uri="{D42A27DB-BD31-4B8C-83A1-F6EECF244321}">
                <p14:modId xmlns:p14="http://schemas.microsoft.com/office/powerpoint/2010/main" val="2178191708"/>
              </p:ext>
            </p:extLst>
          </p:nvPr>
        </p:nvGraphicFramePr>
        <p:xfrm>
          <a:off x="805225" y="1546227"/>
          <a:ext cx="7932385" cy="2536996"/>
        </p:xfrm>
        <a:graphic>
          <a:graphicData uri="http://schemas.openxmlformats.org/drawingml/2006/table">
            <a:tbl>
              <a:tblPr>
                <a:noFill/>
                <a:tableStyleId>{A75029E4-43CB-49BD-968D-FCFBB625835D}</a:tableStyleId>
              </a:tblPr>
              <a:tblGrid>
                <a:gridCol w="158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Category</a:t>
                      </a:r>
                      <a:endParaRPr sz="1400" b="1" u="none" strike="noStrike" cap="none" dirty="0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Component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Source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Purpose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Cost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Hardware</a:t>
                      </a:r>
                      <a:endParaRPr sz="1100" b="1" u="none" strike="noStrike" cap="none" dirty="0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Developer Laptops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Personal / RIT Dubai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Development &amp; testing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Provided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Software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Spring Boot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Open Source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Backend framework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Software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Angular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Open Source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Frontend UI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Database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MySQL Server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Oracle Community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Data storage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Version Control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GitHub (Education)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GitHub Education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Collaboration &amp; tracking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Design Tools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PlantUML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Open Source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Diagrams &amp; docs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rgbClr val="024964"/>
                </a:solidFill>
              </a:rPr>
              <a:t>Test Plan </a:t>
            </a:r>
            <a:endParaRPr dirty="0">
              <a:solidFill>
                <a:srgbClr val="024964"/>
              </a:solidFill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Objective:</a:t>
            </a:r>
            <a:endParaRPr sz="1200" dirty="0">
              <a:solidFill>
                <a:srgbClr val="FDB040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Verify that system features function correctly for both Professors and Admins.</a:t>
            </a:r>
            <a:endParaRPr sz="1200" dirty="0"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Testing Focus Areas:</a:t>
            </a:r>
            <a:endParaRPr sz="1200"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Login &amp; Authentication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Syllabus Generation &amp; Submission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CAR Report Generation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CLO–PLO Mapping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Peer Review Workflow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Exam Room Assignment &amp; Notifications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Gradebook &amp; Statistics Display</a:t>
            </a:r>
            <a:endParaRPr sz="1200" dirty="0"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Testing Method:</a:t>
            </a:r>
            <a:endParaRPr sz="1200"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Manual functional testing per implemented feature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Pass/Fail tracking in structured test sheets</a:t>
            </a:r>
            <a:endParaRPr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CBDE7129-4F28-2403-808E-DB5E4796D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>
            <a:extLst>
              <a:ext uri="{FF2B5EF4-FFF2-40B4-BE49-F238E27FC236}">
                <a16:creationId xmlns:a16="http://schemas.microsoft.com/office/drawing/2014/main" id="{531B54BB-F1BE-F278-EB1B-E36833E1A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5183" y="2094999"/>
            <a:ext cx="275277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sz="4800" dirty="0">
                <a:solidFill>
                  <a:schemeClr val="tx2"/>
                </a:solidFill>
              </a:rPr>
              <a:t>Thank</a:t>
            </a:r>
            <a:r>
              <a:rPr lang="en-US" sz="4800" dirty="0">
                <a:solidFill>
                  <a:schemeClr val="bg2">
                    <a:lumMod val="75000"/>
                  </a:schemeClr>
                </a:solidFill>
              </a:rPr>
              <a:t>You!</a:t>
            </a:r>
            <a:endParaRPr sz="4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Google Shape;353;p41">
            <a:extLst>
              <a:ext uri="{FF2B5EF4-FFF2-40B4-BE49-F238E27FC236}">
                <a16:creationId xmlns:a16="http://schemas.microsoft.com/office/drawing/2014/main" id="{DD8D990F-7BC2-43ED-788C-E977BB3E6296}"/>
              </a:ext>
            </a:extLst>
          </p:cNvPr>
          <p:cNvSpPr/>
          <p:nvPr/>
        </p:nvSpPr>
        <p:spPr>
          <a:xfrm>
            <a:off x="2260672" y="1546945"/>
            <a:ext cx="4301796" cy="115796"/>
          </a:xfrm>
          <a:prstGeom prst="rect">
            <a:avLst/>
          </a:prstGeom>
          <a:solidFill>
            <a:srgbClr val="FFA6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53;p41">
            <a:extLst>
              <a:ext uri="{FF2B5EF4-FFF2-40B4-BE49-F238E27FC236}">
                <a16:creationId xmlns:a16="http://schemas.microsoft.com/office/drawing/2014/main" id="{7BBE744D-4B9B-D557-228F-13501365C92A}"/>
              </a:ext>
            </a:extLst>
          </p:cNvPr>
          <p:cNvSpPr/>
          <p:nvPr/>
        </p:nvSpPr>
        <p:spPr>
          <a:xfrm>
            <a:off x="2260672" y="3091557"/>
            <a:ext cx="4301796" cy="115796"/>
          </a:xfrm>
          <a:prstGeom prst="rect">
            <a:avLst/>
          </a:prstGeom>
          <a:solidFill>
            <a:srgbClr val="0249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249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40652"/>
      </p:ext>
    </p:extLst>
  </p:cSld>
  <p:clrMapOvr>
    <a:masterClrMapping/>
  </p:clrMapOvr>
</p:sld>
</file>

<file path=ppt/theme/theme1.xml><?xml version="1.0" encoding="utf-8"?>
<a:theme xmlns:a="http://schemas.openxmlformats.org/drawingml/2006/main" name="Implementation of the 5S Technique Project Proposal by Slidesgo">
  <a:themeElements>
    <a:clrScheme name="Custom 2">
      <a:dk1>
        <a:srgbClr val="232325"/>
      </a:dk1>
      <a:lt1>
        <a:srgbClr val="EDEDED"/>
      </a:lt1>
      <a:dk2>
        <a:srgbClr val="FCB040"/>
      </a:dk2>
      <a:lt2>
        <a:srgbClr val="005475"/>
      </a:lt2>
      <a:accent1>
        <a:srgbClr val="00628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AC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849</Words>
  <Application>Microsoft Macintosh PowerPoint</Application>
  <PresentationFormat>On-screen Show (16:9)</PresentationFormat>
  <Paragraphs>190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Cairo</vt:lpstr>
      <vt:lpstr>Ubuntu Condensed</vt:lpstr>
      <vt:lpstr>Ubuntu</vt:lpstr>
      <vt:lpstr>Courier New</vt:lpstr>
      <vt:lpstr>Implementation of the 5S Technique Project Proposal by Slidesgo</vt:lpstr>
      <vt:lpstr>CourseGenie+: Centralized Academic Workflow Automation</vt:lpstr>
      <vt:lpstr>Motivation</vt:lpstr>
      <vt:lpstr>User Stories - Professor Features</vt:lpstr>
      <vt:lpstr>User Stories - Administrator Features</vt:lpstr>
      <vt:lpstr>User Stories - Reviewer &amp; Reviewee Features</vt:lpstr>
      <vt:lpstr>Use Case: UC01 - User Login &amp; Dashboard Selection</vt:lpstr>
      <vt:lpstr>Use Case: UC02 - CAR Preview &amp; Submission</vt:lpstr>
      <vt:lpstr>Use Case Diagram</vt:lpstr>
      <vt:lpstr>Work Breakdown Structure (WBS)</vt:lpstr>
      <vt:lpstr>Project Risk Register</vt:lpstr>
      <vt:lpstr>Resource Planning</vt:lpstr>
      <vt:lpstr>Budget Overview</vt:lpstr>
      <vt:lpstr>Initial Bill of Materials (BoM)</vt:lpstr>
      <vt:lpstr>Test Plan </vt:lpstr>
      <vt:lpstr>ThankYou!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Jeeda Kotob</cp:lastModifiedBy>
  <cp:revision>11</cp:revision>
  <dcterms:modified xsi:type="dcterms:W3CDTF">2025-12-07T09:30:34Z</dcterms:modified>
</cp:coreProperties>
</file>