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95" r:id="rId3"/>
    <p:sldId id="294" r:id="rId4"/>
    <p:sldId id="258" r:id="rId5"/>
    <p:sldId id="272" r:id="rId6"/>
    <p:sldId id="287" r:id="rId7"/>
    <p:sldId id="285" r:id="rId8"/>
    <p:sldId id="274" r:id="rId9"/>
    <p:sldId id="288" r:id="rId10"/>
    <p:sldId id="278" r:id="rId11"/>
    <p:sldId id="275" r:id="rId12"/>
    <p:sldId id="276" r:id="rId13"/>
    <p:sldId id="280" r:id="rId14"/>
    <p:sldId id="290" r:id="rId15"/>
    <p:sldId id="277" r:id="rId16"/>
    <p:sldId id="293" r:id="rId17"/>
    <p:sldId id="261" r:id="rId18"/>
    <p:sldId id="270" r:id="rId19"/>
  </p:sldIdLst>
  <p:sldSz cx="9144000" cy="5143500" type="screen16x9"/>
  <p:notesSz cx="6858000" cy="9144000"/>
  <p:embeddedFontLst>
    <p:embeddedFont>
      <p:font typeface="Inter Bold" panose="020F0502020204030204" pitchFamily="34" charset="0"/>
      <p:regular r:id="rId21"/>
      <p:bold r:id="rId22"/>
      <p:italic r:id="rId23"/>
      <p:boldItalic r:id="rId24"/>
    </p:embeddedFont>
    <p:embeddedFont>
      <p:font typeface="Ubuntu" panose="020B0504030602030204" pitchFamily="34" charset="0"/>
      <p:regular r:id="rId25"/>
      <p:bold r:id="rId26"/>
      <p:italic r:id="rId27"/>
      <p:boldItalic r:id="rId28"/>
    </p:embeddedFont>
    <p:embeddedFont>
      <p:font typeface="Ubuntu Condensed" panose="020B0506030602030204" pitchFamily="3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7E1"/>
    <a:srgbClr val="5DB5D6"/>
    <a:srgbClr val="FFA62B"/>
    <a:srgbClr val="7670B1"/>
    <a:srgbClr val="928BBE"/>
    <a:srgbClr val="44546A"/>
    <a:srgbClr val="FF8C3B"/>
    <a:srgbClr val="8C7B6F"/>
    <a:srgbClr val="AAA2DC"/>
    <a:srgbClr val="89A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A94F40-F6E2-4A17-8C6B-16828784BDF5}">
  <a:tblStyle styleId="{0EA94F40-F6E2-4A17-8C6B-16828784BD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2"/>
    <p:restoredTop sz="94788"/>
  </p:normalViewPr>
  <p:slideViewPr>
    <p:cSldViewPr snapToGrid="0">
      <p:cViewPr>
        <p:scale>
          <a:sx n="123" d="100"/>
          <a:sy n="123" d="100"/>
        </p:scale>
        <p:origin x="1496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8F6A09AE-975F-4C1E-C2AB-101E701E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>
            <a:extLst>
              <a:ext uri="{FF2B5EF4-FFF2-40B4-BE49-F238E27FC236}">
                <a16:creationId xmlns:a16="http://schemas.microsoft.com/office/drawing/2014/main" id="{010538D5-4E3E-8D3D-7114-70356F077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  <p:sp>
        <p:nvSpPr>
          <p:cNvPr id="127" name="Google Shape;127;p:notes">
            <a:extLst>
              <a:ext uri="{FF2B5EF4-FFF2-40B4-BE49-F238E27FC236}">
                <a16:creationId xmlns:a16="http://schemas.microsoft.com/office/drawing/2014/main" id="{E7358381-2330-69BE-2498-A8DDA0C43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51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ACA82F7A-02D5-D0CB-34FF-E087E7F9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AFB0ADA3-6942-C987-5EBC-3D071746B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8BBE34D-2804-0D55-3A31-6F02401C2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8416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AB06718A-2C2C-7865-A969-F90C2AF4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21115859-A702-0627-7E41-FFDED7897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36F25802-799D-AEED-9ED2-B512D51B9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0845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1B87C727-FE1B-6DFE-79B3-545372DE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86988436-F4FC-C544-2C34-0DEAE2780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3F6080BC-D8C5-C1B2-4357-A0C632DA4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972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56669A35-E07B-843E-557E-ED36538C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0D6F33CD-CB34-B116-52E5-35E4E4E96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2967A8DE-E9E6-6839-7B1D-96BBE4D6E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0030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FC91E882-C937-222A-0092-B2CC0DE2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DC000F81-6A85-7825-5F1C-DE0C56EE2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70D40698-4AF0-1343-7714-79D66E88B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28787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1015943F-F5C7-FCBE-BCD3-CFFB3728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8D456FE9-CD96-8152-96C3-6951570C5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92DD8E2E-3C0F-8959-A535-D37A299CA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9938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C9DF008A-3EA4-C90A-3514-3294F076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9AEF12C5-94C6-2AB3-E2DE-58B0FF2F1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8E8477AE-CE55-5D1B-8976-AD43551F3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4322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73FE7566-6EE9-3825-ECC1-4BF44F69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67F0A1D1-3D30-4B41-B120-E3DF942C2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7CC1697B-A29C-9091-C631-3F6613434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9928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1B4EEB7-2487-D34D-4BEA-3AFE76AA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9C0DE115-277C-404D-E471-AAD54FA38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CE01FD5-E59D-32BC-E629-4AA099A4D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7240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EAC4153D-DC97-2C68-8039-0567BF60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09D42FEB-43E5-18C6-8A0F-5DB4DAF91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7E31BAE-516D-36C7-B1D8-34A286089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0685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df3c62097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0df3c62097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635EA-73E0-038F-4F79-72C2C0DD0E17}"/>
              </a:ext>
            </a:extLst>
          </p:cNvPr>
          <p:cNvSpPr txBox="1"/>
          <p:nvPr userDrawn="1"/>
        </p:nvSpPr>
        <p:spPr>
          <a:xfrm>
            <a:off x="8401050" y="203000"/>
            <a:ext cx="742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en-US" sz="14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pPr/>
              <a:t>‹#›</a:t>
            </a:fld>
            <a:r>
              <a:rPr lang="en-US" sz="14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/17</a:t>
            </a:r>
            <a:endParaRPr lang="en-A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AEF57-E2CA-2924-249A-85502EDBB773}"/>
              </a:ext>
            </a:extLst>
          </p:cNvPr>
          <p:cNvSpPr txBox="1"/>
          <p:nvPr userDrawn="1"/>
        </p:nvSpPr>
        <p:spPr>
          <a:xfrm>
            <a:off x="8401050" y="203000"/>
            <a:ext cx="742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en-US" sz="14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pPr/>
              <a:t>‹#›</a:t>
            </a:fld>
            <a:r>
              <a:rPr lang="en-US" sz="14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/17</a:t>
            </a:r>
            <a:endParaRPr lang="en-A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154763C0-89B7-C226-60DE-E71432E7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7DC46BF8-E8AB-0271-BADA-4C9C876F6FCB}"/>
              </a:ext>
            </a:extLst>
          </p:cNvPr>
          <p:cNvSpPr txBox="1">
            <a:spLocks/>
          </p:cNvSpPr>
          <p:nvPr/>
        </p:nvSpPr>
        <p:spPr>
          <a:xfrm>
            <a:off x="745495" y="291900"/>
            <a:ext cx="46668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sz="4600" b="1" dirty="0">
                <a:solidFill>
                  <a:srgbClr val="00A7E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CourseGenie</a:t>
            </a:r>
            <a:r>
              <a:rPr lang="en-US" sz="6600" b="1" dirty="0">
                <a:solidFill>
                  <a:srgbClr val="FFA62B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+</a:t>
            </a:r>
            <a:r>
              <a:rPr lang="en-US" sz="4600" b="1" dirty="0">
                <a:latin typeface="Ubuntu Condensed"/>
                <a:ea typeface="Ubuntu Condensed"/>
                <a:cs typeface="Ubuntu Condensed"/>
                <a:sym typeface="Ubuntu Condensed"/>
              </a:rPr>
              <a:t>:</a:t>
            </a:r>
            <a:r>
              <a:rPr lang="en-US" sz="4600" b="1" dirty="0">
                <a:solidFill>
                  <a:srgbClr val="00ADEF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en-US" sz="3800" b="1" dirty="0">
                <a:latin typeface="Ubuntu Condensed"/>
                <a:ea typeface="Ubuntu Condensed"/>
                <a:cs typeface="Ubuntu Condensed"/>
                <a:sym typeface="Ubuntu Condensed"/>
              </a:rPr>
              <a:t>Centralized Academic Workflow Automation</a:t>
            </a:r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0375D8BE-B1A0-0FDA-6DED-523AFA60FB1E}"/>
              </a:ext>
            </a:extLst>
          </p:cNvPr>
          <p:cNvSpPr txBox="1"/>
          <p:nvPr/>
        </p:nvSpPr>
        <p:spPr>
          <a:xfrm>
            <a:off x="745495" y="2689200"/>
            <a:ext cx="352697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Team Members: Jeeda Kotob, Ryma Ait Tayeb, Ibraheem Mustafa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Mentors: Dr. Ali Assi &amp; Mr.Qusai Hassan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Fall 2025</a:t>
            </a:r>
            <a:endParaRPr dirty="0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2ADF11B4-F55C-0573-0ED9-9624D1366AEA}"/>
              </a:ext>
            </a:extLst>
          </p:cNvPr>
          <p:cNvSpPr/>
          <p:nvPr/>
        </p:nvSpPr>
        <p:spPr>
          <a:xfrm rot="-7796975">
            <a:off x="-1220076" y="4598066"/>
            <a:ext cx="2616725" cy="829182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30283864-2ECB-CD85-ED38-4C9EDE60D1DE}"/>
              </a:ext>
            </a:extLst>
          </p:cNvPr>
          <p:cNvSpPr/>
          <p:nvPr/>
        </p:nvSpPr>
        <p:spPr>
          <a:xfrm>
            <a:off x="6188818" y="-4657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C1A0DF0C-4CBE-7551-730A-A6AA6EFF2F04}"/>
              </a:ext>
            </a:extLst>
          </p:cNvPr>
          <p:cNvGrpSpPr/>
          <p:nvPr/>
        </p:nvGrpSpPr>
        <p:grpSpPr>
          <a:xfrm rot="1485988">
            <a:off x="8258513" y="730859"/>
            <a:ext cx="1593716" cy="5934943"/>
            <a:chOff x="0" y="0"/>
            <a:chExt cx="839488" cy="3126225"/>
          </a:xfrm>
          <a:solidFill>
            <a:srgbClr val="00A7E1"/>
          </a:solidFill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0C23C70-36F3-CD86-FC5D-0470AC3CFDCC}"/>
                </a:ext>
              </a:extLst>
            </p:cNvPr>
            <p:cNvSpPr/>
            <p:nvPr/>
          </p:nvSpPr>
          <p:spPr>
            <a:xfrm>
              <a:off x="0" y="0"/>
              <a:ext cx="839488" cy="3126225"/>
            </a:xfrm>
            <a:custGeom>
              <a:avLst/>
              <a:gdLst/>
              <a:ahLst/>
              <a:cxnLst/>
              <a:rect l="l" t="t" r="r" b="b"/>
              <a:pathLst>
                <a:path w="839488" h="3126225">
                  <a:moveTo>
                    <a:pt x="0" y="0"/>
                  </a:moveTo>
                  <a:lnTo>
                    <a:pt x="839488" y="0"/>
                  </a:lnTo>
                  <a:lnTo>
                    <a:pt x="839488" y="3126225"/>
                  </a:lnTo>
                  <a:lnTo>
                    <a:pt x="0" y="3126225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E7AF4B-1BD3-7E79-D0BB-829A0DF222FC}"/>
                </a:ext>
              </a:extLst>
            </p:cNvPr>
            <p:cNvSpPr txBox="1"/>
            <p:nvPr/>
          </p:nvSpPr>
          <p:spPr>
            <a:xfrm>
              <a:off x="0" y="-47625"/>
              <a:ext cx="839488" cy="317385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779B6E03-0B89-82D3-973F-4C1409CFAF8B}"/>
              </a:ext>
            </a:extLst>
          </p:cNvPr>
          <p:cNvGrpSpPr/>
          <p:nvPr/>
        </p:nvGrpSpPr>
        <p:grpSpPr>
          <a:xfrm rot="1485988">
            <a:off x="7449360" y="38382"/>
            <a:ext cx="1593716" cy="5934943"/>
            <a:chOff x="0" y="0"/>
            <a:chExt cx="839488" cy="3126225"/>
          </a:xfrm>
          <a:solidFill>
            <a:srgbClr val="44546A"/>
          </a:solidFill>
        </p:grpSpPr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28766A1-76E7-4A47-C9D8-79297624E7B4}"/>
                </a:ext>
              </a:extLst>
            </p:cNvPr>
            <p:cNvSpPr/>
            <p:nvPr/>
          </p:nvSpPr>
          <p:spPr>
            <a:xfrm>
              <a:off x="0" y="0"/>
              <a:ext cx="839488" cy="3126225"/>
            </a:xfrm>
            <a:custGeom>
              <a:avLst/>
              <a:gdLst/>
              <a:ahLst/>
              <a:cxnLst/>
              <a:rect l="l" t="t" r="r" b="b"/>
              <a:pathLst>
                <a:path w="839488" h="3126225">
                  <a:moveTo>
                    <a:pt x="0" y="0"/>
                  </a:moveTo>
                  <a:lnTo>
                    <a:pt x="839488" y="0"/>
                  </a:lnTo>
                  <a:lnTo>
                    <a:pt x="839488" y="3126225"/>
                  </a:lnTo>
                  <a:lnTo>
                    <a:pt x="0" y="3126225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15D2E166-2B35-6A8D-701F-1948C6BBA188}"/>
                </a:ext>
              </a:extLst>
            </p:cNvPr>
            <p:cNvSpPr txBox="1"/>
            <p:nvPr/>
          </p:nvSpPr>
          <p:spPr>
            <a:xfrm>
              <a:off x="0" y="-47625"/>
              <a:ext cx="839488" cy="317385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pic>
        <p:nvPicPr>
          <p:cNvPr id="21" name="Google Shape;88;p13">
            <a:extLst>
              <a:ext uri="{FF2B5EF4-FFF2-40B4-BE49-F238E27FC236}">
                <a16:creationId xmlns:a16="http://schemas.microsoft.com/office/drawing/2014/main" id="{C5D8611D-7D0D-2EDB-F853-6260B4766C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3035" y="1634688"/>
            <a:ext cx="2660233" cy="266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8">
            <a:extLst>
              <a:ext uri="{FF2B5EF4-FFF2-40B4-BE49-F238E27FC236}">
                <a16:creationId xmlns:a16="http://schemas.microsoft.com/office/drawing/2014/main" id="{C7203833-C79E-4289-3740-485BE93352FF}"/>
              </a:ext>
            </a:extLst>
          </p:cNvPr>
          <p:cNvGrpSpPr/>
          <p:nvPr/>
        </p:nvGrpSpPr>
        <p:grpSpPr>
          <a:xfrm rot="3540309">
            <a:off x="7115373" y="28216"/>
            <a:ext cx="4174585" cy="1960951"/>
            <a:chOff x="0" y="0"/>
            <a:chExt cx="2198958" cy="1032929"/>
          </a:xfrm>
          <a:solidFill>
            <a:srgbClr val="FFA62B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F72DF375-51CD-F090-2242-7FB112364D92}"/>
                </a:ext>
              </a:extLst>
            </p:cNvPr>
            <p:cNvSpPr/>
            <p:nvPr/>
          </p:nvSpPr>
          <p:spPr>
            <a:xfrm>
              <a:off x="0" y="0"/>
              <a:ext cx="2198958" cy="1032929"/>
            </a:xfrm>
            <a:custGeom>
              <a:avLst/>
              <a:gdLst/>
              <a:ahLst/>
              <a:cxnLst/>
              <a:rect l="l" t="t" r="r" b="b"/>
              <a:pathLst>
                <a:path w="2198958" h="1032929">
                  <a:moveTo>
                    <a:pt x="0" y="0"/>
                  </a:moveTo>
                  <a:lnTo>
                    <a:pt x="2198958" y="0"/>
                  </a:lnTo>
                  <a:lnTo>
                    <a:pt x="2198958" y="1032929"/>
                  </a:lnTo>
                  <a:lnTo>
                    <a:pt x="0" y="1032929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7F68C86E-D5F8-B7E5-296B-B72B29317BE6}"/>
                </a:ext>
              </a:extLst>
            </p:cNvPr>
            <p:cNvSpPr txBox="1"/>
            <p:nvPr/>
          </p:nvSpPr>
          <p:spPr>
            <a:xfrm>
              <a:off x="0" y="-47625"/>
              <a:ext cx="2198958" cy="1080554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</p:spTree>
    <p:extLst>
      <p:ext uri="{BB962C8B-B14F-4D97-AF65-F5344CB8AC3E}">
        <p14:creationId xmlns:p14="http://schemas.microsoft.com/office/powerpoint/2010/main" val="297538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115300" y="2761589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 sz="700">
              <a:latin typeface="Ubuntu" panose="020B050403060203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14350" y="1705751"/>
            <a:ext cx="585371" cy="58537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5791" y="1705751"/>
            <a:ext cx="585371" cy="5853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2468904"/>
            <a:ext cx="585371" cy="5853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5791" y="2468904"/>
            <a:ext cx="585371" cy="58537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3230487"/>
            <a:ext cx="585371" cy="58537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5791" y="3230487"/>
            <a:ext cx="585371" cy="58537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238595" y="1706536"/>
            <a:ext cx="585371" cy="58537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20035" y="1706536"/>
            <a:ext cx="585371" cy="58537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38595" y="2469688"/>
            <a:ext cx="585371" cy="58537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20035" y="2469688"/>
            <a:ext cx="585371" cy="5853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38595" y="3231272"/>
            <a:ext cx="585371" cy="58537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20035" y="3231272"/>
            <a:ext cx="585371" cy="58537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08676" y="4217781"/>
            <a:ext cx="7697947" cy="399682"/>
            <a:chOff x="0" y="0"/>
            <a:chExt cx="7827334" cy="406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27334" cy="406400"/>
            </a:xfrm>
            <a:custGeom>
              <a:avLst/>
              <a:gdLst/>
              <a:ahLst/>
              <a:cxnLst/>
              <a:rect l="l" t="t" r="r" b="b"/>
              <a:pathLst>
                <a:path w="7827334" h="406400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7827334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4288130"/>
            <a:ext cx="7697947" cy="399682"/>
            <a:chOff x="0" y="0"/>
            <a:chExt cx="7827334" cy="406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27334" cy="406400"/>
            </a:xfrm>
            <a:custGeom>
              <a:avLst/>
              <a:gdLst/>
              <a:ahLst/>
              <a:cxnLst/>
              <a:rect l="l" t="t" r="r" b="b"/>
              <a:pathLst>
                <a:path w="7827334" h="406400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827334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55912" y="1770145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5912" y="2547585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5912" y="3311449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97939" y="1776734"/>
            <a:ext cx="353466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39436" y="2547585"/>
            <a:ext cx="265128" cy="389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80157" y="3312234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76653" y="1718234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PROJECT OVERVIEW &amp; MOTIVATION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00668" y="1718234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BUDGET, RISKS, &amp; TESTING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76653" y="2480602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REQUIREMENTS &amp; METHODOLOGY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00668" y="2480602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ETHICS &amp; IMPACT ON SOCIETY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76653" y="3242969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SYSTEM DESIGN &amp; ARCHITECTURE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00668" y="3242969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CHALLENGES &amp; CONCLUSIONS</a:t>
            </a:r>
          </a:p>
        </p:txBody>
      </p:sp>
      <p:sp>
        <p:nvSpPr>
          <p:cNvPr id="59" name="Google Shape;94;p14">
            <a:extLst>
              <a:ext uri="{FF2B5EF4-FFF2-40B4-BE49-F238E27FC236}">
                <a16:creationId xmlns:a16="http://schemas.microsoft.com/office/drawing/2014/main" id="{1121702C-8E97-5FCF-D408-44BD13AEA4A5}"/>
              </a:ext>
            </a:extLst>
          </p:cNvPr>
          <p:cNvSpPr txBox="1">
            <a:spLocks/>
          </p:cNvSpPr>
          <p:nvPr/>
        </p:nvSpPr>
        <p:spPr>
          <a:xfrm>
            <a:off x="233206" y="74824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cs typeface="Calibri"/>
                <a:sym typeface="Ubuntu Condensed"/>
              </a:rPr>
              <a:t>Table of Contents</a:t>
            </a:r>
          </a:p>
        </p:txBody>
      </p:sp>
      <p:sp>
        <p:nvSpPr>
          <p:cNvPr id="60" name="Google Shape;96;p14">
            <a:extLst>
              <a:ext uri="{FF2B5EF4-FFF2-40B4-BE49-F238E27FC236}">
                <a16:creationId xmlns:a16="http://schemas.microsoft.com/office/drawing/2014/main" id="{DD9DE52D-514D-CF6C-954D-A5D98C11BC9E}"/>
              </a:ext>
            </a:extLst>
          </p:cNvPr>
          <p:cNvSpPr/>
          <p:nvPr/>
        </p:nvSpPr>
        <p:spPr>
          <a:xfrm flipV="1">
            <a:off x="359326" y="1308711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Ubuntu" panose="020B050403060203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AAD0D743-590B-B97E-1A53-E1847CED5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Motivation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9C0E1878-A9D8-DA2C-9EF6-3CE91AA1162B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95;p14">
            <a:extLst>
              <a:ext uri="{FF2B5EF4-FFF2-40B4-BE49-F238E27FC236}">
                <a16:creationId xmlns:a16="http://schemas.microsoft.com/office/drawing/2014/main" id="{A06450DE-CCC1-6F5F-69B6-244E6A5E94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000" y="1668481"/>
            <a:ext cx="842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Faculty and administrators spend significant time on repetitive academic tasks such as:</a:t>
            </a:r>
            <a:endParaRPr sz="1200"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Assessment Reports (CAR)</a:t>
            </a:r>
            <a:endParaRPr sz="1200"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Extracting and analyzing student grade statistics</a:t>
            </a:r>
            <a:endParaRPr sz="1200" dirty="0"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peer-review reports.  </a:t>
            </a:r>
            <a:endParaRPr sz="1200" dirty="0"/>
          </a:p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Because these tasks are done manually, they reduce valuable time for teaching and research. CourseGenie+ streamlines these processes through automation and centralized dashboards, improving efficiency across the academic workflow.</a:t>
            </a:r>
            <a:endParaRPr sz="1200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F7E5974F-1241-0923-61A5-C88275B1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F10C1F87-71DF-C30F-9090-C03AE77BB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Project Requirements 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6090C458-7487-2D73-D46E-D74E7914BC8E}"/>
              </a:ext>
            </a:extLst>
          </p:cNvPr>
          <p:cNvSpPr/>
          <p:nvPr/>
        </p:nvSpPr>
        <p:spPr>
          <a:xfrm flipV="1">
            <a:off x="359326" y="1518918"/>
            <a:ext cx="968970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01255ECA-1D95-F60F-E3B3-BB3106CBFA52}"/>
              </a:ext>
            </a:extLst>
          </p:cNvPr>
          <p:cNvGrpSpPr/>
          <p:nvPr/>
        </p:nvGrpSpPr>
        <p:grpSpPr>
          <a:xfrm>
            <a:off x="359326" y="1788440"/>
            <a:ext cx="2420450" cy="945615"/>
            <a:chOff x="0" y="0"/>
            <a:chExt cx="1254602" cy="462887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636B0C3F-7E18-DDD7-14D7-C420E911CB1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EFFA132D-0EC7-2E4D-FE6B-2EB21CCD4F7C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75CE92E1-05EE-BE7A-C9FE-CB62F7ECAF00}"/>
              </a:ext>
            </a:extLst>
          </p:cNvPr>
          <p:cNvGrpSpPr/>
          <p:nvPr/>
        </p:nvGrpSpPr>
        <p:grpSpPr>
          <a:xfrm>
            <a:off x="359326" y="2867048"/>
            <a:ext cx="2420450" cy="945615"/>
            <a:chOff x="0" y="0"/>
            <a:chExt cx="1254602" cy="462887"/>
          </a:xfrm>
        </p:grpSpPr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E8EB3154-9D3B-A001-37BA-12390BC21C87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TextBox 14">
              <a:extLst>
                <a:ext uri="{FF2B5EF4-FFF2-40B4-BE49-F238E27FC236}">
                  <a16:creationId xmlns:a16="http://schemas.microsoft.com/office/drawing/2014/main" id="{CC2295E9-5D6B-D9CC-CB11-4E6488346A5C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8" name="Group 12">
            <a:extLst>
              <a:ext uri="{FF2B5EF4-FFF2-40B4-BE49-F238E27FC236}">
                <a16:creationId xmlns:a16="http://schemas.microsoft.com/office/drawing/2014/main" id="{839E809F-8DE3-D594-A8C8-8B65566F06F2}"/>
              </a:ext>
            </a:extLst>
          </p:cNvPr>
          <p:cNvGrpSpPr/>
          <p:nvPr/>
        </p:nvGrpSpPr>
        <p:grpSpPr>
          <a:xfrm>
            <a:off x="359326" y="3945656"/>
            <a:ext cx="2420450" cy="945615"/>
            <a:chOff x="0" y="0"/>
            <a:chExt cx="1254602" cy="462887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405499C2-9242-537A-4BE9-385B2DE4CEC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TextBox 14">
              <a:extLst>
                <a:ext uri="{FF2B5EF4-FFF2-40B4-BE49-F238E27FC236}">
                  <a16:creationId xmlns:a16="http://schemas.microsoft.com/office/drawing/2014/main" id="{9A309336-D0F4-50D6-6E56-28FA2BA2E558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2" name="Group 12">
            <a:extLst>
              <a:ext uri="{FF2B5EF4-FFF2-40B4-BE49-F238E27FC236}">
                <a16:creationId xmlns:a16="http://schemas.microsoft.com/office/drawing/2014/main" id="{4ABB0CAE-7D9C-BE43-F348-A5E247770222}"/>
              </a:ext>
            </a:extLst>
          </p:cNvPr>
          <p:cNvGrpSpPr/>
          <p:nvPr/>
        </p:nvGrpSpPr>
        <p:grpSpPr>
          <a:xfrm>
            <a:off x="3361775" y="1788440"/>
            <a:ext cx="2420450" cy="945615"/>
            <a:chOff x="0" y="0"/>
            <a:chExt cx="1254602" cy="462887"/>
          </a:xfrm>
        </p:grpSpPr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0BB2824C-D10D-DA8A-3C55-67ACA2AB4FE6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28904A91-8652-E5EF-0D79-C01C28DBD839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8BC76BA9-0A45-B0DC-F8A1-BC0C3B05009B}"/>
              </a:ext>
            </a:extLst>
          </p:cNvPr>
          <p:cNvGrpSpPr/>
          <p:nvPr/>
        </p:nvGrpSpPr>
        <p:grpSpPr>
          <a:xfrm>
            <a:off x="6364224" y="1793399"/>
            <a:ext cx="2420450" cy="945615"/>
            <a:chOff x="0" y="0"/>
            <a:chExt cx="1254602" cy="462887"/>
          </a:xfrm>
        </p:grpSpPr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AC6ACFF8-7ECD-F344-6CB2-3F257AA597C6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14">
              <a:extLst>
                <a:ext uri="{FF2B5EF4-FFF2-40B4-BE49-F238E27FC236}">
                  <a16:creationId xmlns:a16="http://schemas.microsoft.com/office/drawing/2014/main" id="{F8238D9D-45B9-14CF-DB68-D5E7F2460252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9020F658-AA29-A0E9-64F0-B6E94101AF3D}"/>
              </a:ext>
            </a:extLst>
          </p:cNvPr>
          <p:cNvGrpSpPr/>
          <p:nvPr/>
        </p:nvGrpSpPr>
        <p:grpSpPr>
          <a:xfrm>
            <a:off x="3361775" y="2867048"/>
            <a:ext cx="2420450" cy="945615"/>
            <a:chOff x="0" y="0"/>
            <a:chExt cx="1254602" cy="462887"/>
          </a:xfrm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0D8B4A35-00D8-5C11-0F20-F448FE97BFC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2" name="TextBox 14">
              <a:extLst>
                <a:ext uri="{FF2B5EF4-FFF2-40B4-BE49-F238E27FC236}">
                  <a16:creationId xmlns:a16="http://schemas.microsoft.com/office/drawing/2014/main" id="{E0BEAD05-9E4F-7B4A-8621-8F64A40574ED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4" name="Group 12">
            <a:extLst>
              <a:ext uri="{FF2B5EF4-FFF2-40B4-BE49-F238E27FC236}">
                <a16:creationId xmlns:a16="http://schemas.microsoft.com/office/drawing/2014/main" id="{9BBAB834-6850-4D44-BFD1-56AD9AA12D2A}"/>
              </a:ext>
            </a:extLst>
          </p:cNvPr>
          <p:cNvGrpSpPr/>
          <p:nvPr/>
        </p:nvGrpSpPr>
        <p:grpSpPr>
          <a:xfrm>
            <a:off x="3361775" y="3945656"/>
            <a:ext cx="2420450" cy="945615"/>
            <a:chOff x="0" y="0"/>
            <a:chExt cx="1254602" cy="462887"/>
          </a:xfrm>
        </p:grpSpPr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3C7D3A55-6A03-3AAA-7B8C-CBE8120CF38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6" name="TextBox 14">
              <a:extLst>
                <a:ext uri="{FF2B5EF4-FFF2-40B4-BE49-F238E27FC236}">
                  <a16:creationId xmlns:a16="http://schemas.microsoft.com/office/drawing/2014/main" id="{62C4478E-2E3C-916D-A27F-DBADEB4D91FA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8" name="Group 12">
            <a:extLst>
              <a:ext uri="{FF2B5EF4-FFF2-40B4-BE49-F238E27FC236}">
                <a16:creationId xmlns:a16="http://schemas.microsoft.com/office/drawing/2014/main" id="{C68B2FA7-D1F0-3A96-1CD9-F26B913FC615}"/>
              </a:ext>
            </a:extLst>
          </p:cNvPr>
          <p:cNvGrpSpPr/>
          <p:nvPr/>
        </p:nvGrpSpPr>
        <p:grpSpPr>
          <a:xfrm>
            <a:off x="6364224" y="2867048"/>
            <a:ext cx="2420450" cy="945615"/>
            <a:chOff x="0" y="0"/>
            <a:chExt cx="1254602" cy="462887"/>
          </a:xfrm>
        </p:grpSpPr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9A9759B4-68C1-416A-24AB-94E63AC958E3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14">
              <a:extLst>
                <a:ext uri="{FF2B5EF4-FFF2-40B4-BE49-F238E27FC236}">
                  <a16:creationId xmlns:a16="http://schemas.microsoft.com/office/drawing/2014/main" id="{60432F27-9B71-0BEA-63B3-E218BC5C017D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72" name="Group 12">
            <a:extLst>
              <a:ext uri="{FF2B5EF4-FFF2-40B4-BE49-F238E27FC236}">
                <a16:creationId xmlns:a16="http://schemas.microsoft.com/office/drawing/2014/main" id="{17A1742A-8517-AC2E-326B-F7F096A430CA}"/>
              </a:ext>
            </a:extLst>
          </p:cNvPr>
          <p:cNvGrpSpPr/>
          <p:nvPr/>
        </p:nvGrpSpPr>
        <p:grpSpPr>
          <a:xfrm>
            <a:off x="6364224" y="3946567"/>
            <a:ext cx="2420450" cy="945615"/>
            <a:chOff x="0" y="0"/>
            <a:chExt cx="1254602" cy="462887"/>
          </a:xfrm>
        </p:grpSpPr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7CB15054-37C2-B99F-7317-A631FA3105C2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4" name="TextBox 14">
              <a:extLst>
                <a:ext uri="{FF2B5EF4-FFF2-40B4-BE49-F238E27FC236}">
                  <a16:creationId xmlns:a16="http://schemas.microsoft.com/office/drawing/2014/main" id="{27A3977F-F452-8B5A-7D84-9D8904A28506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FC90ECE-6E98-F284-CE6B-B29AAF129552}"/>
              </a:ext>
            </a:extLst>
          </p:cNvPr>
          <p:cNvSpPr/>
          <p:nvPr/>
        </p:nvSpPr>
        <p:spPr>
          <a:xfrm>
            <a:off x="281739" y="1694118"/>
            <a:ext cx="386906" cy="389674"/>
          </a:xfrm>
          <a:prstGeom prst="ellipse">
            <a:avLst/>
          </a:prstGeom>
          <a:solidFill>
            <a:srgbClr val="7670B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0CABA8A-CA47-9062-DB4A-AD287E64B506}"/>
              </a:ext>
            </a:extLst>
          </p:cNvPr>
          <p:cNvSpPr/>
          <p:nvPr/>
        </p:nvSpPr>
        <p:spPr>
          <a:xfrm>
            <a:off x="281739" y="2808673"/>
            <a:ext cx="386906" cy="389674"/>
          </a:xfrm>
          <a:prstGeom prst="ellipse">
            <a:avLst/>
          </a:prstGeom>
          <a:solidFill>
            <a:srgbClr val="00A7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3516512-8335-CD0F-E83D-9B39D1AD07AE}"/>
              </a:ext>
            </a:extLst>
          </p:cNvPr>
          <p:cNvSpPr/>
          <p:nvPr/>
        </p:nvSpPr>
        <p:spPr>
          <a:xfrm>
            <a:off x="281739" y="3887281"/>
            <a:ext cx="386906" cy="3896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B8DB297-99F2-5A57-0300-2476C1ADBEBD}"/>
              </a:ext>
            </a:extLst>
          </p:cNvPr>
          <p:cNvSpPr/>
          <p:nvPr/>
        </p:nvSpPr>
        <p:spPr>
          <a:xfrm>
            <a:off x="3361775" y="1694118"/>
            <a:ext cx="386906" cy="3896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90CE5B8-3381-BC60-F339-F9B072D16E2B}"/>
              </a:ext>
            </a:extLst>
          </p:cNvPr>
          <p:cNvSpPr/>
          <p:nvPr/>
        </p:nvSpPr>
        <p:spPr>
          <a:xfrm>
            <a:off x="3361775" y="2846254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A78C00F-C2AC-3279-D3B4-A4658C3AF141}"/>
              </a:ext>
            </a:extLst>
          </p:cNvPr>
          <p:cNvSpPr/>
          <p:nvPr/>
        </p:nvSpPr>
        <p:spPr>
          <a:xfrm>
            <a:off x="3361775" y="3914297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4C244A8-B29D-D502-8EB0-8487B7D32636}"/>
              </a:ext>
            </a:extLst>
          </p:cNvPr>
          <p:cNvSpPr/>
          <p:nvPr/>
        </p:nvSpPr>
        <p:spPr>
          <a:xfrm>
            <a:off x="6364224" y="1698780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F2BF944-3636-033A-A196-DD297627BF19}"/>
              </a:ext>
            </a:extLst>
          </p:cNvPr>
          <p:cNvSpPr/>
          <p:nvPr/>
        </p:nvSpPr>
        <p:spPr>
          <a:xfrm>
            <a:off x="6364224" y="2846254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C94D902-47C2-DAD3-778C-7CF728F85308}"/>
              </a:ext>
            </a:extLst>
          </p:cNvPr>
          <p:cNvSpPr/>
          <p:nvPr/>
        </p:nvSpPr>
        <p:spPr>
          <a:xfrm>
            <a:off x="6364224" y="3909047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5" name="TextBox 43">
            <a:extLst>
              <a:ext uri="{FF2B5EF4-FFF2-40B4-BE49-F238E27FC236}">
                <a16:creationId xmlns:a16="http://schemas.microsoft.com/office/drawing/2014/main" id="{B21BA518-57AD-7E23-635D-721584619407}"/>
              </a:ext>
            </a:extLst>
          </p:cNvPr>
          <p:cNvSpPr txBox="1"/>
          <p:nvPr/>
        </p:nvSpPr>
        <p:spPr>
          <a:xfrm>
            <a:off x="645516" y="2091284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Role-Based Access Control + Multi-Role</a:t>
            </a:r>
          </a:p>
        </p:txBody>
      </p:sp>
      <p:pic>
        <p:nvPicPr>
          <p:cNvPr id="6158" name="Picture 14" descr="White Check Mark PNGs for Free Download">
            <a:extLst>
              <a:ext uri="{FF2B5EF4-FFF2-40B4-BE49-F238E27FC236}">
                <a16:creationId xmlns:a16="http://schemas.microsoft.com/office/drawing/2014/main" id="{541EAACE-25AC-39B4-CEEB-F69FD3690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8" y="1518918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14" descr="White Check Mark PNGs for Free Download">
            <a:extLst>
              <a:ext uri="{FF2B5EF4-FFF2-40B4-BE49-F238E27FC236}">
                <a16:creationId xmlns:a16="http://schemas.microsoft.com/office/drawing/2014/main" id="{DDB216E8-88FA-C8BF-B91C-492F89A39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96" y="2645221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4" descr="White Check Mark PNGs for Free Download">
            <a:extLst>
              <a:ext uri="{FF2B5EF4-FFF2-40B4-BE49-F238E27FC236}">
                <a16:creationId xmlns:a16="http://schemas.microsoft.com/office/drawing/2014/main" id="{05FE9A86-4982-3842-01CA-44E61D1A6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90" y="3727822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4" descr="White Check Mark PNGs for Free Download">
            <a:extLst>
              <a:ext uri="{FF2B5EF4-FFF2-40B4-BE49-F238E27FC236}">
                <a16:creationId xmlns:a16="http://schemas.microsoft.com/office/drawing/2014/main" id="{9B9166E8-1D25-CE09-C7A9-D4995F35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131" y="1525966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4" descr="White Check Mark PNGs for Free Download">
            <a:extLst>
              <a:ext uri="{FF2B5EF4-FFF2-40B4-BE49-F238E27FC236}">
                <a16:creationId xmlns:a16="http://schemas.microsoft.com/office/drawing/2014/main" id="{784BDFAD-CB63-F8A2-93E2-485599C9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685" y="2686795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4" descr="White Check Mark PNGs for Free Download">
            <a:extLst>
              <a:ext uri="{FF2B5EF4-FFF2-40B4-BE49-F238E27FC236}">
                <a16:creationId xmlns:a16="http://schemas.microsoft.com/office/drawing/2014/main" id="{6ECF427B-A7D8-ECA9-9610-678FA574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932" y="3771448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4" descr="White Check Mark PNGs for Free Download">
            <a:extLst>
              <a:ext uri="{FF2B5EF4-FFF2-40B4-BE49-F238E27FC236}">
                <a16:creationId xmlns:a16="http://schemas.microsoft.com/office/drawing/2014/main" id="{AE2AC681-84FE-DE64-7478-6DB03E3AF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81" y="1557139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4" descr="White Check Mark PNGs for Free Download">
            <a:extLst>
              <a:ext uri="{FF2B5EF4-FFF2-40B4-BE49-F238E27FC236}">
                <a16:creationId xmlns:a16="http://schemas.microsoft.com/office/drawing/2014/main" id="{32A29FD2-DF20-A876-0563-92197E2F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81" y="2682050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4" descr="White Check Mark PNGs for Free Download">
            <a:extLst>
              <a:ext uri="{FF2B5EF4-FFF2-40B4-BE49-F238E27FC236}">
                <a16:creationId xmlns:a16="http://schemas.microsoft.com/office/drawing/2014/main" id="{0295E42E-5F76-99D5-7F22-A81309FBD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30" y="3754174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43">
            <a:extLst>
              <a:ext uri="{FF2B5EF4-FFF2-40B4-BE49-F238E27FC236}">
                <a16:creationId xmlns:a16="http://schemas.microsoft.com/office/drawing/2014/main" id="{3827EFFE-AC8E-49DB-293A-FB3778E9D16D}"/>
              </a:ext>
            </a:extLst>
          </p:cNvPr>
          <p:cNvSpPr txBox="1"/>
          <p:nvPr/>
        </p:nvSpPr>
        <p:spPr>
          <a:xfrm>
            <a:off x="645515" y="3146902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Course &amp; Section Management</a:t>
            </a:r>
          </a:p>
        </p:txBody>
      </p:sp>
      <p:sp>
        <p:nvSpPr>
          <p:cNvPr id="108" name="TextBox 43">
            <a:extLst>
              <a:ext uri="{FF2B5EF4-FFF2-40B4-BE49-F238E27FC236}">
                <a16:creationId xmlns:a16="http://schemas.microsoft.com/office/drawing/2014/main" id="{FDFFCDE1-F0B0-538E-05D2-B6260730FE26}"/>
              </a:ext>
            </a:extLst>
          </p:cNvPr>
          <p:cNvSpPr txBox="1"/>
          <p:nvPr/>
        </p:nvSpPr>
        <p:spPr>
          <a:xfrm>
            <a:off x="668645" y="4222563"/>
            <a:ext cx="175014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Viewing &amp; Tracking Syllabus &amp; CAR  Submissions</a:t>
            </a:r>
          </a:p>
        </p:txBody>
      </p:sp>
      <p:sp>
        <p:nvSpPr>
          <p:cNvPr id="109" name="TextBox 43">
            <a:extLst>
              <a:ext uri="{FF2B5EF4-FFF2-40B4-BE49-F238E27FC236}">
                <a16:creationId xmlns:a16="http://schemas.microsoft.com/office/drawing/2014/main" id="{B7DD52FA-09B6-FFBF-22AC-382228FFC9F8}"/>
              </a:ext>
            </a:extLst>
          </p:cNvPr>
          <p:cNvSpPr txBox="1"/>
          <p:nvPr/>
        </p:nvSpPr>
        <p:spPr>
          <a:xfrm>
            <a:off x="3696928" y="2126572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Peer Review Workflow Management</a:t>
            </a:r>
          </a:p>
        </p:txBody>
      </p:sp>
      <p:sp>
        <p:nvSpPr>
          <p:cNvPr id="111" name="TextBox 43">
            <a:extLst>
              <a:ext uri="{FF2B5EF4-FFF2-40B4-BE49-F238E27FC236}">
                <a16:creationId xmlns:a16="http://schemas.microsoft.com/office/drawing/2014/main" id="{94476985-37A8-27CB-0DAC-D74A97C5DB79}"/>
              </a:ext>
            </a:extLst>
          </p:cNvPr>
          <p:cNvSpPr txBox="1"/>
          <p:nvPr/>
        </p:nvSpPr>
        <p:spPr>
          <a:xfrm>
            <a:off x="3748681" y="320206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CAR File Generation &amp; Submission</a:t>
            </a:r>
          </a:p>
        </p:txBody>
      </p:sp>
      <p:sp>
        <p:nvSpPr>
          <p:cNvPr id="4" name="TextBox 43">
            <a:extLst>
              <a:ext uri="{FF2B5EF4-FFF2-40B4-BE49-F238E27FC236}">
                <a16:creationId xmlns:a16="http://schemas.microsoft.com/office/drawing/2014/main" id="{5EBAF7A0-092F-A9E2-3C9C-26A436CA8A77}"/>
              </a:ext>
            </a:extLst>
          </p:cNvPr>
          <p:cNvSpPr txBox="1"/>
          <p:nvPr/>
        </p:nvSpPr>
        <p:spPr>
          <a:xfrm>
            <a:off x="3696928" y="425873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Course Calendar Generation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058ECE5E-C80C-2339-9B34-61BB2F59824A}"/>
              </a:ext>
            </a:extLst>
          </p:cNvPr>
          <p:cNvSpPr txBox="1"/>
          <p:nvPr/>
        </p:nvSpPr>
        <p:spPr>
          <a:xfrm>
            <a:off x="6751130" y="207323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Exam Room Assignment Management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7FF3CB06-5088-5AC5-D8AC-7E108BC55C57}"/>
              </a:ext>
            </a:extLst>
          </p:cNvPr>
          <p:cNvSpPr txBox="1"/>
          <p:nvPr/>
        </p:nvSpPr>
        <p:spPr>
          <a:xfrm>
            <a:off x="6690308" y="3230581"/>
            <a:ext cx="175014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Section Grade Analytics</a:t>
            </a: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415ADB98-DB35-0654-B166-5A242C1B8295}"/>
              </a:ext>
            </a:extLst>
          </p:cNvPr>
          <p:cNvSpPr txBox="1"/>
          <p:nvPr/>
        </p:nvSpPr>
        <p:spPr>
          <a:xfrm>
            <a:off x="6725212" y="421541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Cross-Course Collaboration </a:t>
            </a:r>
          </a:p>
        </p:txBody>
      </p:sp>
    </p:spTree>
    <p:extLst>
      <p:ext uri="{BB962C8B-B14F-4D97-AF65-F5344CB8AC3E}">
        <p14:creationId xmlns:p14="http://schemas.microsoft.com/office/powerpoint/2010/main" val="248168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663303" y="3185959"/>
            <a:ext cx="763356" cy="381678"/>
            <a:chOff x="0" y="0"/>
            <a:chExt cx="660400" cy="330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854142" y="2243434"/>
            <a:ext cx="381678" cy="2266726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807084" y="3298368"/>
            <a:ext cx="250976" cy="156860"/>
            <a:chOff x="0" y="0"/>
            <a:chExt cx="722716" cy="451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3241448" y="3185959"/>
            <a:ext cx="763356" cy="381678"/>
            <a:chOff x="0" y="0"/>
            <a:chExt cx="660400" cy="330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3432284" y="2243435"/>
            <a:ext cx="337145" cy="2266725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3385228" y="3298368"/>
            <a:ext cx="250976" cy="156860"/>
            <a:chOff x="0" y="0"/>
            <a:chExt cx="722716" cy="451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4819592" y="3185959"/>
            <a:ext cx="763356" cy="381678"/>
            <a:chOff x="0" y="0"/>
            <a:chExt cx="660400" cy="330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BBD2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5010430" y="2243436"/>
            <a:ext cx="435015" cy="712468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59" y="0"/>
                </a:lnTo>
                <a:lnTo>
                  <a:pt x="724959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4963373" y="3298368"/>
            <a:ext cx="250976" cy="156860"/>
            <a:chOff x="0" y="0"/>
            <a:chExt cx="722716" cy="451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6397737" y="3185959"/>
            <a:ext cx="763356" cy="381678"/>
            <a:chOff x="0" y="0"/>
            <a:chExt cx="660400" cy="330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44546A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26" name="Freeform 26"/>
          <p:cNvSpPr/>
          <p:nvPr/>
        </p:nvSpPr>
        <p:spPr>
          <a:xfrm rot="-10800000">
            <a:off x="6588574" y="2243433"/>
            <a:ext cx="362480" cy="564299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6541518" y="3298368"/>
            <a:ext cx="250976" cy="156860"/>
            <a:chOff x="0" y="0"/>
            <a:chExt cx="722716" cy="4516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7975882" y="3185959"/>
            <a:ext cx="763356" cy="381678"/>
            <a:chOff x="0" y="0"/>
            <a:chExt cx="660400" cy="330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7670B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33" name="Freeform 33"/>
          <p:cNvSpPr/>
          <p:nvPr/>
        </p:nvSpPr>
        <p:spPr>
          <a:xfrm rot="-10800000">
            <a:off x="8166719" y="2243435"/>
            <a:ext cx="362481" cy="2266723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59" y="0"/>
                </a:lnTo>
                <a:lnTo>
                  <a:pt x="724959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34" name="Group 34"/>
          <p:cNvGrpSpPr/>
          <p:nvPr/>
        </p:nvGrpSpPr>
        <p:grpSpPr>
          <a:xfrm rot="5400000">
            <a:off x="8119663" y="3298368"/>
            <a:ext cx="250976" cy="156860"/>
            <a:chOff x="0" y="0"/>
            <a:chExt cx="722716" cy="451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37" name="Freeform 37"/>
          <p:cNvSpPr/>
          <p:nvPr/>
        </p:nvSpPr>
        <p:spPr>
          <a:xfrm>
            <a:off x="965385" y="2673701"/>
            <a:ext cx="370935" cy="444403"/>
          </a:xfrm>
          <a:custGeom>
            <a:avLst/>
            <a:gdLst/>
            <a:ahLst/>
            <a:cxnLst/>
            <a:rect l="l" t="t" r="r" b="b"/>
            <a:pathLst>
              <a:path w="508254" h="609600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38" name="Freeform 38"/>
          <p:cNvSpPr/>
          <p:nvPr/>
        </p:nvSpPr>
        <p:spPr>
          <a:xfrm>
            <a:off x="2532784" y="2673701"/>
            <a:ext cx="395511" cy="444403"/>
          </a:xfrm>
          <a:custGeom>
            <a:avLst/>
            <a:gdLst/>
            <a:ahLst/>
            <a:cxnLst/>
            <a:rect l="l" t="t" r="r" b="b"/>
            <a:pathLst>
              <a:path w="609600" h="508254">
                <a:moveTo>
                  <a:pt x="0" y="0"/>
                </a:moveTo>
                <a:lnTo>
                  <a:pt x="609600" y="0"/>
                </a:lnTo>
                <a:lnTo>
                  <a:pt x="609600" y="508254"/>
                </a:lnTo>
                <a:lnTo>
                  <a:pt x="0" y="50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39" name="Freeform 39"/>
          <p:cNvSpPr/>
          <p:nvPr/>
        </p:nvSpPr>
        <p:spPr>
          <a:xfrm>
            <a:off x="4129789" y="2673701"/>
            <a:ext cx="381678" cy="444403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0" name="Freeform 40"/>
          <p:cNvSpPr/>
          <p:nvPr/>
        </p:nvSpPr>
        <p:spPr>
          <a:xfrm>
            <a:off x="5694100" y="2669986"/>
            <a:ext cx="362481" cy="448118"/>
          </a:xfrm>
          <a:custGeom>
            <a:avLst/>
            <a:gdLst/>
            <a:ahLst/>
            <a:cxnLst/>
            <a:rect l="l" t="t" r="r" b="b"/>
            <a:pathLst>
              <a:path w="508254" h="609600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1" name="Freeform 41"/>
          <p:cNvSpPr/>
          <p:nvPr/>
        </p:nvSpPr>
        <p:spPr>
          <a:xfrm>
            <a:off x="7234719" y="2669986"/>
            <a:ext cx="456804" cy="448118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3" name="TextBox 43"/>
          <p:cNvSpPr txBox="1"/>
          <p:nvPr/>
        </p:nvSpPr>
        <p:spPr>
          <a:xfrm>
            <a:off x="700448" y="3366083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Planning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282405" y="3376796"/>
            <a:ext cx="888548" cy="17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Design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77758" y="3376796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Develop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22214" y="3358074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Test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2306" y="3335573"/>
            <a:ext cx="102412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Review &amp; Feedback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6541" y="218850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90304" y="2178444"/>
            <a:ext cx="888548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63592" y="2188501"/>
            <a:ext cx="888548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36993" y="218983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18847" y="218850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5</a:t>
            </a:r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E8311F85-8C95-7CF0-84A6-2E196ED35E31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Agile Iterative Workflow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DE28921E-A9E6-DBC1-516C-B9B9CB3EF465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03C9CCBE-BC91-FFE8-432D-48453A65B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085" y="826259"/>
            <a:ext cx="1004314" cy="10043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 11">
            <a:extLst>
              <a:ext uri="{FF2B5EF4-FFF2-40B4-BE49-F238E27FC236}">
                <a16:creationId xmlns:a16="http://schemas.microsoft.com/office/drawing/2014/main" id="{76CBA5F8-B3F3-E3B7-C1A1-16E55C9E1261}"/>
              </a:ext>
            </a:extLst>
          </p:cNvPr>
          <p:cNvSpPr/>
          <p:nvPr/>
        </p:nvSpPr>
        <p:spPr>
          <a:xfrm rot="-7796975">
            <a:off x="-1220076" y="4598066"/>
            <a:ext cx="2616725" cy="829182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E239ADB-0F40-7D6B-6B06-A3CEF7DA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37502D3A-C221-83AA-6CDB-57EA90A8E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Roles &amp; Responsibilities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C51D3D-6B14-1000-C3D6-4BAE34F7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08" y="1518919"/>
            <a:ext cx="7548207" cy="2237014"/>
          </a:xfrm>
          <a:prstGeom prst="rect">
            <a:avLst/>
          </a:prstGeom>
        </p:spPr>
      </p:pic>
      <p:sp>
        <p:nvSpPr>
          <p:cNvPr id="3" name="Google Shape;96;p14">
            <a:extLst>
              <a:ext uri="{FF2B5EF4-FFF2-40B4-BE49-F238E27FC236}">
                <a16:creationId xmlns:a16="http://schemas.microsoft.com/office/drawing/2014/main" id="{08488BA5-74AA-72CD-996D-75319960FDC4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76FF4-C772-7798-F36D-DE4F0C59D10A}"/>
              </a:ext>
            </a:extLst>
          </p:cNvPr>
          <p:cNvSpPr txBox="1"/>
          <p:nvPr/>
        </p:nvSpPr>
        <p:spPr>
          <a:xfrm>
            <a:off x="1399591" y="3755933"/>
            <a:ext cx="1203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Product Owner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598EF-D82F-3498-522B-8C8E67E66F8A}"/>
              </a:ext>
            </a:extLst>
          </p:cNvPr>
          <p:cNvSpPr txBox="1"/>
          <p:nvPr/>
        </p:nvSpPr>
        <p:spPr>
          <a:xfrm>
            <a:off x="3184849" y="3755933"/>
            <a:ext cx="1203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Scrum Master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93FB8-7251-9C0B-E2E8-2EB91AE38B4F}"/>
              </a:ext>
            </a:extLst>
          </p:cNvPr>
          <p:cNvSpPr txBox="1"/>
          <p:nvPr/>
        </p:nvSpPr>
        <p:spPr>
          <a:xfrm>
            <a:off x="4841820" y="3755933"/>
            <a:ext cx="1101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Development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7EF48-77B3-44D9-1703-9ED6CD363345}"/>
              </a:ext>
            </a:extLst>
          </p:cNvPr>
          <p:cNvSpPr txBox="1"/>
          <p:nvPr/>
        </p:nvSpPr>
        <p:spPr>
          <a:xfrm>
            <a:off x="6724635" y="3755932"/>
            <a:ext cx="1101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Stakeholders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35861-77F1-48D1-0010-DCC9BA78CD6A}"/>
              </a:ext>
            </a:extLst>
          </p:cNvPr>
          <p:cNvSpPr txBox="1"/>
          <p:nvPr/>
        </p:nvSpPr>
        <p:spPr>
          <a:xfrm>
            <a:off x="1053030" y="4063708"/>
            <a:ext cx="15734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Dr. Ali Assi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Mr.Qusai Hassan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7552A-3E0D-82E3-B305-9A8BB4B7B9EF}"/>
              </a:ext>
            </a:extLst>
          </p:cNvPr>
          <p:cNvSpPr txBox="1"/>
          <p:nvPr/>
        </p:nvSpPr>
        <p:spPr>
          <a:xfrm>
            <a:off x="2943326" y="4063708"/>
            <a:ext cx="1445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Jeeda Kotob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3D80B-307F-0001-6B35-6450BAFE2317}"/>
              </a:ext>
            </a:extLst>
          </p:cNvPr>
          <p:cNvSpPr txBox="1"/>
          <p:nvPr/>
        </p:nvSpPr>
        <p:spPr>
          <a:xfrm>
            <a:off x="4188940" y="4063708"/>
            <a:ext cx="23642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Jeeda Kotob (Full Stack)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Ryma Ait Tayeb (Backend)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Ibraheem Mustafa (Frontend)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0CC2-EC5C-79AA-440F-6A36C07091AF}"/>
              </a:ext>
            </a:extLst>
          </p:cNvPr>
          <p:cNvSpPr txBox="1"/>
          <p:nvPr/>
        </p:nvSpPr>
        <p:spPr>
          <a:xfrm>
            <a:off x="6209980" y="4063708"/>
            <a:ext cx="17498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Professors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Administrators (Dezzil Castelino – IE Office)</a:t>
            </a:r>
          </a:p>
        </p:txBody>
      </p:sp>
    </p:spTree>
    <p:extLst>
      <p:ext uri="{BB962C8B-B14F-4D97-AF65-F5344CB8AC3E}">
        <p14:creationId xmlns:p14="http://schemas.microsoft.com/office/powerpoint/2010/main" val="415375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345185D9-B84D-4F8B-9B2A-DBAF9A1F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7A14A3C8-04B9-E7D0-B42B-21E73D6EF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Technologies &amp; Tools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1261E0AB-A2D9-33B7-1D2F-B84DAD5BA18E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2AC06A-864F-CE8B-B329-C37F75BA7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804243"/>
              </p:ext>
            </p:extLst>
          </p:nvPr>
        </p:nvGraphicFramePr>
        <p:xfrm>
          <a:off x="924025" y="1868036"/>
          <a:ext cx="7228573" cy="2667000"/>
        </p:xfrm>
        <a:graphic>
          <a:graphicData uri="http://schemas.openxmlformats.org/drawingml/2006/table">
            <a:tbl>
              <a:tblPr firstRow="1" bandRow="1">
                <a:tableStyleId>{0EA94F40-F6E2-4A17-8C6B-16828784BDF5}</a:tableStyleId>
              </a:tblPr>
              <a:tblGrid>
                <a:gridCol w="2313143">
                  <a:extLst>
                    <a:ext uri="{9D8B030D-6E8A-4147-A177-3AD203B41FA5}">
                      <a16:colId xmlns:a16="http://schemas.microsoft.com/office/drawing/2014/main" val="3628728125"/>
                    </a:ext>
                  </a:extLst>
                </a:gridCol>
                <a:gridCol w="4915430">
                  <a:extLst>
                    <a:ext uri="{9D8B030D-6E8A-4147-A177-3AD203B41FA5}">
                      <a16:colId xmlns:a16="http://schemas.microsoft.com/office/drawing/2014/main" val="334563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Backend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Spring 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Frontend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Angular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30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MySQL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1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Version Control &amp; Collaboration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GitHub &amp; Trello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42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Development 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IntelliJ Ultimate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78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Design &amp; Documentation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PlantUML &amp; MindView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1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81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9827" y="1917270"/>
            <a:ext cx="1286692" cy="1353337"/>
            <a:chOff x="0" y="0"/>
            <a:chExt cx="77277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44546A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8883" y="2247773"/>
            <a:ext cx="1045023" cy="10450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1385" y="1643935"/>
            <a:ext cx="871339" cy="1563008"/>
            <a:chOff x="-93633" y="28575"/>
            <a:chExt cx="830233" cy="1489272"/>
          </a:xfrm>
        </p:grpSpPr>
        <p:sp>
          <p:nvSpPr>
            <p:cNvPr id="9" name="Freeform 9"/>
            <p:cNvSpPr/>
            <p:nvPr/>
          </p:nvSpPr>
          <p:spPr>
            <a:xfrm>
              <a:off x="-93633" y="70504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74853" y="1895081"/>
            <a:ext cx="1286692" cy="1353337"/>
            <a:chOff x="0" y="0"/>
            <a:chExt cx="772773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5001" y="2247773"/>
            <a:ext cx="1045023" cy="10450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14961" y="1727645"/>
            <a:ext cx="1323720" cy="1479298"/>
            <a:chOff x="76200" y="28575"/>
            <a:chExt cx="1261272" cy="1409511"/>
          </a:xfrm>
        </p:grpSpPr>
        <p:sp>
          <p:nvSpPr>
            <p:cNvPr id="19" name="Freeform 19"/>
            <p:cNvSpPr/>
            <p:nvPr/>
          </p:nvSpPr>
          <p:spPr>
            <a:xfrm>
              <a:off x="524672" y="625286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96750" y="1902357"/>
            <a:ext cx="1286692" cy="1353337"/>
            <a:chOff x="0" y="0"/>
            <a:chExt cx="772773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7670B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804" y="2261710"/>
            <a:ext cx="1045023" cy="1045023"/>
            <a:chOff x="-1" y="22439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-1" y="22439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09814" y="2353900"/>
            <a:ext cx="853043" cy="8530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602022" y="3532545"/>
            <a:ext cx="16129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(Non)-Functional Requirements</a:t>
            </a:r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6E6EE710-E9A2-1B29-587E-1FE7AA5D5DAB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>
                <a:solidFill>
                  <a:schemeClr val="tx1"/>
                </a:solidFill>
                <a:latin typeface="Ubuntu Condensed"/>
                <a:sym typeface="Ubuntu Condensed"/>
              </a:rPr>
              <a:t>Requirements Representation</a:t>
            </a:r>
            <a:endParaRPr lang="en-US"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CAEC055B-6862-8C49-0353-54CAF00AD589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49">
            <a:extLst>
              <a:ext uri="{FF2B5EF4-FFF2-40B4-BE49-F238E27FC236}">
                <a16:creationId xmlns:a16="http://schemas.microsoft.com/office/drawing/2014/main" id="{460F7376-4515-FB25-0D72-A25624409746}"/>
              </a:ext>
            </a:extLst>
          </p:cNvPr>
          <p:cNvSpPr txBox="1"/>
          <p:nvPr/>
        </p:nvSpPr>
        <p:spPr>
          <a:xfrm>
            <a:off x="3781823" y="3510356"/>
            <a:ext cx="1424497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User Stories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5A1A1855-4ECE-31C2-C8D8-DAF7DBA6CAFA}"/>
              </a:ext>
            </a:extLst>
          </p:cNvPr>
          <p:cNvSpPr txBox="1"/>
          <p:nvPr/>
        </p:nvSpPr>
        <p:spPr>
          <a:xfrm>
            <a:off x="5927847" y="3510240"/>
            <a:ext cx="1424497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Textual Use Cases</a:t>
            </a:r>
          </a:p>
        </p:txBody>
      </p:sp>
      <p:pic>
        <p:nvPicPr>
          <p:cNvPr id="2053" name="Picture 5" descr="User Story Icons - Free SVG &amp; PNG User Story Images - Noun Project">
            <a:extLst>
              <a:ext uri="{FF2B5EF4-FFF2-40B4-BE49-F238E27FC236}">
                <a16:creationId xmlns:a16="http://schemas.microsoft.com/office/drawing/2014/main" id="{1E3A7584-9B6B-6671-467F-8A094F0FE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155" y="2403349"/>
            <a:ext cx="704044" cy="70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design de ícone de requisito 14393164 Vetor no Vecteezy">
            <a:extLst>
              <a:ext uri="{FF2B5EF4-FFF2-40B4-BE49-F238E27FC236}">
                <a16:creationId xmlns:a16="http://schemas.microsoft.com/office/drawing/2014/main" id="{1B66A0BE-D93F-5577-B4D4-5BDAE3D3C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370" y="2484725"/>
            <a:ext cx="603838" cy="60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Intro to Use Case Types | Systems Flow, Inc">
            <a:extLst>
              <a:ext uri="{FF2B5EF4-FFF2-40B4-BE49-F238E27FC236}">
                <a16:creationId xmlns:a16="http://schemas.microsoft.com/office/drawing/2014/main" id="{8BAAA50D-2833-048C-9BC1-ED61150E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177" y="2312533"/>
            <a:ext cx="1338316" cy="93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6C98A96D-9DCB-6D32-1997-7D050C26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67E0DFF2-E5AF-C8B3-3262-8C80ABB8F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</a:rPr>
              <a:t>Progress &amp; Next Semester Plan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42F781A0-A88F-E9A5-07FC-3F7A5C5DF20E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9647BEB-8409-933B-9ED7-C07977B8DE4A}"/>
              </a:ext>
            </a:extLst>
          </p:cNvPr>
          <p:cNvSpPr/>
          <p:nvPr/>
        </p:nvSpPr>
        <p:spPr>
          <a:xfrm>
            <a:off x="0" y="2668146"/>
            <a:ext cx="9140424" cy="1240975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  <p:pic>
        <p:nvPicPr>
          <p:cNvPr id="3078" name="Picture 6" descr="Racing Flag, Motorsport Banner, Checkered Transparent PNG">
            <a:extLst>
              <a:ext uri="{FF2B5EF4-FFF2-40B4-BE49-F238E27FC236}">
                <a16:creationId xmlns:a16="http://schemas.microsoft.com/office/drawing/2014/main" id="{57131AB7-D3C5-7B11-5EDB-8CFD9F9ED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3" t="8113" r="23382" b="27684"/>
          <a:stretch>
            <a:fillRect/>
          </a:stretch>
        </p:blipFill>
        <p:spPr bwMode="auto">
          <a:xfrm rot="1439976">
            <a:off x="8091948" y="2135851"/>
            <a:ext cx="1238866" cy="13228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88;p13">
            <a:extLst>
              <a:ext uri="{FF2B5EF4-FFF2-40B4-BE49-F238E27FC236}">
                <a16:creationId xmlns:a16="http://schemas.microsoft.com/office/drawing/2014/main" id="{902C0306-FA0B-35DB-8D0A-5F64C4F830D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8950" y="3054804"/>
            <a:ext cx="780167" cy="7930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Freeform 21">
            <a:extLst>
              <a:ext uri="{FF2B5EF4-FFF2-40B4-BE49-F238E27FC236}">
                <a16:creationId xmlns:a16="http://schemas.microsoft.com/office/drawing/2014/main" id="{16B7A0ED-032A-A710-9BB4-85D81218A405}"/>
              </a:ext>
            </a:extLst>
          </p:cNvPr>
          <p:cNvSpPr/>
          <p:nvPr/>
        </p:nvSpPr>
        <p:spPr>
          <a:xfrm>
            <a:off x="235047" y="2416756"/>
            <a:ext cx="712390" cy="68268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D9C02C6D-3D38-7E58-3B87-2CBFA3836331}"/>
              </a:ext>
            </a:extLst>
          </p:cNvPr>
          <p:cNvSpPr/>
          <p:nvPr/>
        </p:nvSpPr>
        <p:spPr>
          <a:xfrm>
            <a:off x="383389" y="2523370"/>
            <a:ext cx="418107" cy="447432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80726-CB1E-5C35-7E97-4C593675ED9B}"/>
              </a:ext>
            </a:extLst>
          </p:cNvPr>
          <p:cNvSpPr txBox="1"/>
          <p:nvPr/>
        </p:nvSpPr>
        <p:spPr>
          <a:xfrm>
            <a:off x="-122546" y="1850938"/>
            <a:ext cx="16698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Project Initiation &amp; Requirement Determination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BCFFE-02C4-2CD2-6DF6-8310948E9EEE}"/>
              </a:ext>
            </a:extLst>
          </p:cNvPr>
          <p:cNvSpPr txBox="1"/>
          <p:nvPr/>
        </p:nvSpPr>
        <p:spPr>
          <a:xfrm>
            <a:off x="-33412" y="3954001"/>
            <a:ext cx="16698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Database Schema Updates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D319608F-1486-DF3E-7C54-296AF87CACF2}"/>
              </a:ext>
            </a:extLst>
          </p:cNvPr>
          <p:cNvSpPr/>
          <p:nvPr/>
        </p:nvSpPr>
        <p:spPr>
          <a:xfrm>
            <a:off x="686116" y="3575515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6C9EB-0598-CEA1-0A29-76723384D873}"/>
              </a:ext>
            </a:extLst>
          </p:cNvPr>
          <p:cNvSpPr txBox="1"/>
          <p:nvPr/>
        </p:nvSpPr>
        <p:spPr>
          <a:xfrm>
            <a:off x="1019935" y="2686263"/>
            <a:ext cx="12985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>
                <a:latin typeface="Ubuntu" panose="020B0504030602030204" pitchFamily="34" charset="0"/>
              </a:defRPr>
            </a:lvl1pPr>
          </a:lstStyle>
          <a:p>
            <a:pPr algn="ctr"/>
            <a:r>
              <a:rPr lang="en-US" dirty="0"/>
              <a:t>Frontend Bug Fixes</a:t>
            </a:r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932516-E13C-8A47-6DB7-08289ADC0FBE}"/>
              </a:ext>
            </a:extLst>
          </p:cNvPr>
          <p:cNvSpPr txBox="1"/>
          <p:nvPr/>
        </p:nvSpPr>
        <p:spPr>
          <a:xfrm>
            <a:off x="1934606" y="3381225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Role Based Access Control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E4D6A-FDB6-D736-DE8D-592F3F01A416}"/>
              </a:ext>
            </a:extLst>
          </p:cNvPr>
          <p:cNvSpPr txBox="1"/>
          <p:nvPr/>
        </p:nvSpPr>
        <p:spPr>
          <a:xfrm>
            <a:off x="2791810" y="2499863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Admin Dashboard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216FD-A220-F399-1D28-947623CEAB81}"/>
              </a:ext>
            </a:extLst>
          </p:cNvPr>
          <p:cNvSpPr txBox="1"/>
          <p:nvPr/>
        </p:nvSpPr>
        <p:spPr>
          <a:xfrm>
            <a:off x="3164672" y="4153203"/>
            <a:ext cx="13139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Syllabus</a:t>
            </a:r>
            <a:r>
              <a:rPr lang="en-US" dirty="0"/>
              <a:t> </a:t>
            </a:r>
            <a:r>
              <a:rPr lang="en-US" sz="1100" dirty="0">
                <a:latin typeface="Ubuntu" panose="020B0504030602030204" pitchFamily="34" charset="0"/>
              </a:rPr>
              <a:t>Submission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04EC4E-D656-BF3B-1292-1C87F9A08916}"/>
              </a:ext>
            </a:extLst>
          </p:cNvPr>
          <p:cNvSpPr txBox="1"/>
          <p:nvPr/>
        </p:nvSpPr>
        <p:spPr>
          <a:xfrm>
            <a:off x="3835592" y="2407505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CAR Submission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7D1541-35D2-14CD-0C83-0DFF74E7E7E5}"/>
              </a:ext>
            </a:extLst>
          </p:cNvPr>
          <p:cNvSpPr txBox="1"/>
          <p:nvPr/>
        </p:nvSpPr>
        <p:spPr>
          <a:xfrm>
            <a:off x="4676877" y="3407975"/>
            <a:ext cx="11415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Peer Review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6AB5ED-DCEB-ED8B-3068-D02E43E19712}"/>
              </a:ext>
            </a:extLst>
          </p:cNvPr>
          <p:cNvSpPr txBox="1"/>
          <p:nvPr/>
        </p:nvSpPr>
        <p:spPr>
          <a:xfrm>
            <a:off x="5741718" y="4008769"/>
            <a:ext cx="10699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Exam Rooms Management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7C3C4F-AAF6-54DC-974F-3ED43AFF99F7}"/>
              </a:ext>
            </a:extLst>
          </p:cNvPr>
          <p:cNvSpPr txBox="1"/>
          <p:nvPr/>
        </p:nvSpPr>
        <p:spPr>
          <a:xfrm>
            <a:off x="5312582" y="2228970"/>
            <a:ext cx="10699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Course Calendar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44" name="Freeform 21">
            <a:extLst>
              <a:ext uri="{FF2B5EF4-FFF2-40B4-BE49-F238E27FC236}">
                <a16:creationId xmlns:a16="http://schemas.microsoft.com/office/drawing/2014/main" id="{359C10A9-8B1D-CA9D-324C-4758872FC6B6}"/>
              </a:ext>
            </a:extLst>
          </p:cNvPr>
          <p:cNvSpPr/>
          <p:nvPr/>
        </p:nvSpPr>
        <p:spPr>
          <a:xfrm>
            <a:off x="1528803" y="3076535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5" name="Freeform 21">
            <a:extLst>
              <a:ext uri="{FF2B5EF4-FFF2-40B4-BE49-F238E27FC236}">
                <a16:creationId xmlns:a16="http://schemas.microsoft.com/office/drawing/2014/main" id="{3284E680-E5D6-7101-23FB-B3D1015337AE}"/>
              </a:ext>
            </a:extLst>
          </p:cNvPr>
          <p:cNvSpPr/>
          <p:nvPr/>
        </p:nvSpPr>
        <p:spPr>
          <a:xfrm>
            <a:off x="2387220" y="2974976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6" name="Freeform 21">
            <a:extLst>
              <a:ext uri="{FF2B5EF4-FFF2-40B4-BE49-F238E27FC236}">
                <a16:creationId xmlns:a16="http://schemas.microsoft.com/office/drawing/2014/main" id="{86999C71-BA48-71C3-1981-3B2907D570B3}"/>
              </a:ext>
            </a:extLst>
          </p:cNvPr>
          <p:cNvSpPr/>
          <p:nvPr/>
        </p:nvSpPr>
        <p:spPr>
          <a:xfrm>
            <a:off x="3289614" y="2966770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670B1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7" name="Freeform 21">
            <a:extLst>
              <a:ext uri="{FF2B5EF4-FFF2-40B4-BE49-F238E27FC236}">
                <a16:creationId xmlns:a16="http://schemas.microsoft.com/office/drawing/2014/main" id="{0937067A-23B4-B7F3-DB8C-190D00A5AE61}"/>
              </a:ext>
            </a:extLst>
          </p:cNvPr>
          <p:cNvSpPr/>
          <p:nvPr/>
        </p:nvSpPr>
        <p:spPr>
          <a:xfrm>
            <a:off x="3524811" y="3724404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8" name="Freeform 21">
            <a:extLst>
              <a:ext uri="{FF2B5EF4-FFF2-40B4-BE49-F238E27FC236}">
                <a16:creationId xmlns:a16="http://schemas.microsoft.com/office/drawing/2014/main" id="{E16F72A2-FB5A-A781-D69B-7B76B2E0628E}"/>
              </a:ext>
            </a:extLst>
          </p:cNvPr>
          <p:cNvSpPr/>
          <p:nvPr/>
        </p:nvSpPr>
        <p:spPr>
          <a:xfrm>
            <a:off x="4335139" y="2845537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9" name="Freeform 21">
            <a:extLst>
              <a:ext uri="{FF2B5EF4-FFF2-40B4-BE49-F238E27FC236}">
                <a16:creationId xmlns:a16="http://schemas.microsoft.com/office/drawing/2014/main" id="{ED195DB0-BA03-E38E-AC28-EB20BE8505BE}"/>
              </a:ext>
            </a:extLst>
          </p:cNvPr>
          <p:cNvSpPr/>
          <p:nvPr/>
        </p:nvSpPr>
        <p:spPr>
          <a:xfrm>
            <a:off x="5015385" y="2993662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0" name="Freeform 21">
            <a:extLst>
              <a:ext uri="{FF2B5EF4-FFF2-40B4-BE49-F238E27FC236}">
                <a16:creationId xmlns:a16="http://schemas.microsoft.com/office/drawing/2014/main" id="{C9569BD0-965F-8DC8-8191-A864175952AB}"/>
              </a:ext>
            </a:extLst>
          </p:cNvPr>
          <p:cNvSpPr/>
          <p:nvPr/>
        </p:nvSpPr>
        <p:spPr>
          <a:xfrm>
            <a:off x="5681910" y="2723450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1" name="Freeform 21">
            <a:extLst>
              <a:ext uri="{FF2B5EF4-FFF2-40B4-BE49-F238E27FC236}">
                <a16:creationId xmlns:a16="http://schemas.microsoft.com/office/drawing/2014/main" id="{DA103495-23BA-2126-E9B3-D9C7BB0EE6ED}"/>
              </a:ext>
            </a:extLst>
          </p:cNvPr>
          <p:cNvSpPr/>
          <p:nvPr/>
        </p:nvSpPr>
        <p:spPr>
          <a:xfrm>
            <a:off x="6086678" y="3661729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2" name="Freeform 21">
            <a:extLst>
              <a:ext uri="{FF2B5EF4-FFF2-40B4-BE49-F238E27FC236}">
                <a16:creationId xmlns:a16="http://schemas.microsoft.com/office/drawing/2014/main" id="{DBB81D38-52A7-7C9D-63F8-078412969FA8}"/>
              </a:ext>
            </a:extLst>
          </p:cNvPr>
          <p:cNvSpPr/>
          <p:nvPr/>
        </p:nvSpPr>
        <p:spPr>
          <a:xfrm>
            <a:off x="6685872" y="3099436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621B48-988F-A9D5-85DD-673D1D23F591}"/>
              </a:ext>
            </a:extLst>
          </p:cNvPr>
          <p:cNvSpPr txBox="1"/>
          <p:nvPr/>
        </p:nvSpPr>
        <p:spPr>
          <a:xfrm>
            <a:off x="6257844" y="2496587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Gradebook &amp; Statistics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55" name="Freeform 21">
            <a:extLst>
              <a:ext uri="{FF2B5EF4-FFF2-40B4-BE49-F238E27FC236}">
                <a16:creationId xmlns:a16="http://schemas.microsoft.com/office/drawing/2014/main" id="{6F27C7A3-31B8-B292-CCD6-8D88EEA4F04A}"/>
              </a:ext>
            </a:extLst>
          </p:cNvPr>
          <p:cNvSpPr/>
          <p:nvPr/>
        </p:nvSpPr>
        <p:spPr>
          <a:xfrm>
            <a:off x="7504407" y="3038542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6EDF07-65BF-8FB7-6D63-18C26DDA3283}"/>
              </a:ext>
            </a:extLst>
          </p:cNvPr>
          <p:cNvSpPr txBox="1"/>
          <p:nvPr/>
        </p:nvSpPr>
        <p:spPr>
          <a:xfrm>
            <a:off x="7183697" y="3460149"/>
            <a:ext cx="13139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System Validation &amp; Refinement</a:t>
            </a:r>
            <a:endParaRPr lang="en-AE" sz="1100" dirty="0">
              <a:latin typeface="Ubuntu" panose="020B0504030602030204" pitchFamily="34" charset="0"/>
            </a:endParaRPr>
          </a:p>
        </p:txBody>
      </p:sp>
      <p:pic>
        <p:nvPicPr>
          <p:cNvPr id="3080" name="Picture 8" descr="Team Icon Visual PNG">
            <a:extLst>
              <a:ext uri="{FF2B5EF4-FFF2-40B4-BE49-F238E27FC236}">
                <a16:creationId xmlns:a16="http://schemas.microsoft.com/office/drawing/2014/main" id="{FBBA987C-9759-3FD7-5C5A-9A9DB02E3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t="13587" r="6240" b="15243"/>
          <a:stretch>
            <a:fillRect/>
          </a:stretch>
        </p:blipFill>
        <p:spPr bwMode="auto">
          <a:xfrm>
            <a:off x="3075505" y="2990116"/>
            <a:ext cx="616886" cy="4913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Freeform 21">
            <a:extLst>
              <a:ext uri="{FF2B5EF4-FFF2-40B4-BE49-F238E27FC236}">
                <a16:creationId xmlns:a16="http://schemas.microsoft.com/office/drawing/2014/main" id="{BA64153A-EF6A-DF89-1C7F-3AA2C426CB8F}"/>
              </a:ext>
            </a:extLst>
          </p:cNvPr>
          <p:cNvSpPr/>
          <p:nvPr/>
        </p:nvSpPr>
        <p:spPr>
          <a:xfrm>
            <a:off x="7229857" y="1109394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1" name="Freeform 21">
            <a:extLst>
              <a:ext uri="{FF2B5EF4-FFF2-40B4-BE49-F238E27FC236}">
                <a16:creationId xmlns:a16="http://schemas.microsoft.com/office/drawing/2014/main" id="{B1CB50EE-82E6-FBB7-AC5D-0AA14F465A45}"/>
              </a:ext>
            </a:extLst>
          </p:cNvPr>
          <p:cNvSpPr/>
          <p:nvPr/>
        </p:nvSpPr>
        <p:spPr>
          <a:xfrm>
            <a:off x="7229857" y="1373195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670B1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2" name="Freeform 21">
            <a:extLst>
              <a:ext uri="{FF2B5EF4-FFF2-40B4-BE49-F238E27FC236}">
                <a16:creationId xmlns:a16="http://schemas.microsoft.com/office/drawing/2014/main" id="{B571400D-45B6-BA24-9EC5-CC744BD6BD1B}"/>
              </a:ext>
            </a:extLst>
          </p:cNvPr>
          <p:cNvSpPr/>
          <p:nvPr/>
        </p:nvSpPr>
        <p:spPr>
          <a:xfrm>
            <a:off x="7229857" y="1653293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0AEBE-C6BC-D96A-A415-617C407C07F6}"/>
              </a:ext>
            </a:extLst>
          </p:cNvPr>
          <p:cNvSpPr txBox="1"/>
          <p:nvPr/>
        </p:nvSpPr>
        <p:spPr>
          <a:xfrm>
            <a:off x="7489423" y="1077470"/>
            <a:ext cx="924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Completed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072" name="TextBox 3071">
            <a:extLst>
              <a:ext uri="{FF2B5EF4-FFF2-40B4-BE49-F238E27FC236}">
                <a16:creationId xmlns:a16="http://schemas.microsoft.com/office/drawing/2014/main" id="{0FEB6ACC-9253-86DE-EC77-5222C211504B}"/>
              </a:ext>
            </a:extLst>
          </p:cNvPr>
          <p:cNvSpPr txBox="1"/>
          <p:nvPr/>
        </p:nvSpPr>
        <p:spPr>
          <a:xfrm>
            <a:off x="7497043" y="1340547"/>
            <a:ext cx="8055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Current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8B5664DC-DF8C-5294-7AE7-C487751C9F43}"/>
              </a:ext>
            </a:extLst>
          </p:cNvPr>
          <p:cNvSpPr txBox="1"/>
          <p:nvPr/>
        </p:nvSpPr>
        <p:spPr>
          <a:xfrm>
            <a:off x="7504407" y="1606790"/>
            <a:ext cx="9961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Planned</a:t>
            </a:r>
            <a:endParaRPr lang="en-AE" sz="1100" dirty="0">
              <a:latin typeface="Ubuntu" panose="020B05040306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6BFB2-318F-6C25-6BF9-4B668602B6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41" y="961198"/>
            <a:ext cx="924676" cy="9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6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79B4174D-5805-118B-16AC-FEE410F3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471E3888-F4FD-2F25-8A4D-44E2EC9DB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System Use Case Diagram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8EFDD2BD-710E-B38F-C695-AE87B8443046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E54B2-13CC-68CE-770E-1CDF2E3B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069" y="880394"/>
            <a:ext cx="4038121" cy="4014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1BC40F-8620-48B1-AD25-7997BB006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56" y="2367110"/>
            <a:ext cx="1598195" cy="156515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38C7DB-F478-89F3-567F-F3CFBDE90485}"/>
              </a:ext>
            </a:extLst>
          </p:cNvPr>
          <p:cNvSpPr/>
          <p:nvPr/>
        </p:nvSpPr>
        <p:spPr>
          <a:xfrm>
            <a:off x="359326" y="1901020"/>
            <a:ext cx="1790057" cy="501910"/>
          </a:xfrm>
          <a:prstGeom prst="roundRect">
            <a:avLst/>
          </a:prstGeom>
          <a:solidFill>
            <a:srgbClr val="928BB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Sequence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6E14E3-79DA-5FA0-E357-B6F5AFC81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077" y="3055268"/>
            <a:ext cx="1607461" cy="156515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7AAD8C-4C8F-0C72-9756-F8C6CD6E1812}"/>
              </a:ext>
            </a:extLst>
          </p:cNvPr>
          <p:cNvSpPr/>
          <p:nvPr/>
        </p:nvSpPr>
        <p:spPr>
          <a:xfrm>
            <a:off x="2424639" y="2571750"/>
            <a:ext cx="1790057" cy="501910"/>
          </a:xfrm>
          <a:prstGeom prst="roundRect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Activity Diagrams</a:t>
            </a:r>
          </a:p>
        </p:txBody>
      </p:sp>
    </p:spTree>
    <p:extLst>
      <p:ext uri="{BB962C8B-B14F-4D97-AF65-F5344CB8AC3E}">
        <p14:creationId xmlns:p14="http://schemas.microsoft.com/office/powerpoint/2010/main" val="386116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C8E08452-097F-632B-CF5F-CB8E3969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6DD0EEFE-E9D5-1318-BA1E-5C69B324C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Database Diagram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E3EDC90F-49E3-CF96-93AD-EBA532859AD1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43">
            <a:extLst>
              <a:ext uri="{FF2B5EF4-FFF2-40B4-BE49-F238E27FC236}">
                <a16:creationId xmlns:a16="http://schemas.microsoft.com/office/drawing/2014/main" id="{6996DADC-07DB-A1CC-28D4-64D9B3C5E90C}"/>
              </a:ext>
            </a:extLst>
          </p:cNvPr>
          <p:cNvSpPr txBox="1"/>
          <p:nvPr/>
        </p:nvSpPr>
        <p:spPr>
          <a:xfrm>
            <a:off x="359326" y="1795675"/>
            <a:ext cx="1563051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Number of Tables: 25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endParaRPr lang="en-US" sz="1200" dirty="0">
              <a:latin typeface="Ubuntu" panose="020B0504030602030204" pitchFamily="34" charset="0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F2A8F-A41C-28E3-C077-6A604834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20" y="3014401"/>
            <a:ext cx="1507667" cy="148341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B8F5F6-F52D-DD3A-9911-D3D55452EE19}"/>
              </a:ext>
            </a:extLst>
          </p:cNvPr>
          <p:cNvSpPr/>
          <p:nvPr/>
        </p:nvSpPr>
        <p:spPr>
          <a:xfrm>
            <a:off x="359326" y="2256024"/>
            <a:ext cx="1790057" cy="501910"/>
          </a:xfrm>
          <a:prstGeom prst="roundRect">
            <a:avLst/>
          </a:prstGeom>
          <a:solidFill>
            <a:srgbClr val="928BB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Full DB Diagram 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D2B89EB-D852-578F-F208-69FCCBB3ABA8}"/>
              </a:ext>
            </a:extLst>
          </p:cNvPr>
          <p:cNvSpPr/>
          <p:nvPr/>
        </p:nvSpPr>
        <p:spPr>
          <a:xfrm>
            <a:off x="1168446" y="2653774"/>
            <a:ext cx="206169" cy="467139"/>
          </a:xfrm>
          <a:prstGeom prst="downArrow">
            <a:avLst/>
          </a:prstGeom>
          <a:solidFill>
            <a:srgbClr val="928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65537-E685-BA52-7922-CAC8402EB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238" y="1684336"/>
            <a:ext cx="6468618" cy="2871560"/>
          </a:xfrm>
          <a:prstGeom prst="rect">
            <a:avLst/>
          </a:prstGeom>
          <a:noFill/>
          <a:ln w="444500" cap="sq">
            <a:noFill/>
            <a:miter lim="800000"/>
          </a:ln>
          <a:effectLst/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0B2B733-9C71-45DC-AED7-45580586ABAE}"/>
              </a:ext>
            </a:extLst>
          </p:cNvPr>
          <p:cNvSpPr/>
          <p:nvPr/>
        </p:nvSpPr>
        <p:spPr>
          <a:xfrm rot="18654675">
            <a:off x="7565407" y="4271300"/>
            <a:ext cx="2764435" cy="1021314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/>
          </a:p>
        </p:txBody>
      </p:sp>
    </p:spTree>
    <p:extLst>
      <p:ext uri="{BB962C8B-B14F-4D97-AF65-F5344CB8AC3E}">
        <p14:creationId xmlns:p14="http://schemas.microsoft.com/office/powerpoint/2010/main" val="4208562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738043AD-5F0E-978A-B291-B3AE3272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06E9CD6A-5390-630A-3067-DDA98E73F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Bill of Materials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3FBDBAF5-7451-A104-3E65-60109E341504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09A1D8-3CB7-9B5D-8A78-620B1F5C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883534"/>
              </p:ext>
            </p:extLst>
          </p:nvPr>
        </p:nvGraphicFramePr>
        <p:xfrm>
          <a:off x="359326" y="1763355"/>
          <a:ext cx="8569521" cy="2972732"/>
        </p:xfrm>
        <a:graphic>
          <a:graphicData uri="http://schemas.openxmlformats.org/drawingml/2006/table">
            <a:tbl>
              <a:tblPr>
                <a:tableStyleId>{0EA94F40-F6E2-4A17-8C6B-16828784BDF5}</a:tableStyleId>
              </a:tblPr>
              <a:tblGrid>
                <a:gridCol w="1128815">
                  <a:extLst>
                    <a:ext uri="{9D8B030D-6E8A-4147-A177-3AD203B41FA5}">
                      <a16:colId xmlns:a16="http://schemas.microsoft.com/office/drawing/2014/main" val="3160382427"/>
                    </a:ext>
                  </a:extLst>
                </a:gridCol>
                <a:gridCol w="1777573">
                  <a:extLst>
                    <a:ext uri="{9D8B030D-6E8A-4147-A177-3AD203B41FA5}">
                      <a16:colId xmlns:a16="http://schemas.microsoft.com/office/drawing/2014/main" val="3359539552"/>
                    </a:ext>
                  </a:extLst>
                </a:gridCol>
                <a:gridCol w="1233943">
                  <a:extLst>
                    <a:ext uri="{9D8B030D-6E8A-4147-A177-3AD203B41FA5}">
                      <a16:colId xmlns:a16="http://schemas.microsoft.com/office/drawing/2014/main" val="3523875588"/>
                    </a:ext>
                  </a:extLst>
                </a:gridCol>
                <a:gridCol w="2613496">
                  <a:extLst>
                    <a:ext uri="{9D8B030D-6E8A-4147-A177-3AD203B41FA5}">
                      <a16:colId xmlns:a16="http://schemas.microsoft.com/office/drawing/2014/main" val="3877565696"/>
                    </a:ext>
                  </a:extLst>
                </a:gridCol>
                <a:gridCol w="1815694">
                  <a:extLst>
                    <a:ext uri="{9D8B030D-6E8A-4147-A177-3AD203B41FA5}">
                      <a16:colId xmlns:a16="http://schemas.microsoft.com/office/drawing/2014/main" val="48253789"/>
                    </a:ext>
                  </a:extLst>
                </a:gridCol>
              </a:tblGrid>
              <a:tr h="2482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Category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Component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>
                          <a:effectLst/>
                          <a:latin typeface="Ubuntu" panose="020B0504030602030204" pitchFamily="34" charset="0"/>
                        </a:rPr>
                        <a:t>Source</a:t>
                      </a:r>
                      <a:endParaRPr lang="en-AE" sz="1050" b="1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Purpose of Need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Estimated Total Cost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231727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Software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Angular &amp; Springboot Frameworks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 Source 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Frontend &amp; Backend Development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582362101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Database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MySQL  Server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Oracle Community 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Data storage and management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under GPL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3549702442"/>
                  </a:ext>
                </a:extLst>
              </a:tr>
              <a:tr h="312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Version Control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GitHub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GitHub Education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Repository management and collaborative development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1551377584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Design Tools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PlantUML, MindView, Canvas,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SlideBazaar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 Source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Project planning and system design diagrams 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7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100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13471228"/>
                  </a:ext>
                </a:extLst>
              </a:tr>
              <a:tr h="25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Learning Resources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Online learning sources for UML design, frontend and backend technoplogies.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LinkedIn Learning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Skill development, framework understanding, and best practices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900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815490473"/>
                  </a:ext>
                </a:extLst>
              </a:tr>
              <a:tr h="25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Unexpected Costs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Contingency expenses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Personal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Covers unforeseen software tools, subscriptions, or minor project expenses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200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502642215"/>
                  </a:ext>
                </a:extLst>
              </a:tr>
              <a:tr h="253944"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Total Cost: ~ AED 1200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64167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19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CBC19D6A-5A70-56F9-8629-14ACA00D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89F73D7E-44A2-7B0F-0C7D-F173C05A7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Project Risks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865C3D2D-4B44-214D-ACEA-F5968B08AEE0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D77995-9772-65C9-FF47-FB50C8AB5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3638"/>
              </p:ext>
            </p:extLst>
          </p:nvPr>
        </p:nvGraphicFramePr>
        <p:xfrm>
          <a:off x="786046" y="1825749"/>
          <a:ext cx="7967809" cy="3041908"/>
        </p:xfrm>
        <a:graphic>
          <a:graphicData uri="http://schemas.openxmlformats.org/drawingml/2006/table">
            <a:tbl>
              <a:tblPr firstRow="1" bandRow="1">
                <a:tableStyleId>{0EA94F40-F6E2-4A17-8C6B-16828784BDF5}</a:tableStyleId>
              </a:tblPr>
              <a:tblGrid>
                <a:gridCol w="2605940">
                  <a:extLst>
                    <a:ext uri="{9D8B030D-6E8A-4147-A177-3AD203B41FA5}">
                      <a16:colId xmlns:a16="http://schemas.microsoft.com/office/drawing/2014/main" val="3628728125"/>
                    </a:ext>
                  </a:extLst>
                </a:gridCol>
                <a:gridCol w="904109">
                  <a:extLst>
                    <a:ext uri="{9D8B030D-6E8A-4147-A177-3AD203B41FA5}">
                      <a16:colId xmlns:a16="http://schemas.microsoft.com/office/drawing/2014/main" val="3345601546"/>
                    </a:ext>
                  </a:extLst>
                </a:gridCol>
                <a:gridCol w="4457760">
                  <a:extLst>
                    <a:ext uri="{9D8B030D-6E8A-4147-A177-3AD203B41FA5}">
                      <a16:colId xmlns:a16="http://schemas.microsoft.com/office/drawing/2014/main" val="3345636946"/>
                    </a:ext>
                  </a:extLst>
                </a:gridCol>
              </a:tblGrid>
              <a:tr h="424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b="1" dirty="0">
                          <a:latin typeface="Ubuntu" panose="020B0504030602030204" pitchFamily="34" charset="0"/>
                        </a:rPr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670361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ea typeface="Ubuntu Condensed"/>
                          <a:cs typeface="Arial"/>
                          <a:sym typeface="Ubuntu Condensed"/>
                        </a:rPr>
                        <a:t>Learning curve in Spring Boot / Angular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Ubuntu" panose="020B0504030602030204" pitchFamily="34" charset="0"/>
                          <a:sym typeface="Ubuntu Condensed"/>
                        </a:rPr>
                        <a:t>Learning Spring Boot and divide roles based on skills</a:t>
                      </a:r>
                      <a:endParaRPr lang="en-US" sz="1200" dirty="0">
                        <a:latin typeface="Ubuntu" panose="020B05040306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300417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ea typeface="Ubuntu Condensed"/>
                          <a:cs typeface="Arial"/>
                          <a:sym typeface="Ubuntu Condensed"/>
                        </a:rPr>
                        <a:t>Restricted access to MyCourses data/API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sym typeface="Arial"/>
                        </a:rPr>
                        <a:t>Design CourseGenie+ as an independent system with its own database, avoiding direct dependency on MyCourses.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1301400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Incomplete Database Schema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AE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Align the database schema with requirements by updating/ adding entities, relationships, and attributes.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3513753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Frontend Stale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Update frontend data-handling logic to ensure views reflect the most recent backend data during user interactions.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2429605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Evolving Requirements During Development</a:t>
                      </a:r>
                      <a:endParaRPr lang="en-AE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Handle requirement changes during Scrum sprint planning and review meetings using prioritized user stories.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677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60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BA54141-AC80-2806-D10E-8524360C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389DDB36-7E67-5599-BA20-524F04D1E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Testing Plan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6B49CD88-8E72-96CA-A6E1-074B5E3D3EE0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CFB234-199B-AA3A-AB16-2275FBA72D9A}"/>
              </a:ext>
            </a:extLst>
          </p:cNvPr>
          <p:cNvSpPr/>
          <p:nvPr/>
        </p:nvSpPr>
        <p:spPr>
          <a:xfrm>
            <a:off x="707458" y="2540695"/>
            <a:ext cx="3282214" cy="2387921"/>
          </a:xfrm>
          <a:prstGeom prst="roundRect">
            <a:avLst/>
          </a:prstGeom>
          <a:solidFill>
            <a:srgbClr val="767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5D533D4-FB01-4251-9EDD-98A41FB1EC70}"/>
              </a:ext>
            </a:extLst>
          </p:cNvPr>
          <p:cNvSpPr/>
          <p:nvPr/>
        </p:nvSpPr>
        <p:spPr>
          <a:xfrm>
            <a:off x="5154328" y="2540694"/>
            <a:ext cx="3282214" cy="2387921"/>
          </a:xfrm>
          <a:prstGeom prst="round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7B4ED-CEBF-33D8-0D93-4343E4CF0209}"/>
              </a:ext>
            </a:extLst>
          </p:cNvPr>
          <p:cNvSpPr txBox="1"/>
          <p:nvPr/>
        </p:nvSpPr>
        <p:spPr>
          <a:xfrm>
            <a:off x="1329879" y="2582190"/>
            <a:ext cx="203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Ubuntu Condensed"/>
                <a:sym typeface="Ubuntu Condensed"/>
              </a:rPr>
              <a:t>Functional Testing</a:t>
            </a:r>
            <a:endParaRPr lang="en-AE" sz="18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280009-D4A7-93B5-6899-620A5A9068EF}"/>
              </a:ext>
            </a:extLst>
          </p:cNvPr>
          <p:cNvSpPr txBox="1"/>
          <p:nvPr/>
        </p:nvSpPr>
        <p:spPr>
          <a:xfrm>
            <a:off x="5776750" y="2582190"/>
            <a:ext cx="203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Ubuntu Condensed"/>
                <a:sym typeface="Ubuntu Condensed"/>
              </a:rPr>
              <a:t>Unit Testing</a:t>
            </a:r>
            <a:endParaRPr lang="en-AE" sz="1800" dirty="0">
              <a:solidFill>
                <a:schemeClr val="bg1"/>
              </a:solidFill>
            </a:endParaRPr>
          </a:p>
        </p:txBody>
      </p:sp>
      <p:sp>
        <p:nvSpPr>
          <p:cNvPr id="41" name="Bent Arrow 40">
            <a:extLst>
              <a:ext uri="{FF2B5EF4-FFF2-40B4-BE49-F238E27FC236}">
                <a16:creationId xmlns:a16="http://schemas.microsoft.com/office/drawing/2014/main" id="{B285FC27-9AEC-A7C7-3BA8-8CB23AB74021}"/>
              </a:ext>
            </a:extLst>
          </p:cNvPr>
          <p:cNvSpPr/>
          <p:nvPr/>
        </p:nvSpPr>
        <p:spPr>
          <a:xfrm rot="10489570">
            <a:off x="3618645" y="2372704"/>
            <a:ext cx="859072" cy="436627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75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42" name="Bent Arrow 41">
            <a:extLst>
              <a:ext uri="{FF2B5EF4-FFF2-40B4-BE49-F238E27FC236}">
                <a16:creationId xmlns:a16="http://schemas.microsoft.com/office/drawing/2014/main" id="{17CEF5D5-3EA8-7C9F-F6C6-14D259D980B3}"/>
              </a:ext>
            </a:extLst>
          </p:cNvPr>
          <p:cNvSpPr/>
          <p:nvPr/>
        </p:nvSpPr>
        <p:spPr>
          <a:xfrm rot="11056846" flipH="1">
            <a:off x="4626611" y="2370934"/>
            <a:ext cx="897061" cy="422510"/>
          </a:xfrm>
          <a:prstGeom prst="bentArrow">
            <a:avLst>
              <a:gd name="adj1" fmla="val 25000"/>
              <a:gd name="adj2" fmla="val 23523"/>
              <a:gd name="adj3" fmla="val 25000"/>
              <a:gd name="adj4" fmla="val 875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45E238-8A08-BCED-F184-59F066D4DE5E}"/>
              </a:ext>
            </a:extLst>
          </p:cNvPr>
          <p:cNvSpPr txBox="1"/>
          <p:nvPr/>
        </p:nvSpPr>
        <p:spPr>
          <a:xfrm>
            <a:off x="542218" y="2978699"/>
            <a:ext cx="32822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Manual UI testing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Based on user stories &amp; acceptance criteria 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Validates complete user workflows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BA715-E491-A61E-BAD2-414DE2696D85}"/>
              </a:ext>
            </a:extLst>
          </p:cNvPr>
          <p:cNvSpPr txBox="1"/>
          <p:nvPr/>
        </p:nvSpPr>
        <p:spPr>
          <a:xfrm>
            <a:off x="5046561" y="3020595"/>
            <a:ext cx="32822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JUnit-based backend testing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Tests individual services &amp; methods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BD268E47-84BE-0EC2-7DAC-15604CD3C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343" y="3880096"/>
            <a:ext cx="2028778" cy="61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CA1676-59FA-9592-DE70-14AA958CC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734" y="3711310"/>
            <a:ext cx="1150825" cy="1065998"/>
          </a:xfrm>
          <a:prstGeom prst="rect">
            <a:avLst/>
          </a:prstGeom>
        </p:spPr>
      </p:pic>
      <p:pic>
        <p:nvPicPr>
          <p:cNvPr id="5" name="Picture 8" descr="Software testing - Free seo and web icons">
            <a:extLst>
              <a:ext uri="{FF2B5EF4-FFF2-40B4-BE49-F238E27FC236}">
                <a16:creationId xmlns:a16="http://schemas.microsoft.com/office/drawing/2014/main" id="{D99EEE6F-73FC-E52A-8AA3-85A9F35ED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663" y="732343"/>
            <a:ext cx="1808351" cy="180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3FEDA07-72A9-0883-A8E1-F3D375812D48}"/>
              </a:ext>
            </a:extLst>
          </p:cNvPr>
          <p:cNvSpPr/>
          <p:nvPr/>
        </p:nvSpPr>
        <p:spPr>
          <a:xfrm>
            <a:off x="3980794" y="1512066"/>
            <a:ext cx="431424" cy="434201"/>
          </a:xfrm>
          <a:prstGeom prst="ellipse">
            <a:avLst/>
          </a:prstGeom>
          <a:solidFill>
            <a:srgbClr val="AAA2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2A8E66-79F9-17D6-A40B-43492A2BE041}"/>
              </a:ext>
            </a:extLst>
          </p:cNvPr>
          <p:cNvSpPr/>
          <p:nvPr/>
        </p:nvSpPr>
        <p:spPr>
          <a:xfrm>
            <a:off x="4682811" y="1509363"/>
            <a:ext cx="431424" cy="434201"/>
          </a:xfrm>
          <a:prstGeom prst="ellipse">
            <a:avLst/>
          </a:prstGeom>
          <a:solidFill>
            <a:srgbClr val="89AB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pic>
        <p:nvPicPr>
          <p:cNvPr id="8" name="Picture 14" descr="Debug Icons - Free SVG &amp; PNG Debug Images - Noun Project">
            <a:extLst>
              <a:ext uri="{FF2B5EF4-FFF2-40B4-BE49-F238E27FC236}">
                <a16:creationId xmlns:a16="http://schemas.microsoft.com/office/drawing/2014/main" id="{33B80F47-62D6-D24C-89A1-4D14AF87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14807"/>
            <a:ext cx="484071" cy="4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User check interface symbol - Free interface icons">
            <a:extLst>
              <a:ext uri="{FF2B5EF4-FFF2-40B4-BE49-F238E27FC236}">
                <a16:creationId xmlns:a16="http://schemas.microsoft.com/office/drawing/2014/main" id="{C9E4FC77-3A09-F6A7-D7B2-862AB0F5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432" y="1576881"/>
            <a:ext cx="405020" cy="40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37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3FE8B045-F4EC-690E-ECD1-DB792882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73D1B01E-DAF9-8926-CD65-D82144F24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Ethics &amp; Impact on Society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39034808-780E-9E34-9DDD-816B64F0121A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338C67-1F60-3DD8-7E23-5DE5214B0566}"/>
              </a:ext>
            </a:extLst>
          </p:cNvPr>
          <p:cNvSpPr/>
          <p:nvPr/>
        </p:nvSpPr>
        <p:spPr>
          <a:xfrm>
            <a:off x="500514" y="1749392"/>
            <a:ext cx="3883838" cy="3273846"/>
          </a:xfrm>
          <a:prstGeom prst="roundRect">
            <a:avLst/>
          </a:prstGeom>
          <a:solidFill>
            <a:srgbClr val="FFA62B">
              <a:alpha val="840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100" dirty="0">
              <a:solidFill>
                <a:srgbClr val="8C7B6F"/>
              </a:solidFill>
              <a:latin typeface="Ubuntu" panose="020B0504030602030204" pitchFamily="34" charset="0"/>
              <a:cs typeface="Arial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11922769-E1B4-F972-1B11-0A03BE42FF57}"/>
              </a:ext>
            </a:extLst>
          </p:cNvPr>
          <p:cNvSpPr/>
          <p:nvPr/>
        </p:nvSpPr>
        <p:spPr>
          <a:xfrm>
            <a:off x="757992" y="2131865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DD78DEAA-4A6A-CB44-BF54-AEC545B319A4}"/>
              </a:ext>
            </a:extLst>
          </p:cNvPr>
          <p:cNvSpPr/>
          <p:nvPr/>
        </p:nvSpPr>
        <p:spPr>
          <a:xfrm>
            <a:off x="757992" y="2820245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16359B6B-5EDC-C71F-FD39-13DC96E7BCBD}"/>
              </a:ext>
            </a:extLst>
          </p:cNvPr>
          <p:cNvSpPr/>
          <p:nvPr/>
        </p:nvSpPr>
        <p:spPr>
          <a:xfrm>
            <a:off x="757992" y="3550359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702655-32D1-042A-460F-E9622223CE0E}"/>
              </a:ext>
            </a:extLst>
          </p:cNvPr>
          <p:cNvSpPr/>
          <p:nvPr/>
        </p:nvSpPr>
        <p:spPr>
          <a:xfrm>
            <a:off x="4759648" y="1750417"/>
            <a:ext cx="3883838" cy="3272821"/>
          </a:xfrm>
          <a:prstGeom prst="roundRect">
            <a:avLst/>
          </a:prstGeom>
          <a:solidFill>
            <a:srgbClr val="5DB5D6">
              <a:alpha val="976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0FC9C-AE0C-5194-D873-9FD85EC89796}"/>
              </a:ext>
            </a:extLst>
          </p:cNvPr>
          <p:cNvSpPr txBox="1"/>
          <p:nvPr/>
        </p:nvSpPr>
        <p:spPr>
          <a:xfrm>
            <a:off x="1268125" y="2148393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Authorized Access</a:t>
            </a: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FE2B1D48-DECD-0BE9-C1B7-C446038227B6}"/>
              </a:ext>
            </a:extLst>
          </p:cNvPr>
          <p:cNvSpPr/>
          <p:nvPr/>
        </p:nvSpPr>
        <p:spPr>
          <a:xfrm>
            <a:off x="757992" y="4270697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39704C-C724-C0AD-2F5F-DB7933F46658}"/>
              </a:ext>
            </a:extLst>
          </p:cNvPr>
          <p:cNvSpPr txBox="1"/>
          <p:nvPr/>
        </p:nvSpPr>
        <p:spPr>
          <a:xfrm>
            <a:off x="1268124" y="2854276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Data Privacy &amp; Confidentiality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3101C-DF9C-25A9-CF59-C1E9C8901877}"/>
              </a:ext>
            </a:extLst>
          </p:cNvPr>
          <p:cNvSpPr txBox="1"/>
          <p:nvPr/>
        </p:nvSpPr>
        <p:spPr>
          <a:xfrm>
            <a:off x="1268123" y="3595398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Security-Aware 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DE74D6-4503-83B9-7EAE-024EE1773CC8}"/>
              </a:ext>
            </a:extLst>
          </p:cNvPr>
          <p:cNvSpPr txBox="1"/>
          <p:nvPr/>
        </p:nvSpPr>
        <p:spPr>
          <a:xfrm>
            <a:off x="1268122" y="4325512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Responsible Use of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5D4009-09DC-038B-6A12-52C3D0BBFA11}"/>
              </a:ext>
            </a:extLst>
          </p:cNvPr>
          <p:cNvSpPr txBox="1"/>
          <p:nvPr/>
        </p:nvSpPr>
        <p:spPr>
          <a:xfrm>
            <a:off x="1268122" y="2352910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Users can only access system features allowed by their assigned role.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778895-1EF5-3BB6-CDC2-9C51527BA05C}"/>
              </a:ext>
            </a:extLst>
          </p:cNvPr>
          <p:cNvSpPr txBox="1"/>
          <p:nvPr/>
        </p:nvSpPr>
        <p:spPr>
          <a:xfrm>
            <a:off x="1268122" y="3090773"/>
            <a:ext cx="3303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Academic data such as grades and reviews is visible only to authorized users.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A57EB9-3F09-A8DA-6EAB-CB0DBC3E1531}"/>
              </a:ext>
            </a:extLst>
          </p:cNvPr>
          <p:cNvSpPr txBox="1"/>
          <p:nvPr/>
        </p:nvSpPr>
        <p:spPr>
          <a:xfrm>
            <a:off x="1268122" y="3772221"/>
            <a:ext cx="3303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LDAP authentication is used, with security encryption planned for deployment.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4B7DB8-F463-C440-0720-656D65176F35}"/>
              </a:ext>
            </a:extLst>
          </p:cNvPr>
          <p:cNvSpPr txBox="1"/>
          <p:nvPr/>
        </p:nvSpPr>
        <p:spPr>
          <a:xfrm>
            <a:off x="1268122" y="4503386"/>
            <a:ext cx="3116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Only necessary academic data is collected.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0F8310-B743-24E1-B888-FA34260CF586}"/>
              </a:ext>
            </a:extLst>
          </p:cNvPr>
          <p:cNvSpPr txBox="1"/>
          <p:nvPr/>
        </p:nvSpPr>
        <p:spPr>
          <a:xfrm>
            <a:off x="5527259" y="2126624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Academic Efficiency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63289-1259-01F5-15C7-012F2707B459}"/>
              </a:ext>
            </a:extLst>
          </p:cNvPr>
          <p:cNvSpPr txBox="1"/>
          <p:nvPr/>
        </p:nvSpPr>
        <p:spPr>
          <a:xfrm>
            <a:off x="5527258" y="2832507"/>
            <a:ext cx="2858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Consistent Academic Artifacts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F05C6-0E11-49F0-0C37-580795B35369}"/>
              </a:ext>
            </a:extLst>
          </p:cNvPr>
          <p:cNvSpPr txBox="1"/>
          <p:nvPr/>
        </p:nvSpPr>
        <p:spPr>
          <a:xfrm>
            <a:off x="5527257" y="3573629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Improved Administration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F7A387-A242-F376-B58D-7ECDAA162E5E}"/>
              </a:ext>
            </a:extLst>
          </p:cNvPr>
          <p:cNvSpPr txBox="1"/>
          <p:nvPr/>
        </p:nvSpPr>
        <p:spPr>
          <a:xfrm>
            <a:off x="5527256" y="4303743"/>
            <a:ext cx="26744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Automated Academic Workflows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DFC312-0EF8-3B46-AFD9-88C5B9862676}"/>
              </a:ext>
            </a:extLst>
          </p:cNvPr>
          <p:cNvSpPr txBox="1"/>
          <p:nvPr/>
        </p:nvSpPr>
        <p:spPr>
          <a:xfrm>
            <a:off x="5527256" y="2331141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Reduces manual effort in course work management.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DDB83-9C69-33C8-291C-0768FE6C1F8A}"/>
              </a:ext>
            </a:extLst>
          </p:cNvPr>
          <p:cNvSpPr txBox="1"/>
          <p:nvPr/>
        </p:nvSpPr>
        <p:spPr>
          <a:xfrm>
            <a:off x="5527256" y="3018380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Ensures consistent structure and format across system-generated academic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E4CBB-30C2-44AD-E1C0-FB0BE516AAD6}"/>
              </a:ext>
            </a:extLst>
          </p:cNvPr>
          <p:cNvSpPr txBox="1"/>
          <p:nvPr/>
        </p:nvSpPr>
        <p:spPr>
          <a:xfrm>
            <a:off x="5527256" y="3764722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Centralizes and streamlines administrative tracking and management tasks.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600EC-BA6F-89D3-B289-12E4E2F843E2}"/>
              </a:ext>
            </a:extLst>
          </p:cNvPr>
          <p:cNvSpPr txBox="1"/>
          <p:nvPr/>
        </p:nvSpPr>
        <p:spPr>
          <a:xfrm>
            <a:off x="5527256" y="4495687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Automates core academic workflows such as submissions and evaluations.</a:t>
            </a:r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FCC51B96-4985-3884-4B63-622564DECD60}"/>
              </a:ext>
            </a:extLst>
          </p:cNvPr>
          <p:cNvSpPr/>
          <p:nvPr/>
        </p:nvSpPr>
        <p:spPr>
          <a:xfrm>
            <a:off x="5012314" y="2141490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F2269878-B64E-1B86-FF56-AE17C03E69FE}"/>
              </a:ext>
            </a:extLst>
          </p:cNvPr>
          <p:cNvSpPr/>
          <p:nvPr/>
        </p:nvSpPr>
        <p:spPr>
          <a:xfrm>
            <a:off x="5012314" y="2829870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A2519ED0-829E-0EB9-751C-025773C4E185}"/>
              </a:ext>
            </a:extLst>
          </p:cNvPr>
          <p:cNvSpPr/>
          <p:nvPr/>
        </p:nvSpPr>
        <p:spPr>
          <a:xfrm>
            <a:off x="5012314" y="3559984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1F3D21F-DD35-C09C-0C8B-2298CAB4FBF3}"/>
              </a:ext>
            </a:extLst>
          </p:cNvPr>
          <p:cNvSpPr/>
          <p:nvPr/>
        </p:nvSpPr>
        <p:spPr>
          <a:xfrm>
            <a:off x="5012314" y="4280322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pic>
        <p:nvPicPr>
          <p:cNvPr id="39" name="Picture 2" descr="Authorization Icons - Free SVG &amp; PNG Authorization Images - Noun Project">
            <a:extLst>
              <a:ext uri="{FF2B5EF4-FFF2-40B4-BE49-F238E27FC236}">
                <a16:creationId xmlns:a16="http://schemas.microsoft.com/office/drawing/2014/main" id="{B03A9037-330A-2963-5D66-9CB0FF5E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6" y="2258258"/>
            <a:ext cx="365092" cy="36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privacy Icon - Free PNG &amp; SVG 1815164 - Noun Project">
            <a:extLst>
              <a:ext uri="{FF2B5EF4-FFF2-40B4-BE49-F238E27FC236}">
                <a16:creationId xmlns:a16="http://schemas.microsoft.com/office/drawing/2014/main" id="{C0C5ACFB-8B69-1470-F4DC-E8BAA34D6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3" y="2863477"/>
            <a:ext cx="504818" cy="50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cryption - Free computer icons">
            <a:extLst>
              <a:ext uri="{FF2B5EF4-FFF2-40B4-BE49-F238E27FC236}">
                <a16:creationId xmlns:a16="http://schemas.microsoft.com/office/drawing/2014/main" id="{A18B5D61-9512-8183-F843-40CD5FF23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6" y="3667940"/>
            <a:ext cx="356172" cy="35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ocial Responsibility Free Vector Icons by Freepik">
            <a:extLst>
              <a:ext uri="{FF2B5EF4-FFF2-40B4-BE49-F238E27FC236}">
                <a16:creationId xmlns:a16="http://schemas.microsoft.com/office/drawing/2014/main" id="{5BF97445-989B-E9B7-6D28-A8F1F5721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" y="4382234"/>
            <a:ext cx="361572" cy="36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fficiency Generic Detailed Outline icon | Freepik">
            <a:extLst>
              <a:ext uri="{FF2B5EF4-FFF2-40B4-BE49-F238E27FC236}">
                <a16:creationId xmlns:a16="http://schemas.microsoft.com/office/drawing/2014/main" id="{A8138A7D-BB72-47D3-AD6C-BEDD03B61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27" y="2218739"/>
            <a:ext cx="447426" cy="44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onsistency Icons - Free SVG &amp; PNG Consistency Images - Noun Project">
            <a:extLst>
              <a:ext uri="{FF2B5EF4-FFF2-40B4-BE49-F238E27FC236}">
                <a16:creationId xmlns:a16="http://schemas.microsoft.com/office/drawing/2014/main" id="{6E3BFAF6-1256-8245-6B9C-80157663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64" y="2904726"/>
            <a:ext cx="427789" cy="42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dministration - Free business icons">
            <a:extLst>
              <a:ext uri="{FF2B5EF4-FFF2-40B4-BE49-F238E27FC236}">
                <a16:creationId xmlns:a16="http://schemas.microsoft.com/office/drawing/2014/main" id="{BF894A28-1034-6397-9A8C-D36FBADD6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08" y="3665523"/>
            <a:ext cx="424145" cy="42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Workflow Automation Icons - Free SVG &amp; PNG Workflow Automation Images -  Noun Project">
            <a:extLst>
              <a:ext uri="{FF2B5EF4-FFF2-40B4-BE49-F238E27FC236}">
                <a16:creationId xmlns:a16="http://schemas.microsoft.com/office/drawing/2014/main" id="{E6DC2113-8947-BADF-2142-D3F9BD2C4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709" y="4296988"/>
            <a:ext cx="532063" cy="5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59">
            <a:extLst>
              <a:ext uri="{FF2B5EF4-FFF2-40B4-BE49-F238E27FC236}">
                <a16:creationId xmlns:a16="http://schemas.microsoft.com/office/drawing/2014/main" id="{A76CF448-19BC-A9CF-1CA0-85230B32CE87}"/>
              </a:ext>
            </a:extLst>
          </p:cNvPr>
          <p:cNvSpPr txBox="1"/>
          <p:nvPr/>
        </p:nvSpPr>
        <p:spPr>
          <a:xfrm>
            <a:off x="1913748" y="1860493"/>
            <a:ext cx="888548" cy="1865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Ethics</a:t>
            </a:r>
          </a:p>
        </p:txBody>
      </p:sp>
      <p:sp>
        <p:nvSpPr>
          <p:cNvPr id="42" name="TextBox 59">
            <a:extLst>
              <a:ext uri="{FF2B5EF4-FFF2-40B4-BE49-F238E27FC236}">
                <a16:creationId xmlns:a16="http://schemas.microsoft.com/office/drawing/2014/main" id="{FAD9FB05-041C-9B3B-D8BD-671A68052787}"/>
              </a:ext>
            </a:extLst>
          </p:cNvPr>
          <p:cNvSpPr txBox="1"/>
          <p:nvPr/>
        </p:nvSpPr>
        <p:spPr>
          <a:xfrm>
            <a:off x="5569202" y="1876657"/>
            <a:ext cx="2309408" cy="1865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Impact on Society</a:t>
            </a:r>
          </a:p>
        </p:txBody>
      </p:sp>
    </p:spTree>
    <p:extLst>
      <p:ext uri="{BB962C8B-B14F-4D97-AF65-F5344CB8AC3E}">
        <p14:creationId xmlns:p14="http://schemas.microsoft.com/office/powerpoint/2010/main" val="179271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2241" y="1760006"/>
            <a:ext cx="493729" cy="2976297"/>
          </a:xfrm>
          <a:custGeom>
            <a:avLst/>
            <a:gdLst/>
            <a:ahLst/>
            <a:cxnLst/>
            <a:rect l="l" t="t" r="r" b="b"/>
            <a:pathLst>
              <a:path w="987457" h="6174945">
                <a:moveTo>
                  <a:pt x="0" y="0"/>
                </a:moveTo>
                <a:lnTo>
                  <a:pt x="987457" y="0"/>
                </a:lnTo>
                <a:lnTo>
                  <a:pt x="987457" y="6174945"/>
                </a:lnTo>
                <a:lnTo>
                  <a:pt x="0" y="6174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511921" y="2207193"/>
            <a:ext cx="1141235" cy="246864"/>
            <a:chOff x="0" y="0"/>
            <a:chExt cx="1062436" cy="2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436" cy="229819"/>
            </a:xfrm>
            <a:custGeom>
              <a:avLst/>
              <a:gdLst/>
              <a:ahLst/>
              <a:cxnLst/>
              <a:rect l="l" t="t" r="r" b="b"/>
              <a:pathLst>
                <a:path w="1062436" h="229819">
                  <a:moveTo>
                    <a:pt x="203200" y="0"/>
                  </a:moveTo>
                  <a:lnTo>
                    <a:pt x="859236" y="0"/>
                  </a:lnTo>
                  <a:lnTo>
                    <a:pt x="1062436" y="229819"/>
                  </a:lnTo>
                  <a:lnTo>
                    <a:pt x="0" y="22981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670B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28575"/>
              <a:ext cx="808436" cy="25839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9106" y="1973586"/>
            <a:ext cx="2176670" cy="707493"/>
            <a:chOff x="0" y="0"/>
            <a:chExt cx="502706" cy="372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2706" cy="372671"/>
            </a:xfrm>
            <a:custGeom>
              <a:avLst/>
              <a:gdLst/>
              <a:ahLst/>
              <a:cxnLst/>
              <a:rect l="l" t="t" r="r" b="b"/>
              <a:pathLst>
                <a:path w="502706" h="372671">
                  <a:moveTo>
                    <a:pt x="0" y="0"/>
                  </a:moveTo>
                  <a:lnTo>
                    <a:pt x="502706" y="0"/>
                  </a:lnTo>
                  <a:lnTo>
                    <a:pt x="502706" y="372671"/>
                  </a:lnTo>
                  <a:lnTo>
                    <a:pt x="0" y="372671"/>
                  </a:lnTo>
                  <a:close/>
                </a:path>
              </a:pathLst>
            </a:custGeom>
            <a:solidFill>
              <a:srgbClr val="AAA2D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02706" cy="4012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05971" y="2103018"/>
            <a:ext cx="1494096" cy="378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Canva Sans Bold"/>
                <a:cs typeface="Canva Sans Bold"/>
                <a:sym typeface="Canva Sans Bold"/>
              </a:rPr>
              <a:t>Challenges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B1E9AF-2916-FEA1-AED2-4C23C102600C}"/>
              </a:ext>
            </a:extLst>
          </p:cNvPr>
          <p:cNvSpPr txBox="1"/>
          <p:nvPr/>
        </p:nvSpPr>
        <p:spPr>
          <a:xfrm>
            <a:off x="4987681" y="142762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53" name="Freeform 2">
            <a:extLst>
              <a:ext uri="{FF2B5EF4-FFF2-40B4-BE49-F238E27FC236}">
                <a16:creationId xmlns:a16="http://schemas.microsoft.com/office/drawing/2014/main" id="{6DEBC3DB-3478-E5C1-A4C5-2D59DA49729C}"/>
              </a:ext>
            </a:extLst>
          </p:cNvPr>
          <p:cNvSpPr/>
          <p:nvPr/>
        </p:nvSpPr>
        <p:spPr>
          <a:xfrm>
            <a:off x="4744231" y="1760006"/>
            <a:ext cx="493729" cy="2976298"/>
          </a:xfrm>
          <a:custGeom>
            <a:avLst/>
            <a:gdLst/>
            <a:ahLst/>
            <a:cxnLst/>
            <a:rect l="l" t="t" r="r" b="b"/>
            <a:pathLst>
              <a:path w="987457" h="6174945">
                <a:moveTo>
                  <a:pt x="0" y="0"/>
                </a:moveTo>
                <a:lnTo>
                  <a:pt x="987457" y="0"/>
                </a:lnTo>
                <a:lnTo>
                  <a:pt x="987457" y="6174945"/>
                </a:lnTo>
                <a:lnTo>
                  <a:pt x="0" y="6174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54" name="Group 3">
            <a:extLst>
              <a:ext uri="{FF2B5EF4-FFF2-40B4-BE49-F238E27FC236}">
                <a16:creationId xmlns:a16="http://schemas.microsoft.com/office/drawing/2014/main" id="{8A264DAE-E865-67D4-733B-4BF6F3B67012}"/>
              </a:ext>
            </a:extLst>
          </p:cNvPr>
          <p:cNvGrpSpPr/>
          <p:nvPr/>
        </p:nvGrpSpPr>
        <p:grpSpPr>
          <a:xfrm rot="-5400000">
            <a:off x="4543911" y="2207193"/>
            <a:ext cx="1141235" cy="246864"/>
            <a:chOff x="0" y="0"/>
            <a:chExt cx="1062436" cy="229819"/>
          </a:xfrm>
        </p:grpSpPr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E242DF95-CA69-A980-09F9-10A489B0748D}"/>
                </a:ext>
              </a:extLst>
            </p:cNvPr>
            <p:cNvSpPr/>
            <p:nvPr/>
          </p:nvSpPr>
          <p:spPr>
            <a:xfrm>
              <a:off x="0" y="0"/>
              <a:ext cx="1062436" cy="229819"/>
            </a:xfrm>
            <a:custGeom>
              <a:avLst/>
              <a:gdLst/>
              <a:ahLst/>
              <a:cxnLst/>
              <a:rect l="l" t="t" r="r" b="b"/>
              <a:pathLst>
                <a:path w="1062436" h="229819">
                  <a:moveTo>
                    <a:pt x="203200" y="0"/>
                  </a:moveTo>
                  <a:lnTo>
                    <a:pt x="859236" y="0"/>
                  </a:lnTo>
                  <a:lnTo>
                    <a:pt x="1062436" y="229819"/>
                  </a:lnTo>
                  <a:lnTo>
                    <a:pt x="0" y="22981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4546A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6" name="TextBox 5">
              <a:extLst>
                <a:ext uri="{FF2B5EF4-FFF2-40B4-BE49-F238E27FC236}">
                  <a16:creationId xmlns:a16="http://schemas.microsoft.com/office/drawing/2014/main" id="{F3D0A2CC-15CB-CED8-213F-1FE772F33FF1}"/>
                </a:ext>
              </a:extLst>
            </p:cNvPr>
            <p:cNvSpPr txBox="1"/>
            <p:nvPr/>
          </p:nvSpPr>
          <p:spPr>
            <a:xfrm>
              <a:off x="127000" y="-28575"/>
              <a:ext cx="808436" cy="25839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57" name="Group 6">
            <a:extLst>
              <a:ext uri="{FF2B5EF4-FFF2-40B4-BE49-F238E27FC236}">
                <a16:creationId xmlns:a16="http://schemas.microsoft.com/office/drawing/2014/main" id="{AD62E055-5704-C61E-2AF4-5DFF93B9CCFB}"/>
              </a:ext>
            </a:extLst>
          </p:cNvPr>
          <p:cNvGrpSpPr/>
          <p:nvPr/>
        </p:nvGrpSpPr>
        <p:grpSpPr>
          <a:xfrm>
            <a:off x="4991096" y="1973586"/>
            <a:ext cx="2176670" cy="707493"/>
            <a:chOff x="0" y="0"/>
            <a:chExt cx="502706" cy="372671"/>
          </a:xfrm>
        </p:grpSpPr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3B0D5755-98D0-4C8E-933E-D7E5901C534B}"/>
                </a:ext>
              </a:extLst>
            </p:cNvPr>
            <p:cNvSpPr/>
            <p:nvPr/>
          </p:nvSpPr>
          <p:spPr>
            <a:xfrm>
              <a:off x="0" y="0"/>
              <a:ext cx="502706" cy="372671"/>
            </a:xfrm>
            <a:custGeom>
              <a:avLst/>
              <a:gdLst/>
              <a:ahLst/>
              <a:cxnLst/>
              <a:rect l="l" t="t" r="r" b="b"/>
              <a:pathLst>
                <a:path w="502706" h="372671">
                  <a:moveTo>
                    <a:pt x="0" y="0"/>
                  </a:moveTo>
                  <a:lnTo>
                    <a:pt x="502706" y="0"/>
                  </a:lnTo>
                  <a:lnTo>
                    <a:pt x="502706" y="372671"/>
                  </a:lnTo>
                  <a:lnTo>
                    <a:pt x="0" y="372671"/>
                  </a:lnTo>
                  <a:close/>
                </a:path>
              </a:pathLst>
            </a:custGeom>
            <a:solidFill>
              <a:srgbClr val="5DB5D6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9" name="TextBox 8">
              <a:extLst>
                <a:ext uri="{FF2B5EF4-FFF2-40B4-BE49-F238E27FC236}">
                  <a16:creationId xmlns:a16="http://schemas.microsoft.com/office/drawing/2014/main" id="{8FC44B48-DFB8-9C3C-3C4B-C86D9ADD0040}"/>
                </a:ext>
              </a:extLst>
            </p:cNvPr>
            <p:cNvSpPr txBox="1"/>
            <p:nvPr/>
          </p:nvSpPr>
          <p:spPr>
            <a:xfrm>
              <a:off x="0" y="-28575"/>
              <a:ext cx="502706" cy="4012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62" name="TextBox 60">
            <a:extLst>
              <a:ext uri="{FF2B5EF4-FFF2-40B4-BE49-F238E27FC236}">
                <a16:creationId xmlns:a16="http://schemas.microsoft.com/office/drawing/2014/main" id="{450C2053-5540-6569-EAE1-B403B5972EB4}"/>
              </a:ext>
            </a:extLst>
          </p:cNvPr>
          <p:cNvSpPr txBox="1"/>
          <p:nvPr/>
        </p:nvSpPr>
        <p:spPr>
          <a:xfrm>
            <a:off x="5237961" y="2103018"/>
            <a:ext cx="1494096" cy="378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Canva Sans Bold"/>
                <a:cs typeface="Canva Sans Bold"/>
                <a:sym typeface="Canva Sans Bold"/>
              </a:rPr>
              <a:t>Conclusions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D413C7-4C7F-BE27-2026-2DF7EF3C4B4E}"/>
              </a:ext>
            </a:extLst>
          </p:cNvPr>
          <p:cNvSpPr txBox="1"/>
          <p:nvPr/>
        </p:nvSpPr>
        <p:spPr>
          <a:xfrm>
            <a:off x="5330640" y="1520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7AB1E1CD-0BB0-B2AA-7416-07814F8C481C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Challenges &amp; Conclusions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959833A7-20D9-10B0-CB0A-99B8DAB8E79C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182736-BDCD-5F31-80B9-736F88276296}"/>
              </a:ext>
            </a:extLst>
          </p:cNvPr>
          <p:cNvSpPr txBox="1"/>
          <p:nvPr/>
        </p:nvSpPr>
        <p:spPr>
          <a:xfrm>
            <a:off x="1298649" y="2785625"/>
            <a:ext cx="21005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Time constraints during design and development</a:t>
            </a:r>
          </a:p>
          <a:p>
            <a:pPr marL="139700"/>
            <a:r>
              <a:rPr lang="en-US" sz="1100" dirty="0">
                <a:latin typeface="Ubuntu" panose="020B0504030602030204" pitchFamily="34" charset="0"/>
              </a:rPr>
              <a:t>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Creating realistic and representative test data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Code &amp; technical integration challenges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90C5FE-FA47-A4C1-72F4-C8049DB36D61}"/>
              </a:ext>
            </a:extLst>
          </p:cNvPr>
          <p:cNvSpPr txBox="1"/>
          <p:nvPr/>
        </p:nvSpPr>
        <p:spPr>
          <a:xfrm>
            <a:off x="5237960" y="2785625"/>
            <a:ext cx="29469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A functional prototype was successfully developed. </a:t>
            </a:r>
          </a:p>
          <a:p>
            <a:pPr marL="139700"/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Iterative development helped adapt to changing requirements</a:t>
            </a:r>
          </a:p>
          <a:p>
            <a:pPr marL="139700"/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The current implementation provides a solid baseline for future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ctrTitle"/>
          </p:nvPr>
        </p:nvSpPr>
        <p:spPr>
          <a:xfrm>
            <a:off x="4125875" y="1745111"/>
            <a:ext cx="44175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GB" sz="8000" dirty="0"/>
              <a:t>Thank you!</a:t>
            </a:r>
            <a:endParaRPr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3009</TotalTime>
  <Words>774</Words>
  <Application>Microsoft Macintosh PowerPoint</Application>
  <PresentationFormat>On-screen Show (16:9)</PresentationFormat>
  <Paragraphs>193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Ubuntu Condensed</vt:lpstr>
      <vt:lpstr>Courier New</vt:lpstr>
      <vt:lpstr>Calibri</vt:lpstr>
      <vt:lpstr>Arial</vt:lpstr>
      <vt:lpstr>Ubuntu</vt:lpstr>
      <vt:lpstr>Inter Bold</vt:lpstr>
      <vt:lpstr>Simple Light</vt:lpstr>
      <vt:lpstr>Office Theme</vt:lpstr>
      <vt:lpstr>PowerPoint Presentation</vt:lpstr>
      <vt:lpstr>PowerPoint Presentation</vt:lpstr>
      <vt:lpstr>Motivation</vt:lpstr>
      <vt:lpstr>Project Requirements </vt:lpstr>
      <vt:lpstr>PowerPoint Presentation</vt:lpstr>
      <vt:lpstr>Roles &amp; Responsibilities</vt:lpstr>
      <vt:lpstr>Technologies &amp; Tools</vt:lpstr>
      <vt:lpstr>PowerPoint Presentation</vt:lpstr>
      <vt:lpstr>Progress &amp; Next Semester Plan</vt:lpstr>
      <vt:lpstr>System Use Case Diagram</vt:lpstr>
      <vt:lpstr>Database Diagram</vt:lpstr>
      <vt:lpstr>Bill of Materials</vt:lpstr>
      <vt:lpstr>Project Risks</vt:lpstr>
      <vt:lpstr>Testing Plan</vt:lpstr>
      <vt:lpstr>Ethics &amp; Impact on Society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Huda Saadeh</dc:creator>
  <cp:lastModifiedBy>Jeeda Kotob</cp:lastModifiedBy>
  <cp:revision>24</cp:revision>
  <dcterms:modified xsi:type="dcterms:W3CDTF">2025-12-08T23:44:49Z</dcterms:modified>
</cp:coreProperties>
</file>