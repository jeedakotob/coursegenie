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</p:sldIdLst>
  <p:sldSz cx="9144000" cy="5143500" type="screen16x9"/>
  <p:notesSz cx="6858000" cy="9144000"/>
  <p:embeddedFontLst>
    <p:embeddedFont>
      <p:font typeface="Cairo" pitchFamily="2" charset="-78"/>
      <p:regular r:id="rId29"/>
      <p:bold r:id="rId30"/>
    </p:embeddedFont>
    <p:embeddedFont>
      <p:font typeface="Ubuntu" panose="020B0504030602030204" pitchFamily="34" charset="0"/>
      <p:regular r:id="rId31"/>
      <p:bold r:id="rId32"/>
      <p:italic r:id="rId33"/>
      <p:boldItalic r:id="rId34"/>
    </p:embeddedFont>
    <p:embeddedFont>
      <p:font typeface="Ubuntu Condensed" panose="020B0506030602030204" pitchFamily="34" charset="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6D4ECC-2E9A-4D92-8BDE-3A10419CA156}">
  <a:tblStyle styleId="{726D4ECC-2E9A-4D92-8BDE-3A10419CA1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E487423-8152-41B6-B0DC-3F3956A2397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5029E4-43CB-49BD-968D-FCFBB625835D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01"/>
  </p:normalViewPr>
  <p:slideViewPr>
    <p:cSldViewPr snapToGrid="0">
      <p:cViewPr varScale="1">
        <p:scale>
          <a:sx n="130" d="100"/>
          <a:sy n="130" d="100"/>
        </p:scale>
        <p:origin x="10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265176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 rot="-628">
            <a:off x="719999" y="3269922"/>
            <a:ext cx="3286200" cy="426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5767925" y="431200"/>
            <a:ext cx="2931600" cy="1740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3" name="Google Shape;13;p2"/>
          <p:cNvSpPr>
            <a:spLocks noGrp="1"/>
          </p:cNvSpPr>
          <p:nvPr>
            <p:ph type="pic" idx="3"/>
          </p:nvPr>
        </p:nvSpPr>
        <p:spPr>
          <a:xfrm>
            <a:off x="5767925" y="2362725"/>
            <a:ext cx="2931600" cy="23496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14" name="Google Shape;14;p2"/>
          <p:cNvSpPr/>
          <p:nvPr/>
        </p:nvSpPr>
        <p:spPr>
          <a:xfrm>
            <a:off x="0" y="4984750"/>
            <a:ext cx="8574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0" y="27432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720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2"/>
          </p:nvPr>
        </p:nvSpPr>
        <p:spPr>
          <a:xfrm>
            <a:off x="4572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4750" y="-46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 idx="2"/>
          </p:nvPr>
        </p:nvSpPr>
        <p:spPr>
          <a:xfrm>
            <a:off x="720000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7200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3"/>
          </p:nvPr>
        </p:nvSpPr>
        <p:spPr>
          <a:xfrm>
            <a:off x="3403748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ubTitle" idx="4"/>
          </p:nvPr>
        </p:nvSpPr>
        <p:spPr>
          <a:xfrm>
            <a:off x="34038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5"/>
          </p:nvPr>
        </p:nvSpPr>
        <p:spPr>
          <a:xfrm>
            <a:off x="6087496" y="2154825"/>
            <a:ext cx="23364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ubTitle" idx="6"/>
          </p:nvPr>
        </p:nvSpPr>
        <p:spPr>
          <a:xfrm>
            <a:off x="6087600" y="2577766"/>
            <a:ext cx="2336400" cy="16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1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 idx="2"/>
          </p:nvPr>
        </p:nvSpPr>
        <p:spPr>
          <a:xfrm>
            <a:off x="720000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"/>
          </p:nvPr>
        </p:nvSpPr>
        <p:spPr>
          <a:xfrm>
            <a:off x="720000" y="1840750"/>
            <a:ext cx="24930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title" idx="3"/>
          </p:nvPr>
        </p:nvSpPr>
        <p:spPr>
          <a:xfrm>
            <a:off x="3325485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3325485" y="1840750"/>
            <a:ext cx="24930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5"/>
          </p:nvPr>
        </p:nvSpPr>
        <p:spPr>
          <a:xfrm>
            <a:off x="720000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6"/>
          </p:nvPr>
        </p:nvSpPr>
        <p:spPr>
          <a:xfrm>
            <a:off x="720000" y="3649125"/>
            <a:ext cx="24930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7"/>
          </p:nvPr>
        </p:nvSpPr>
        <p:spPr>
          <a:xfrm>
            <a:off x="3325485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8"/>
          </p:nvPr>
        </p:nvSpPr>
        <p:spPr>
          <a:xfrm>
            <a:off x="3325486" y="3649125"/>
            <a:ext cx="24930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 idx="9"/>
          </p:nvPr>
        </p:nvSpPr>
        <p:spPr>
          <a:xfrm>
            <a:off x="5930951" y="1416150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13"/>
          </p:nvPr>
        </p:nvSpPr>
        <p:spPr>
          <a:xfrm>
            <a:off x="5930952" y="1840750"/>
            <a:ext cx="24930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14"/>
          </p:nvPr>
        </p:nvSpPr>
        <p:spPr>
          <a:xfrm>
            <a:off x="5930951" y="3224525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5"/>
          </p:nvPr>
        </p:nvSpPr>
        <p:spPr>
          <a:xfrm>
            <a:off x="5930953" y="3649125"/>
            <a:ext cx="24930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7400925" y="0"/>
            <a:ext cx="6429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1789200" y="919200"/>
            <a:ext cx="5565600" cy="13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0" name="Google Shape;60;p7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1131850" y="1294750"/>
            <a:ext cx="41628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ubTitle" idx="1"/>
          </p:nvPr>
        </p:nvSpPr>
        <p:spPr>
          <a:xfrm>
            <a:off x="1442600" y="2589925"/>
            <a:ext cx="3541200" cy="12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>
            <a:spLocks noGrp="1"/>
          </p:cNvSpPr>
          <p:nvPr>
            <p:ph type="pic" idx="2"/>
          </p:nvPr>
        </p:nvSpPr>
        <p:spPr>
          <a:xfrm>
            <a:off x="-7650" y="-7650"/>
            <a:ext cx="9159300" cy="5158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720000" y="4000500"/>
            <a:ext cx="7704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1"/>
          <p:cNvPicPr preferRelativeResize="0"/>
          <p:nvPr/>
        </p:nvPicPr>
        <p:blipFill rotWithShape="1">
          <a:blip r:embed="rId2">
            <a:alphaModFix amt="14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1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2"/>
          <p:cNvPicPr preferRelativeResize="0"/>
          <p:nvPr/>
        </p:nvPicPr>
        <p:blipFill rotWithShape="1">
          <a:blip r:embed="rId2">
            <a:alphaModFix amt="15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/>
          <p:nvPr/>
        </p:nvSpPr>
        <p:spPr>
          <a:xfrm>
            <a:off x="0" y="0"/>
            <a:ext cx="1124100" cy="158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2"/>
          <p:cNvSpPr txBox="1"/>
          <p:nvPr/>
        </p:nvSpPr>
        <p:spPr>
          <a:xfrm>
            <a:off x="8044019" y="4756323"/>
            <a:ext cx="984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Slide </a:t>
            </a:r>
            <a:fld id="{00000000-1234-1234-1234-123412341234}" type="slidenum"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‹#›</a:t>
            </a:fld>
            <a:r>
              <a:rPr lang="en-US" sz="1200" b="0" i="0" u="none" strike="noStrike" cap="none">
                <a:solidFill>
                  <a:srgbClr val="58585B"/>
                </a:solidFill>
                <a:latin typeface="Ubuntu"/>
                <a:ea typeface="Ubuntu"/>
                <a:cs typeface="Ubuntu"/>
                <a:sym typeface="Ubuntu"/>
              </a:rPr>
              <a:t>/15</a:t>
            </a: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Ubuntu Condensed"/>
              <a:buNone/>
              <a:defRPr sz="35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Ubuntu Condensed"/>
              <a:buNone/>
              <a:defRPr sz="31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iro"/>
              <a:buChar char="■"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 idx="4294967295"/>
          </p:nvPr>
        </p:nvSpPr>
        <p:spPr>
          <a:xfrm>
            <a:off x="720000" y="829550"/>
            <a:ext cx="4666800" cy="23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600" b="1" i="0" u="none" strike="noStrike" cap="none">
                <a:solidFill>
                  <a:srgbClr val="00ADEF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CourseGenie</a:t>
            </a:r>
            <a:r>
              <a:rPr lang="en-US" sz="4600" b="1" i="0" u="none" strike="noStrike" cap="none">
                <a:solidFill>
                  <a:srgbClr val="FFC000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+</a:t>
            </a:r>
            <a:r>
              <a:rPr lang="en-US" sz="46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:</a:t>
            </a:r>
            <a:r>
              <a:rPr lang="en-US" sz="4600" b="1" i="0" u="none" strike="noStrike" cap="none">
                <a:solidFill>
                  <a:srgbClr val="00ADEF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</a:t>
            </a:r>
            <a:r>
              <a:rPr lang="en-US" sz="3800" b="1" i="0" u="none" strike="noStrike" cap="none">
                <a:solidFill>
                  <a:schemeClr val="dk1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Centralized Academic Workflow Automation</a:t>
            </a:r>
            <a:endParaRPr sz="3800" b="1" i="0" u="none" strike="noStrike" cap="none">
              <a:solidFill>
                <a:schemeClr val="dk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cxnSp>
        <p:nvCxnSpPr>
          <p:cNvPr id="86" name="Google Shape;86;p13"/>
          <p:cNvCxnSpPr/>
          <p:nvPr/>
        </p:nvCxnSpPr>
        <p:spPr>
          <a:xfrm>
            <a:off x="0" y="33972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3"/>
          <p:cNvSpPr txBox="1"/>
          <p:nvPr/>
        </p:nvSpPr>
        <p:spPr>
          <a:xfrm>
            <a:off x="720000" y="3144399"/>
            <a:ext cx="3526971" cy="116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Team Members: Jeeda Kotob, Ryma Ait Tayeb, Ibraheem Mustafa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Deliverable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Mentors: Dr. Ali Assi &amp; Mr.Qusai Hassan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November 2025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06800" y="1236083"/>
            <a:ext cx="2660233" cy="266023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Motivation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720000" y="1374727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Faculty and administrators spend significant time on repetitive academic tasks such as:</a:t>
            </a:r>
            <a:endParaRPr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Assessment Reports (CAR)</a:t>
            </a:r>
            <a:endParaRPr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Extracting and analyzing student grade statistics</a:t>
            </a:r>
            <a:endParaRPr/>
          </a:p>
          <a:p>
            <a:pPr marL="914400" lvl="1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US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Preparing course peer-review reports.  </a:t>
            </a:r>
            <a:endParaRPr/>
          </a:p>
          <a:p>
            <a:pPr marL="13970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Because these tasks are done manually, they reduce valuable time for teaching and research. CourseGenie+ streamlines these processes through automation and centralized dashboards, improving efficiency across the academic workflow.</a:t>
            </a:r>
            <a:endParaRPr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Problem Statement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Current LMS (MyCourses) lack automation and reporting features</a:t>
            </a: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Faculty and admins face repetitive, manual tasks (syllabus, CARs, rubrics, CLO-PLO mapping, exam logistics)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Current methods rely on emails, spreadsheets and other external tools.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Result: delays, inefficiencies, and reporting difficulties.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Need: A centralized, automated platform to streamline academic workflows.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Project Objectives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Automate and centralize repetitive academic tasks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Provide professor dashboards for course management, assessments, rubrics, CAR files, syllabus generation, etc.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Provide admin dashboard for course section management, CAR file collection, syllabus management, etc.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Enhance analytics and visualizations of statistics.</a:t>
            </a:r>
            <a:endParaRPr/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Literature Review Themes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 idx="2"/>
          </p:nvPr>
        </p:nvSpPr>
        <p:spPr>
          <a:xfrm>
            <a:off x="480164" y="1344838"/>
            <a:ext cx="3852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D69535"/>
                </a:solidFill>
                <a:latin typeface="Ubuntu"/>
                <a:ea typeface="Ubuntu"/>
                <a:cs typeface="Ubuntu"/>
                <a:sym typeface="Ubuntu"/>
              </a:rPr>
              <a:t>Core Features &amp; Comparisons</a:t>
            </a:r>
            <a:endParaRPr>
              <a:solidFill>
                <a:srgbClr val="D695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3" name="Google Shape;123;p17"/>
          <p:cNvSpPr txBox="1">
            <a:spLocks noGrp="1"/>
          </p:cNvSpPr>
          <p:nvPr>
            <p:ph type="subTitle" idx="1"/>
          </p:nvPr>
        </p:nvSpPr>
        <p:spPr>
          <a:xfrm>
            <a:off x="720000" y="1840750"/>
            <a:ext cx="3230208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Ubuntu"/>
                <a:ea typeface="Ubuntu"/>
                <a:cs typeface="Ubuntu"/>
                <a:sym typeface="Ubuntu"/>
              </a:rPr>
              <a:t>Most LMSs share a toolkit of common features, but differ in usability and workflows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4" name="Google Shape;124;p17"/>
          <p:cNvSpPr txBox="1">
            <a:spLocks noGrp="1"/>
          </p:cNvSpPr>
          <p:nvPr>
            <p:ph type="title" idx="3"/>
          </p:nvPr>
        </p:nvSpPr>
        <p:spPr>
          <a:xfrm>
            <a:off x="6131161" y="2973576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D69535"/>
                </a:solidFill>
                <a:latin typeface="Ubuntu"/>
                <a:ea typeface="Ubuntu"/>
                <a:cs typeface="Ubuntu"/>
                <a:sym typeface="Ubuntu"/>
              </a:rPr>
              <a:t>Gaps &amp; Limitations</a:t>
            </a:r>
            <a:endParaRPr>
              <a:solidFill>
                <a:srgbClr val="D695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5" name="Google Shape;125;p17"/>
          <p:cNvSpPr txBox="1">
            <a:spLocks noGrp="1"/>
          </p:cNvSpPr>
          <p:nvPr>
            <p:ph type="subTitle" idx="4"/>
          </p:nvPr>
        </p:nvSpPr>
        <p:spPr>
          <a:xfrm>
            <a:off x="6027822" y="3546525"/>
            <a:ext cx="2699678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Ubuntu"/>
                <a:ea typeface="Ubuntu"/>
                <a:cs typeface="Ubuntu"/>
                <a:sym typeface="Ubuntu"/>
              </a:rPr>
              <a:t>Advanced features are often underutilized, either due to poor fit with teaching practices or usage complexity.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 idx="5"/>
          </p:nvPr>
        </p:nvSpPr>
        <p:spPr>
          <a:xfrm>
            <a:off x="153374" y="2972225"/>
            <a:ext cx="314658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>
                <a:solidFill>
                  <a:srgbClr val="D69535"/>
                </a:solidFill>
                <a:latin typeface="Ubuntu"/>
                <a:ea typeface="Ubuntu"/>
                <a:cs typeface="Ubuntu"/>
                <a:sym typeface="Ubuntu"/>
              </a:rPr>
              <a:t>Accreditation</a:t>
            </a:r>
            <a:endParaRPr>
              <a:solidFill>
                <a:srgbClr val="D695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subTitle" idx="6"/>
          </p:nvPr>
        </p:nvSpPr>
        <p:spPr>
          <a:xfrm>
            <a:off x="480164" y="3546525"/>
            <a:ext cx="24930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Ubuntu"/>
                <a:ea typeface="Ubuntu"/>
                <a:cs typeface="Ubuntu"/>
                <a:sym typeface="Ubuntu"/>
              </a:rPr>
              <a:t>Manual reporting slows compliance, which requires automation work.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8" name="Google Shape;128;p17"/>
          <p:cNvSpPr txBox="1">
            <a:spLocks noGrp="1"/>
          </p:cNvSpPr>
          <p:nvPr>
            <p:ph type="title" idx="7"/>
          </p:nvPr>
        </p:nvSpPr>
        <p:spPr>
          <a:xfrm>
            <a:off x="3253993" y="2954879"/>
            <a:ext cx="2493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>
                <a:solidFill>
                  <a:srgbClr val="D69535"/>
                </a:solidFill>
                <a:latin typeface="Ubuntu"/>
                <a:ea typeface="Ubuntu"/>
                <a:cs typeface="Ubuntu"/>
                <a:sym typeface="Ubuntu"/>
              </a:rPr>
              <a:t>Peer Review</a:t>
            </a:r>
            <a:endParaRPr>
              <a:solidFill>
                <a:srgbClr val="D695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9" name="Google Shape;129;p17"/>
          <p:cNvSpPr txBox="1">
            <a:spLocks noGrp="1"/>
          </p:cNvSpPr>
          <p:nvPr>
            <p:ph type="subTitle" idx="8"/>
          </p:nvPr>
        </p:nvSpPr>
        <p:spPr>
          <a:xfrm>
            <a:off x="3253993" y="3538500"/>
            <a:ext cx="2493000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Ubuntu"/>
                <a:ea typeface="Ubuntu"/>
                <a:cs typeface="Ubuntu"/>
                <a:sym typeface="Ubuntu"/>
              </a:rPr>
              <a:t>No standardization in review forms and processes, digital tools can improve quality and ensure consistency.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 idx="9"/>
          </p:nvPr>
        </p:nvSpPr>
        <p:spPr>
          <a:xfrm>
            <a:off x="5081454" y="1344838"/>
            <a:ext cx="3646046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>
                <a:solidFill>
                  <a:srgbClr val="D69535"/>
                </a:solidFill>
                <a:latin typeface="Ubuntu"/>
                <a:ea typeface="Ubuntu"/>
                <a:cs typeface="Ubuntu"/>
                <a:sym typeface="Ubuntu"/>
              </a:rPr>
              <a:t>Visualizations and Analytics</a:t>
            </a:r>
            <a:endParaRPr>
              <a:solidFill>
                <a:srgbClr val="D695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3"/>
          </p:nvPr>
        </p:nvSpPr>
        <p:spPr>
          <a:xfrm>
            <a:off x="5289373" y="1872538"/>
            <a:ext cx="3230208" cy="8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Ubuntu"/>
                <a:ea typeface="Ubuntu"/>
                <a:cs typeface="Ubuntu"/>
                <a:sym typeface="Ubuntu"/>
              </a:rPr>
              <a:t>Dashboards are needed but often too complex and unutilized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Requirements Elicitation Methods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Brainstorming with team and mentors.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Interviews with professors and admin staff.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Observation of CourseGenie phase1 and MyCourses workflows</a:t>
            </a:r>
            <a:endParaRPr/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Requirements Elicitation Methods (Cont.)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148" name="Google Shape;148;p19"/>
          <p:cNvGraphicFramePr/>
          <p:nvPr/>
        </p:nvGraphicFramePr>
        <p:xfrm>
          <a:off x="719962" y="1313535"/>
          <a:ext cx="7797875" cy="2850950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26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Interviewees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Description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D6953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Professors</a:t>
                      </a:r>
                      <a:endParaRPr sz="1400" b="1" i="0" u="none" strike="noStrike" cap="none">
                        <a:solidFill>
                          <a:srgbClr val="D6953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Weekly mentor interviews identified MyCourses limitations and suggested professor-focused enhancements.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D6953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Institutional Effectiveness Manager </a:t>
                      </a:r>
                      <a:endParaRPr sz="1400" b="1" i="0" u="none" strike="noStrike" cap="none">
                        <a:solidFill>
                          <a:srgbClr val="D6953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Interview with Ms. Castelino emphasized need for admin dashboard, syllabus tracking, CAR files management, and peer review process tracking.</a:t>
                      </a:r>
                      <a:endParaRPr sz="1200" b="0" i="0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Project Scope</a:t>
            </a:r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body" idx="1"/>
          </p:nvPr>
        </p:nvSpPr>
        <p:spPr>
          <a:xfrm>
            <a:off x="720000" y="1237200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Included Scope</a:t>
            </a:r>
            <a:endParaRPr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Professor dashboards (syllabus, rubric, CAR files, grade analytics, course peer-review).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Admin dashboards (syllabus collection, CAR tracking, exam logistics, oversight).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Analytics and reporting</a:t>
            </a: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 tools.</a:t>
            </a:r>
            <a:endParaRPr sz="1400" b="0" i="0" u="none" strike="noStrike" cap="none">
              <a:solidFill>
                <a:srgbClr val="232325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</a:pP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56" name="Google Shape;156;p20"/>
          <p:cNvSpPr txBox="1">
            <a:spLocks noGrp="1"/>
          </p:cNvSpPr>
          <p:nvPr>
            <p:ph type="body" idx="2"/>
          </p:nvPr>
        </p:nvSpPr>
        <p:spPr>
          <a:xfrm>
            <a:off x="4572000" y="1214829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iro"/>
              <a:buNone/>
            </a:pPr>
            <a:r>
              <a:rPr lang="en-US" sz="18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Excluded Scope</a:t>
            </a:r>
            <a:endParaRPr sz="8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Ubuntu"/>
              <a:ea typeface="Ubuntu"/>
              <a:cs typeface="Ubuntu"/>
              <a:sym typeface="Ubuntu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Student-side features (assignment submission, attendance, course content, etc.)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Integration with MyCourses and university database (due to restricted access).</a:t>
            </a:r>
            <a:endParaRPr/>
          </a:p>
          <a:p>
            <a:pPr marL="139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57" name="Google Shape;1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Development Methodology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Agile Scrum approach.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Work divided into sprints (approx. 1 month each) with clear milestones.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Weekly team meetings with mentor feedback.</a:t>
            </a:r>
            <a:endParaRPr/>
          </a:p>
          <a:p>
            <a:pPr marL="4254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Incremental feature delivery with testing at finalization of each sprint.</a:t>
            </a:r>
            <a:endParaRPr/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Stakeholders</a:t>
            </a:r>
            <a:endParaRPr>
              <a:solidFill>
                <a:schemeClr val="lt2"/>
              </a:solidFill>
            </a:endParaRPr>
          </a:p>
        </p:txBody>
      </p:sp>
      <p:graphicFrame>
        <p:nvGraphicFramePr>
          <p:cNvPr id="182" name="Google Shape;182;p23"/>
          <p:cNvGraphicFramePr/>
          <p:nvPr/>
        </p:nvGraphicFramePr>
        <p:xfrm>
          <a:off x="719962" y="1313534"/>
          <a:ext cx="8040575" cy="3058150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33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9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Stakeholder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dk1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Interest</a:t>
                      </a:r>
                      <a:endParaRPr sz="1200" b="1" u="none" strike="noStrike" cap="none">
                        <a:solidFill>
                          <a:schemeClr val="dk1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7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chemeClr val="lt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Primary Stakeholders</a:t>
                      </a:r>
                      <a:endParaRPr sz="1200" b="1" u="none" strike="noStrike" cap="none">
                        <a:solidFill>
                          <a:schemeClr val="lt2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6953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Professors</a:t>
                      </a:r>
                      <a:endParaRPr sz="1200" b="1" i="0" u="none" strike="noStrike" cap="none">
                        <a:solidFill>
                          <a:srgbClr val="D6953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Use dashbaords for task automations (syllabus, CAR files, assessment  generations, etc.)</a:t>
                      </a: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Administrators</a:t>
                      </a:r>
                      <a:endParaRPr sz="1200" b="1" u="none" strike="noStrike" cap="none">
                        <a:solidFill>
                          <a:srgbClr val="D69535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Track submissions, manage sections, collect files, and other tasks through dashbaord</a:t>
                      </a:r>
                      <a:endParaRPr sz="1200" b="0" i="0" u="none" strike="noStrike" cap="none">
                        <a:solidFill>
                          <a:srgbClr val="000000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325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lt2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Primary Stakeholders</a:t>
                      </a:r>
                      <a:endParaRPr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D69535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Accreditation Bodies (e.g., KHDA)</a:t>
                      </a:r>
                      <a:endParaRPr/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39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Requirement of more accurate and transparent reportings.</a:t>
                      </a:r>
                      <a:endParaRPr/>
                    </a:p>
                  </a:txBody>
                  <a:tcPr marL="0" marR="0" marT="0" marB="0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83" name="Google Shape;1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chemeClr val="lt2"/>
                </a:solidFill>
              </a:rPr>
              <a:t>Functional &amp; Non-Functional Requirements</a:t>
            </a:r>
            <a:endParaRPr dirty="0"/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720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Functional </a:t>
            </a:r>
            <a:endParaRPr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8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Syllabus tracking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Assessment/rubric management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CAR file generation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Exam scheduling &amp; room assignment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Analytics Dashboard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Course and sections management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0" i="0" u="none" strike="noStrike" cap="none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Course </a:t>
            </a: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peer review</a:t>
            </a:r>
            <a:endParaRPr sz="1400" b="0" i="0" u="none" strike="noStrike" cap="none">
              <a:solidFill>
                <a:srgbClr val="232325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</a:pPr>
            <a:endParaRPr sz="800">
              <a:solidFill>
                <a:schemeClr val="dk2"/>
              </a:solidFill>
            </a:endParaRPr>
          </a:p>
        </p:txBody>
      </p:sp>
      <p:sp>
        <p:nvSpPr>
          <p:cNvPr id="191" name="Google Shape;191;p24"/>
          <p:cNvSpPr txBox="1">
            <a:spLocks noGrp="1"/>
          </p:cNvSpPr>
          <p:nvPr>
            <p:ph type="body" idx="2"/>
          </p:nvPr>
        </p:nvSpPr>
        <p:spPr>
          <a:xfrm>
            <a:off x="4572000" y="1237075"/>
            <a:ext cx="3852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 b="1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Non-Functional</a:t>
            </a:r>
            <a:endParaRPr sz="1800" b="1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Usability and accessibility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Security of academic data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System performance and reliability</a:t>
            </a:r>
            <a:endParaRPr/>
          </a:p>
          <a:p>
            <a:pPr marL="45720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solidFill>
                  <a:srgbClr val="232325"/>
                </a:solidFill>
                <a:latin typeface="Ubuntu"/>
                <a:ea typeface="Ubuntu"/>
                <a:cs typeface="Ubuntu"/>
                <a:sym typeface="Ubuntu"/>
              </a:rPr>
              <a:t>Scalability for future use</a:t>
            </a:r>
            <a:endParaRPr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User Stories (1/3) - Professor Features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226" name="Google Shape;226;p28"/>
          <p:cNvGraphicFramePr/>
          <p:nvPr>
            <p:extLst>
              <p:ext uri="{D42A27DB-BD31-4B8C-83A1-F6EECF244321}">
                <p14:modId xmlns:p14="http://schemas.microsoft.com/office/powerpoint/2010/main" val="2946990046"/>
              </p:ext>
            </p:extLst>
          </p:nvPr>
        </p:nvGraphicFramePr>
        <p:xfrm>
          <a:off x="805225" y="1427728"/>
          <a:ext cx="6322850" cy="2959997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Professor, the system features should allow me to:</a:t>
                      </a:r>
                      <a:endParaRPr sz="1600" b="1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Log in to the correct dashboard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Manage course calendar (drag &amp; drop assessments)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Generate and edit syllabus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professors teaching same course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syllabus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Assign exam rooms to students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gradebook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Send automatic exam notifications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Grade color-highlighting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Download exam room assignment report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class performance statistics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Edit profile info (office hours, email, room)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Auto-generate CAR report</a:t>
                      </a:r>
                      <a:endParaRPr sz="1200"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Map CLO–PLO </a:t>
                      </a:r>
                      <a:endParaRPr sz="1200" dirty="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05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27" name="Google Shape;2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User Stories (2/3) - Administrator Features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34" name="Google Shape;234;p29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236" name="Google Shape;236;p29"/>
          <p:cNvGraphicFramePr/>
          <p:nvPr/>
        </p:nvGraphicFramePr>
        <p:xfrm>
          <a:off x="719963" y="1313535"/>
          <a:ext cx="6322850" cy="2179445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an Administrator, the system features should allow me to: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Admin dashboard access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Assign reviewer to reviewee and vice versa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syllabus submissions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peer review progress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Preview + download syllabus files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Initiate peer review workflow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Track CAR submissions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Automatic reminder emails (syllabus + CAR)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Preview + download CAR files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Create + configure course sections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29762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User Stories (3/3) - Reviewer &amp; Reviewee Features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246" name="Google Shape;246;p30"/>
          <p:cNvGraphicFramePr/>
          <p:nvPr/>
        </p:nvGraphicFramePr>
        <p:xfrm>
          <a:off x="719963" y="1313535"/>
          <a:ext cx="2893025" cy="1743815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Reviewer, the system features should allow me to: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assigned review tasks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Complete evaluation forms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structured feedback</a:t>
                      </a:r>
                      <a:endParaRPr/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7" name="Google Shape;247;p30"/>
          <p:cNvGraphicFramePr/>
          <p:nvPr/>
        </p:nvGraphicFramePr>
        <p:xfrm>
          <a:off x="4571981" y="1313535"/>
          <a:ext cx="2893025" cy="1733115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289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3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As a Reviewee, the system features should allow me to: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View received feedback</a:t>
                      </a:r>
                      <a:endParaRPr sz="1400" b="1" u="none" strike="noStrike" cap="none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2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D69535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Submit reflection response</a:t>
                      </a:r>
                      <a:endParaRPr sz="1400" b="1" u="none" strike="noStrike" cap="none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rgbClr val="D69535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68575" marR="68575" marT="0" marB="0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8" name="Google Shape;2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713932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 Case: UC01 - User Login &amp; Dashboard Selection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720000" y="1237200"/>
            <a:ext cx="735745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Goal: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Direct user to correct dashboard based on role(s)</a:t>
            </a:r>
            <a:endParaRPr sz="1200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Actors: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Admin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(Authentication)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Main Flow: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User enters credentials → System verifies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checks user role(s)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one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role → go directly to dashboard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multiple roles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→ show role selection popup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User chooses role → go to selected dashboard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Alternate / Exceptions:</a:t>
            </a:r>
            <a:endParaRPr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Invalid credentials will show an error message</a:t>
            </a: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57" name="Google Shape;2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8713932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 Case: UC02 - CAR Preview &amp; Submission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64" name="Google Shape;264;p32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720000" y="1237200"/>
            <a:ext cx="7704000" cy="3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Goal: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Allow professor to view, download, and submit auto-generated CAR)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Actors: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(Database)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Main Flow: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 opens course section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Opens CAR Report tab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System generates CAR preview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Professor reviews preview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600" b="1" i="0" u="none" strike="noStrike" cap="none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Alternate / Exceptions:</a:t>
            </a:r>
            <a:endParaRPr sz="1600" b="0" i="0" u="none" strike="noStrike" cap="none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If required data missing → system disables Submit and  shows error message</a:t>
            </a:r>
            <a:endParaRPr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 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66" name="Google Shape;26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Use Case Diagram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3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75" name="Google Shape;275;p33" descr="A diagram of a dia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11427"/>
          <a:stretch>
            <a:fillRect/>
          </a:stretch>
        </p:blipFill>
        <p:spPr>
          <a:xfrm>
            <a:off x="1939199" y="1297864"/>
            <a:ext cx="5441652" cy="353646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6" name="Google Shape;2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Gant Chart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5" name="Google Shape;285;p34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2625" y="1334375"/>
            <a:ext cx="5703372" cy="334443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86" name="Google Shape;28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221638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Work Breakdown Structure (WBS)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95" name="Google Shape;295;p35" descr="A diagram with text and box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8668" y="1523499"/>
            <a:ext cx="6129332" cy="30016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96" name="Google Shape;29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RACI Matrix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05" name="Google Shape;305;p36"/>
          <p:cNvPicPr preferRelativeResize="0"/>
          <p:nvPr/>
        </p:nvPicPr>
        <p:blipFill rotWithShape="1">
          <a:blip r:embed="rId3">
            <a:alphaModFix/>
          </a:blip>
          <a:srcRect r="34910"/>
          <a:stretch>
            <a:fillRect/>
          </a:stretch>
        </p:blipFill>
        <p:spPr>
          <a:xfrm>
            <a:off x="1576905" y="1334375"/>
            <a:ext cx="4774734" cy="341547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" name="Google Shape;305;p36">
            <a:extLst>
              <a:ext uri="{FF2B5EF4-FFF2-40B4-BE49-F238E27FC236}">
                <a16:creationId xmlns:a16="http://schemas.microsoft.com/office/drawing/2014/main" id="{73AD7FF7-2683-0E4C-7619-6A127BA5BB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69738" b="28378"/>
          <a:stretch>
            <a:fillRect/>
          </a:stretch>
        </p:blipFill>
        <p:spPr>
          <a:xfrm>
            <a:off x="6825512" y="1981281"/>
            <a:ext cx="1731271" cy="1774642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Risk Matrix (5×5)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13" name="Google Shape;313;p37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" name="Google Shape;314;p37"/>
          <p:cNvGraphicFramePr/>
          <p:nvPr>
            <p:extLst>
              <p:ext uri="{D42A27DB-BD31-4B8C-83A1-F6EECF244321}">
                <p14:modId xmlns:p14="http://schemas.microsoft.com/office/powerpoint/2010/main" val="871565479"/>
              </p:ext>
            </p:extLst>
          </p:nvPr>
        </p:nvGraphicFramePr>
        <p:xfrm>
          <a:off x="1815825" y="1237200"/>
          <a:ext cx="5512350" cy="3366300"/>
        </p:xfrm>
        <a:graphic>
          <a:graphicData uri="http://schemas.openxmlformats.org/drawingml/2006/table">
            <a:tbl>
              <a:tblPr>
                <a:noFill/>
                <a:tableStyleId>{FE487423-8152-41B6-B0DC-3F3956A23978}</a:tableStyleId>
              </a:tblPr>
              <a:tblGrid>
                <a:gridCol w="71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3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400">
                <a:tc gridSpan="7"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DB04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Impact</a:t>
                      </a:r>
                      <a:endParaRPr sz="1200" b="1" u="none" strike="noStrike" cap="none">
                        <a:solidFill>
                          <a:srgbClr val="FDB040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00">
                <a:tc rowSpan="6"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/>
                    </a:p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/>
                    </a:p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/>
                    </a:p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/>
                    </a:p>
                    <a:p>
                      <a:pPr marL="88900" marR="8890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endParaRPr/>
                    </a:p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endParaRPr sz="6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l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 </a:t>
                      </a:r>
                      <a:endParaRPr sz="6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1 (Insignificant)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2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(Minor)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(Noticeable)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4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(Major)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(Critical)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02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5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(Very High)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Critical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Critical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02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4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(High)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Critical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02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3 </a:t>
                      </a:r>
                      <a:endParaRPr/>
                    </a:p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(Moderate)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Low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025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2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 (Low)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Low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Low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High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E98C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200">
                <a:tc vMerge="1">
                  <a:txBody>
                    <a:bodyPr/>
                    <a:lstStyle/>
                    <a:p>
                      <a:endParaRPr lang="en-A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1</a:t>
                      </a:r>
                      <a:b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</a:br>
                      <a:r>
                        <a:rPr lang="en-US" sz="700" b="1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 (Very Low)</a:t>
                      </a:r>
                      <a:endParaRPr sz="7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/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Negligible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Low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Low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8890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Medium</a:t>
                      </a:r>
                      <a:endParaRPr sz="800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5725" marR="5725" marT="5725" marB="5725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5" name="Google Shape;315;p37"/>
          <p:cNvSpPr txBox="1"/>
          <p:nvPr/>
        </p:nvSpPr>
        <p:spPr>
          <a:xfrm rot="-5400000">
            <a:off x="1656660" y="2933899"/>
            <a:ext cx="100129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Likelihood</a:t>
            </a:r>
            <a:endParaRPr sz="1400" b="0" i="0" u="none" strike="noStrike" cap="none" dirty="0">
              <a:solidFill>
                <a:srgbClr val="FDB04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Project Risk Register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23" name="Google Shape;323;p38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marR="0" lvl="0" indent="-1968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325" name="Google Shape;325;p38"/>
          <p:cNvGraphicFramePr/>
          <p:nvPr>
            <p:extLst>
              <p:ext uri="{D42A27DB-BD31-4B8C-83A1-F6EECF244321}">
                <p14:modId xmlns:p14="http://schemas.microsoft.com/office/powerpoint/2010/main" val="1385201071"/>
              </p:ext>
            </p:extLst>
          </p:nvPr>
        </p:nvGraphicFramePr>
        <p:xfrm>
          <a:off x="796017" y="1406855"/>
          <a:ext cx="7704000" cy="3196520"/>
        </p:xfrm>
        <a:graphic>
          <a:graphicData uri="http://schemas.openxmlformats.org/drawingml/2006/table">
            <a:tbl>
              <a:tblPr>
                <a:noFill/>
                <a:tableStyleId>{726D4ECC-2E9A-4D92-8BDE-3A10419CA156}</a:tableStyleId>
              </a:tblPr>
              <a:tblGrid>
                <a:gridCol w="3227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Risk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Impact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91425" marR="91425" marT="68575" marB="6857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Mitigation</a:t>
                      </a:r>
                      <a:endParaRPr sz="1100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curve in Spring Boot / Angular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sprints, pair programming, small prototype modules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Time constraints due to other courses</a:t>
                      </a:r>
                      <a:endParaRPr sz="1100" dirty="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Critical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Strict weekly sprint schedule; prioritize MVP features first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No access to MyCourses data/API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Run CourseGenie+ as standalone platform and allow manual import/export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Adoption resistance from professors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Simple UI, short training videos, early feedback loops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UI complexity causing confusion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Medium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Consistent layouts, tooltips, user testing with mentors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 entry or selection errors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Medium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Validation fields, warnings, clear form guidance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curve in Spring Boot / Angular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High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Learning sprints, pair programming, small prototype modules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Time constraints due to other courses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0" u="none" strike="noStrike" cap="none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Critical</a:t>
                      </a:r>
                      <a:endParaRPr sz="110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Strict weekly sprint schedule; prioritize MVP features first</a:t>
                      </a:r>
                      <a:endParaRPr sz="1100" dirty="0"/>
                    </a:p>
                  </a:txBody>
                  <a:tcPr marL="9525" marR="9525" marT="9525" marB="95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26" name="Google Shape;3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9"/>
          <p:cNvSpPr txBox="1"/>
          <p:nvPr/>
        </p:nvSpPr>
        <p:spPr>
          <a:xfrm>
            <a:off x="4804360" y="1329001"/>
            <a:ext cx="4604400" cy="2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Technical Resources</a:t>
            </a:r>
            <a:endParaRPr sz="1200" b="1" i="0" u="none" strike="noStrike" cap="none" dirty="0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Spring Boot – backend framework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Angular – frontend dashboards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MySQL – data storage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GitHub – version control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VS Code / IntelliJ / </a:t>
            </a:r>
            <a:r>
              <a:rPr lang="en-US" sz="1200" b="0" i="0" u="none" strike="noStrike" cap="none" dirty="0" err="1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PlantUML</a:t>
            </a: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 – dev &amp; documentation tools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1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720000" y="1273475"/>
            <a:ext cx="46044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 dirty="0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Human Resources</a:t>
            </a:r>
            <a:endParaRPr sz="1200" b="1" i="0" u="none" strike="noStrike" cap="none" dirty="0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Jeeda Kotob – Full-Stack (backend–frontend integration, DB)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Ryma Ait Tayeb – Backend (APIs, Spring Boot)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Ibraheem Mustafa – Frontend (Angular dashboards)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Mentors: Dr. Ali Assi &amp; Mr. Qusai Hasan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Stakeholder: Ms. Dezzil Castelino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 dirty="0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Weekly mentor reviews &amp; sprint meetings</a:t>
            </a:r>
            <a:endParaRPr sz="1200" b="0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25450" marR="0" lvl="0" indent="-1968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b="1" i="0" u="none" strike="noStrike" cap="none" dirty="0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2762180" y="3161975"/>
            <a:ext cx="4604400" cy="18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b="1" i="0" u="none" strike="noStrike" cap="none">
                <a:solidFill>
                  <a:schemeClr val="dk2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Logistical Resources</a:t>
            </a:r>
            <a:endParaRPr sz="1200" b="1" i="0" u="none" strike="noStrike" cap="none">
              <a:solidFill>
                <a:schemeClr val="dk2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Personal / RIT laptops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Campus labs &amp; meeting rooms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Google Drive &amp; GitHub for collaboration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Ubuntu Condensed"/>
              <a:buChar char="●"/>
            </a:pPr>
            <a:r>
              <a:rPr lang="en-US" sz="12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Mentor feedback sessions</a:t>
            </a:r>
            <a:endParaRPr sz="12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228600" marR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100" b="1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sp>
        <p:nvSpPr>
          <p:cNvPr id="335" name="Google Shape;335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Resource Planning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36" name="Google Shape;336;p39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7" name="Google Shape;3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Budget Overview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44" name="Google Shape;344;p40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720000" y="139582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All tools = open-source or academic licenses</a:t>
            </a:r>
            <a:b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</a:b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Infrastructure &amp; hosting = RIT provided</a:t>
            </a:r>
            <a:b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</a:b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Ubuntu Condensed"/>
              <a:buChar char="●"/>
            </a:pPr>
            <a:r>
              <a:rPr lang="en-US" sz="1400" b="0" i="0" u="none" strike="noStrike" cap="none">
                <a:solidFill>
                  <a:schemeClr val="hlink"/>
                </a:solidFill>
                <a:latin typeface="Ubuntu Condensed"/>
                <a:ea typeface="Ubuntu Condensed"/>
                <a:cs typeface="Ubuntu Condensed"/>
                <a:sym typeface="Ubuntu Condensed"/>
              </a:rPr>
              <a:t>Total Cost = 0 AED (University-supported)</a:t>
            </a:r>
            <a:endParaRPr sz="1400" b="0" i="0" u="none" strike="noStrike" cap="none">
              <a:solidFill>
                <a:schemeClr val="hlink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  <a:p>
            <a:pPr marL="139700" marR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400" b="0" i="0" u="none" strike="noStrike" cap="none">
              <a:solidFill>
                <a:schemeClr val="dk1"/>
              </a:solidFill>
              <a:latin typeface="Ubuntu Condensed"/>
              <a:ea typeface="Ubuntu Condensed"/>
              <a:cs typeface="Ubuntu Condensed"/>
              <a:sym typeface="Ubuntu Condensed"/>
            </a:endParaRPr>
          </a:p>
        </p:txBody>
      </p:sp>
      <p:pic>
        <p:nvPicPr>
          <p:cNvPr id="346" name="Google Shape;3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>
                <a:solidFill>
                  <a:schemeClr val="lt2"/>
                </a:solidFill>
              </a:rPr>
              <a:t>Initial Bill of Materials (BoM)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53" name="Google Shape;353;p41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4" name="Google Shape;354;p41"/>
          <p:cNvGraphicFramePr/>
          <p:nvPr>
            <p:extLst>
              <p:ext uri="{D42A27DB-BD31-4B8C-83A1-F6EECF244321}">
                <p14:modId xmlns:p14="http://schemas.microsoft.com/office/powerpoint/2010/main" val="2178191708"/>
              </p:ext>
            </p:extLst>
          </p:nvPr>
        </p:nvGraphicFramePr>
        <p:xfrm>
          <a:off x="805225" y="1546227"/>
          <a:ext cx="7932385" cy="2536996"/>
        </p:xfrm>
        <a:graphic>
          <a:graphicData uri="http://schemas.openxmlformats.org/drawingml/2006/table">
            <a:tbl>
              <a:tblPr>
                <a:noFill/>
                <a:tableStyleId>{A75029E4-43CB-49BD-968D-FCFBB625835D}</a:tableStyleId>
              </a:tblPr>
              <a:tblGrid>
                <a:gridCol w="1586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64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 dirty="0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Category</a:t>
                      </a:r>
                      <a:endParaRPr sz="1400" b="1" u="none" strike="noStrike" cap="none" dirty="0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Component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Source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Purpose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solidFill>
                            <a:schemeClr val="lt2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Cost</a:t>
                      </a:r>
                      <a:endParaRPr sz="1400" b="1" u="none" strike="noStrike" cap="none">
                        <a:solidFill>
                          <a:schemeClr val="lt2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 dirty="0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Hardware</a:t>
                      </a:r>
                      <a:endParaRPr sz="1100" b="1" u="none" strike="noStrike" cap="none" dirty="0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Developer Laptops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Personal / RIT Dubai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Development &amp; testing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Provided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Software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Spring Boot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Backend framework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Software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Angular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Frontend UI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Database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MySQL Server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Oracle Community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Data storage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Version Control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GitHub (Education)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GitHub Education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Collaboration &amp; tracking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DB040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Design Tools</a:t>
                      </a:r>
                      <a:endParaRPr sz="1100" b="1" u="none" strike="noStrike" cap="none">
                        <a:solidFill>
                          <a:srgbClr val="FDB040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PlantUML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Open Source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Diagrams &amp; docs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  <a:latin typeface="Ubuntu Condensed"/>
                          <a:ea typeface="Ubuntu Condensed"/>
                          <a:cs typeface="Ubuntu Condensed"/>
                          <a:sym typeface="Ubuntu Condensed"/>
                        </a:rPr>
                        <a:t>Free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  <a:latin typeface="Ubuntu Condensed"/>
                        <a:ea typeface="Ubuntu Condensed"/>
                        <a:cs typeface="Ubuntu Condensed"/>
                        <a:sym typeface="Ubuntu Condensed"/>
                      </a:endParaRPr>
                    </a:p>
                  </a:txBody>
                  <a:tcPr marL="28575" marR="28575" marT="91425" marB="91425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55" name="Google Shape;3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 dirty="0">
                <a:solidFill>
                  <a:schemeClr val="tx2"/>
                </a:solidFill>
              </a:rPr>
              <a:t>Test Plan 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805225" y="1148800"/>
            <a:ext cx="857400" cy="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2"/>
          <p:cNvSpPr txBox="1"/>
          <p:nvPr/>
        </p:nvSpPr>
        <p:spPr>
          <a:xfrm>
            <a:off x="720000" y="1237075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Objective:</a:t>
            </a:r>
            <a:endParaRPr sz="1200" dirty="0">
              <a:solidFill>
                <a:srgbClr val="FDB040"/>
              </a:solidFill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Verify that system features function correctly for both Professors and Admins.</a:t>
            </a:r>
            <a:endParaRPr sz="1200" dirty="0"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Testing Focus Areas:</a:t>
            </a:r>
            <a:endParaRPr sz="1200"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Login &amp; Authentication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Syllabus Generation &amp; Submission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CAR Report Generation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CLO–PLO Mapping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Peer Review Workflow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Exam Room Assignment &amp; Notifications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Gradebook &amp; Statistics Display</a:t>
            </a:r>
            <a:endParaRPr sz="1200" dirty="0"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endParaRPr sz="1200" b="0" i="0" u="none" strike="noStrike" cap="none" dirty="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</a:pPr>
            <a:r>
              <a:rPr lang="en-US" sz="1200" b="1" i="0" u="none" strike="noStrike" cap="none" dirty="0">
                <a:solidFill>
                  <a:srgbClr val="FDB040"/>
                </a:solidFill>
                <a:latin typeface="Ubuntu"/>
                <a:ea typeface="Ubuntu"/>
                <a:cs typeface="Ubuntu"/>
                <a:sym typeface="Ubuntu"/>
              </a:rPr>
              <a:t>Testing Method:</a:t>
            </a:r>
            <a:endParaRPr sz="1200" b="0" i="0" u="none" strike="noStrike" cap="none" dirty="0">
              <a:solidFill>
                <a:srgbClr val="FDB040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Manual functional testing per implemented feature</a:t>
            </a:r>
            <a:endParaRPr sz="1200" dirty="0"/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Pass/Fail tracking in structured test sheets</a:t>
            </a:r>
            <a:endParaRPr sz="1200" dirty="0"/>
          </a:p>
        </p:txBody>
      </p:sp>
      <p:pic>
        <p:nvPicPr>
          <p:cNvPr id="364" name="Google Shape;36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8206275" y="4396325"/>
            <a:ext cx="618350" cy="8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plementation of the 5S Technique Project Proposal by Slidesgo">
  <a:themeElements>
    <a:clrScheme name="Custom 2">
      <a:dk1>
        <a:srgbClr val="232325"/>
      </a:dk1>
      <a:lt1>
        <a:srgbClr val="EDEDED"/>
      </a:lt1>
      <a:dk2>
        <a:srgbClr val="FCB040"/>
      </a:dk2>
      <a:lt2>
        <a:srgbClr val="005475"/>
      </a:lt2>
      <a:accent1>
        <a:srgbClr val="00628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ACE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1458</Words>
  <Application>Microsoft Macintosh PowerPoint</Application>
  <PresentationFormat>On-screen Show (16:9)</PresentationFormat>
  <Paragraphs>336</Paragraphs>
  <Slides>26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Ubuntu</vt:lpstr>
      <vt:lpstr>Ubuntu Condensed</vt:lpstr>
      <vt:lpstr>Cairo</vt:lpstr>
      <vt:lpstr>Courier New</vt:lpstr>
      <vt:lpstr>Arial</vt:lpstr>
      <vt:lpstr>Implementation of the 5S Technique Project Proposal by Slidesgo</vt:lpstr>
      <vt:lpstr>CourseGenie+: Centralized Academic Workflow Automation</vt:lpstr>
      <vt:lpstr>Motivation</vt:lpstr>
      <vt:lpstr>Problem Statement</vt:lpstr>
      <vt:lpstr>Project Objectives</vt:lpstr>
      <vt:lpstr>Literature Review Themes</vt:lpstr>
      <vt:lpstr>Requirements Elicitation Methods</vt:lpstr>
      <vt:lpstr>Requirements Elicitation Methods (Cont.)</vt:lpstr>
      <vt:lpstr>Project Scope</vt:lpstr>
      <vt:lpstr>Development Methodology</vt:lpstr>
      <vt:lpstr>Stakeholders</vt:lpstr>
      <vt:lpstr>Functional &amp; Non-Functional Requirements</vt:lpstr>
      <vt:lpstr>User Stories (1/3) - Professor Features</vt:lpstr>
      <vt:lpstr>User Stories (2/3) - Administrator Features</vt:lpstr>
      <vt:lpstr>User Stories (3/3) - Reviewer &amp; Reviewee Features</vt:lpstr>
      <vt:lpstr>Use Case: UC01 - User Login &amp; Dashboard Selection</vt:lpstr>
      <vt:lpstr>Use Case: UC02 - CAR Preview &amp; Submission</vt:lpstr>
      <vt:lpstr>Use Case Diagram</vt:lpstr>
      <vt:lpstr>Gant Chart</vt:lpstr>
      <vt:lpstr>Work Breakdown Structure (WBS)</vt:lpstr>
      <vt:lpstr>RACI Matrix</vt:lpstr>
      <vt:lpstr>Risk Matrix (5×5)</vt:lpstr>
      <vt:lpstr>Project Risk Register</vt:lpstr>
      <vt:lpstr>Resource Planning</vt:lpstr>
      <vt:lpstr>Budget Overview</vt:lpstr>
      <vt:lpstr>Initial Bill of Materials (BoM)</vt:lpstr>
      <vt:lpstr>Test Plan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Jeeda Kotob</cp:lastModifiedBy>
  <cp:revision>1</cp:revision>
  <dcterms:modified xsi:type="dcterms:W3CDTF">2025-11-09T20:43:18Z</dcterms:modified>
</cp:coreProperties>
</file>