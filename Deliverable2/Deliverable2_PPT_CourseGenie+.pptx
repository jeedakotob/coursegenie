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7"/>
  </p:notesMasterIdLst>
  <p:sldIdLst>
    <p:sldId id="256" r:id="rId2"/>
    <p:sldId id="308" r:id="rId3"/>
    <p:sldId id="262" r:id="rId4"/>
    <p:sldId id="298" r:id="rId5"/>
    <p:sldId id="264" r:id="rId6"/>
    <p:sldId id="299" r:id="rId7"/>
    <p:sldId id="310" r:id="rId8"/>
    <p:sldId id="300" r:id="rId9"/>
    <p:sldId id="301" r:id="rId10"/>
    <p:sldId id="302" r:id="rId11"/>
    <p:sldId id="307" r:id="rId12"/>
    <p:sldId id="304" r:id="rId13"/>
    <p:sldId id="268" r:id="rId14"/>
    <p:sldId id="305" r:id="rId15"/>
    <p:sldId id="306" r:id="rId16"/>
  </p:sldIdLst>
  <p:sldSz cx="9144000" cy="5143500" type="screen16x9"/>
  <p:notesSz cx="6858000" cy="9144000"/>
  <p:embeddedFontLst>
    <p:embeddedFont>
      <p:font typeface="Cairo" pitchFamily="2" charset="-78"/>
      <p:regular r:id="rId18"/>
      <p:bold r:id="rId19"/>
    </p:embeddedFont>
    <p:embeddedFont>
      <p:font typeface="Ubuntu" panose="020B0504030602030204" pitchFamily="34" charset="0"/>
      <p:regular r:id="rId20"/>
      <p:bold r:id="rId21"/>
      <p:italic r:id="rId22"/>
      <p:boldItalic r:id="rId23"/>
    </p:embeddedFont>
    <p:embeddedFont>
      <p:font typeface="Ubuntu Condensed" panose="020B0506030602030204" pitchFamily="34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DEF"/>
    <a:srgbClr val="D69535"/>
    <a:srgbClr val="0080B0"/>
    <a:srgbClr val="FDB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6505775-7A35-4250-8265-CF57B3BF6818}">
  <a:tblStyle styleId="{96505775-7A35-4250-8265-CF57B3BF681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C814C40-6234-4B4D-BC92-BC2D0D53636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81"/>
    <p:restoredTop sz="94658"/>
  </p:normalViewPr>
  <p:slideViewPr>
    <p:cSldViewPr snapToGrid="0">
      <p:cViewPr varScale="1">
        <p:scale>
          <a:sx n="130" d="100"/>
          <a:sy n="130" d="100"/>
        </p:scale>
        <p:origin x="12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7b6fa1dcd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7b6fa1dcd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e6fec860ae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e6fec860ae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>
          <a:extLst>
            <a:ext uri="{FF2B5EF4-FFF2-40B4-BE49-F238E27FC236}">
              <a16:creationId xmlns:a16="http://schemas.microsoft.com/office/drawing/2014/main" id="{7389A956-7F83-E656-9E03-49372FE27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e6fec860ae_0_38:notes">
            <a:extLst>
              <a:ext uri="{FF2B5EF4-FFF2-40B4-BE49-F238E27FC236}">
                <a16:creationId xmlns:a16="http://schemas.microsoft.com/office/drawing/2014/main" id="{F0577ECB-9BB6-E4E9-4BBC-EA5EE4E58D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e6fec860ae_0_38:notes">
            <a:extLst>
              <a:ext uri="{FF2B5EF4-FFF2-40B4-BE49-F238E27FC236}">
                <a16:creationId xmlns:a16="http://schemas.microsoft.com/office/drawing/2014/main" id="{D6198656-2A02-3FDB-9B17-F45187A219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2842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e6fec860ae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1e6fec860ae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>
          <a:extLst>
            <a:ext uri="{FF2B5EF4-FFF2-40B4-BE49-F238E27FC236}">
              <a16:creationId xmlns:a16="http://schemas.microsoft.com/office/drawing/2014/main" id="{FC40F37F-84B0-ED93-745C-76A5C19B2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e6fec860ae_0_38:notes">
            <a:extLst>
              <a:ext uri="{FF2B5EF4-FFF2-40B4-BE49-F238E27FC236}">
                <a16:creationId xmlns:a16="http://schemas.microsoft.com/office/drawing/2014/main" id="{0FAED0BE-C232-1995-BA79-6A3F000DA6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e6fec860ae_0_38:notes">
            <a:extLst>
              <a:ext uri="{FF2B5EF4-FFF2-40B4-BE49-F238E27FC236}">
                <a16:creationId xmlns:a16="http://schemas.microsoft.com/office/drawing/2014/main" id="{1E5234ED-F1A0-1183-2922-E2D0C96034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2365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>
          <a:extLst>
            <a:ext uri="{FF2B5EF4-FFF2-40B4-BE49-F238E27FC236}">
              <a16:creationId xmlns:a16="http://schemas.microsoft.com/office/drawing/2014/main" id="{D0773314-97C5-D477-ABCD-81F893B23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1e6cf1f2c90_0_0:notes">
            <a:extLst>
              <a:ext uri="{FF2B5EF4-FFF2-40B4-BE49-F238E27FC236}">
                <a16:creationId xmlns:a16="http://schemas.microsoft.com/office/drawing/2014/main" id="{7AF8ED8B-9968-5890-A6ED-CF7C844B2F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1e6cf1f2c90_0_0:notes">
            <a:extLst>
              <a:ext uri="{FF2B5EF4-FFF2-40B4-BE49-F238E27FC236}">
                <a16:creationId xmlns:a16="http://schemas.microsoft.com/office/drawing/2014/main" id="{32C5189A-8344-91CF-2F59-4774EEF0A8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2925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>
          <a:extLst>
            <a:ext uri="{FF2B5EF4-FFF2-40B4-BE49-F238E27FC236}">
              <a16:creationId xmlns:a16="http://schemas.microsoft.com/office/drawing/2014/main" id="{CE53BD94-5CDB-1FEE-188D-CBC9A9F3B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e6fec860ae_0_38:notes">
            <a:extLst>
              <a:ext uri="{FF2B5EF4-FFF2-40B4-BE49-F238E27FC236}">
                <a16:creationId xmlns:a16="http://schemas.microsoft.com/office/drawing/2014/main" id="{CF0FC7A9-D803-E13C-CCDB-22140F82BC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e6fec860ae_0_38:notes">
            <a:extLst>
              <a:ext uri="{FF2B5EF4-FFF2-40B4-BE49-F238E27FC236}">
                <a16:creationId xmlns:a16="http://schemas.microsoft.com/office/drawing/2014/main" id="{58420E0E-0002-F9DC-836A-BAC5985277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68121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>
          <a:extLst>
            <a:ext uri="{FF2B5EF4-FFF2-40B4-BE49-F238E27FC236}">
              <a16:creationId xmlns:a16="http://schemas.microsoft.com/office/drawing/2014/main" id="{21ECC75C-4E55-5B9E-6D7D-CB3D6C229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e6fec860ae_0_38:notes">
            <a:extLst>
              <a:ext uri="{FF2B5EF4-FFF2-40B4-BE49-F238E27FC236}">
                <a16:creationId xmlns:a16="http://schemas.microsoft.com/office/drawing/2014/main" id="{3EF478ED-827E-EB36-6FF4-2FBC91E81F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e6fec860ae_0_38:notes">
            <a:extLst>
              <a:ext uri="{FF2B5EF4-FFF2-40B4-BE49-F238E27FC236}">
                <a16:creationId xmlns:a16="http://schemas.microsoft.com/office/drawing/2014/main" id="{7DD52579-12A9-B0BC-3941-FE4373D079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08256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>
          <a:extLst>
            <a:ext uri="{FF2B5EF4-FFF2-40B4-BE49-F238E27FC236}">
              <a16:creationId xmlns:a16="http://schemas.microsoft.com/office/drawing/2014/main" id="{F704FECE-450D-1485-9DC3-319413E65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1e6cf1f2c90_0_0:notes">
            <a:extLst>
              <a:ext uri="{FF2B5EF4-FFF2-40B4-BE49-F238E27FC236}">
                <a16:creationId xmlns:a16="http://schemas.microsoft.com/office/drawing/2014/main" id="{7850580A-FAB2-CAFA-915E-1104C5C9EA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1e6cf1f2c90_0_0:notes">
            <a:extLst>
              <a:ext uri="{FF2B5EF4-FFF2-40B4-BE49-F238E27FC236}">
                <a16:creationId xmlns:a16="http://schemas.microsoft.com/office/drawing/2014/main" id="{F4ED3E00-ACFD-9831-5E82-6A51DE7B02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19039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1e6cf1f2c9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1e6cf1f2c9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>
          <a:extLst>
            <a:ext uri="{FF2B5EF4-FFF2-40B4-BE49-F238E27FC236}">
              <a16:creationId xmlns:a16="http://schemas.microsoft.com/office/drawing/2014/main" id="{FF404978-1D3B-0808-4DB0-AE6C9ED89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1e6cf1f2c90_0_0:notes">
            <a:extLst>
              <a:ext uri="{FF2B5EF4-FFF2-40B4-BE49-F238E27FC236}">
                <a16:creationId xmlns:a16="http://schemas.microsoft.com/office/drawing/2014/main" id="{B6B9F46C-F214-C9D1-857C-C7EEE420B2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1e6cf1f2c90_0_0:notes">
            <a:extLst>
              <a:ext uri="{FF2B5EF4-FFF2-40B4-BE49-F238E27FC236}">
                <a16:creationId xmlns:a16="http://schemas.microsoft.com/office/drawing/2014/main" id="{39D1C11D-A1D9-EC76-2F64-20F2F9F66A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58101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>
          <a:extLst>
            <a:ext uri="{FF2B5EF4-FFF2-40B4-BE49-F238E27FC236}">
              <a16:creationId xmlns:a16="http://schemas.microsoft.com/office/drawing/2014/main" id="{ADAE9000-D3D3-1635-A6DA-FAB3958F0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e6fec860ae_0_38:notes">
            <a:extLst>
              <a:ext uri="{FF2B5EF4-FFF2-40B4-BE49-F238E27FC236}">
                <a16:creationId xmlns:a16="http://schemas.microsoft.com/office/drawing/2014/main" id="{7C666443-16EF-D253-38D2-D584D9DD65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e6fec860ae_0_38:notes">
            <a:extLst>
              <a:ext uri="{FF2B5EF4-FFF2-40B4-BE49-F238E27FC236}">
                <a16:creationId xmlns:a16="http://schemas.microsoft.com/office/drawing/2014/main" id="{03E8F8B9-DD47-C0C0-DBD6-8C385B8B43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2805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265176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 rot="-628">
            <a:off x="719999" y="3269922"/>
            <a:ext cx="3286200" cy="426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>
            <a:spLocks noGrp="1"/>
          </p:cNvSpPr>
          <p:nvPr>
            <p:ph type="pic" idx="2"/>
          </p:nvPr>
        </p:nvSpPr>
        <p:spPr>
          <a:xfrm>
            <a:off x="5767925" y="431200"/>
            <a:ext cx="2931600" cy="1740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Google Shape;13;p2"/>
          <p:cNvSpPr>
            <a:spLocks noGrp="1"/>
          </p:cNvSpPr>
          <p:nvPr>
            <p:ph type="pic" idx="3"/>
          </p:nvPr>
        </p:nvSpPr>
        <p:spPr>
          <a:xfrm>
            <a:off x="5767925" y="2362725"/>
            <a:ext cx="2931600" cy="2349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4" name="Google Shape;14;p2"/>
          <p:cNvSpPr/>
          <p:nvPr/>
        </p:nvSpPr>
        <p:spPr>
          <a:xfrm>
            <a:off x="0" y="4984750"/>
            <a:ext cx="857400" cy="15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C0E6D19-DF66-F8E5-EA6F-75773D9FF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27432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237075"/>
            <a:ext cx="3852000" cy="336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 sz="12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4572000" y="1237075"/>
            <a:ext cx="3852000" cy="336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 sz="12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8C0669-2FC0-0465-11A5-29F1825591E9}"/>
              </a:ext>
            </a:extLst>
          </p:cNvPr>
          <p:cNvSpPr txBox="1"/>
          <p:nvPr userDrawn="1"/>
        </p:nvSpPr>
        <p:spPr>
          <a:xfrm>
            <a:off x="8044019" y="4756323"/>
            <a:ext cx="9845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rPr>
              <a:t>Slide </a:t>
            </a:r>
            <a:fld id="{9D6535BC-A630-1741-B9B0-74D90400E189}" type="slidenum">
              <a:rPr lang="en-AE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rPr>
              <a:t>‹#›</a:t>
            </a:fld>
            <a:r>
              <a:rPr lang="en-A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rPr>
              <a:t>/15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1789200" y="919200"/>
            <a:ext cx="5565600" cy="136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4C41BE-1D14-F2FA-BFA7-CDF560AF7499}"/>
              </a:ext>
            </a:extLst>
          </p:cNvPr>
          <p:cNvSpPr txBox="1"/>
          <p:nvPr userDrawn="1"/>
        </p:nvSpPr>
        <p:spPr>
          <a:xfrm>
            <a:off x="8044019" y="4756323"/>
            <a:ext cx="9845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rPr>
              <a:t>Slide </a:t>
            </a:r>
            <a:fld id="{9D6535BC-A630-1741-B9B0-74D90400E189}" type="slidenum">
              <a:rPr lang="en-AE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rPr>
              <a:t>‹#›</a:t>
            </a:fld>
            <a:r>
              <a:rPr lang="en-A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rPr>
              <a:t>/15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1131850" y="1294750"/>
            <a:ext cx="4162800" cy="11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ubTitle" idx="1"/>
          </p:nvPr>
        </p:nvSpPr>
        <p:spPr>
          <a:xfrm>
            <a:off x="1442600" y="2589925"/>
            <a:ext cx="3541200" cy="12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>
            <a:spLocks noGrp="1"/>
          </p:cNvSpPr>
          <p:nvPr>
            <p:ph type="pic" idx="2"/>
          </p:nvPr>
        </p:nvSpPr>
        <p:spPr>
          <a:xfrm>
            <a:off x="-7650" y="-7650"/>
            <a:ext cx="9159300" cy="51588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0"/>
          <p:cNvSpPr txBox="1">
            <a:spLocks noGrp="1"/>
          </p:cNvSpPr>
          <p:nvPr>
            <p:ph type="title"/>
          </p:nvPr>
        </p:nvSpPr>
        <p:spPr>
          <a:xfrm>
            <a:off x="720000" y="4000500"/>
            <a:ext cx="77040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4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C8BFE-6BE0-8DD0-77AD-8C7451876076}"/>
              </a:ext>
            </a:extLst>
          </p:cNvPr>
          <p:cNvSpPr txBox="1"/>
          <p:nvPr userDrawn="1"/>
        </p:nvSpPr>
        <p:spPr>
          <a:xfrm>
            <a:off x="8044019" y="4756323"/>
            <a:ext cx="9845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rPr>
              <a:t>Slide </a:t>
            </a:r>
            <a:fld id="{9D6535BC-A630-1741-B9B0-74D90400E189}" type="slidenum">
              <a:rPr lang="en-AE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rPr>
              <a:t>‹#›</a:t>
            </a:fld>
            <a:r>
              <a:rPr lang="en-A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rPr>
              <a:t>/15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3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4750" y="-46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title" idx="2"/>
          </p:nvPr>
        </p:nvSpPr>
        <p:spPr>
          <a:xfrm>
            <a:off x="720000" y="2154825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subTitle" idx="1"/>
          </p:nvPr>
        </p:nvSpPr>
        <p:spPr>
          <a:xfrm>
            <a:off x="720000" y="2577766"/>
            <a:ext cx="2336400" cy="16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3"/>
          <p:cNvSpPr txBox="1">
            <a:spLocks noGrp="1"/>
          </p:cNvSpPr>
          <p:nvPr>
            <p:ph type="title" idx="3"/>
          </p:nvPr>
        </p:nvSpPr>
        <p:spPr>
          <a:xfrm>
            <a:off x="3403748" y="2154825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4" name="Google Shape;124;p23"/>
          <p:cNvSpPr txBox="1">
            <a:spLocks noGrp="1"/>
          </p:cNvSpPr>
          <p:nvPr>
            <p:ph type="subTitle" idx="4"/>
          </p:nvPr>
        </p:nvSpPr>
        <p:spPr>
          <a:xfrm>
            <a:off x="3403800" y="2577766"/>
            <a:ext cx="2336400" cy="16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3"/>
          <p:cNvSpPr txBox="1">
            <a:spLocks noGrp="1"/>
          </p:cNvSpPr>
          <p:nvPr>
            <p:ph type="title" idx="5"/>
          </p:nvPr>
        </p:nvSpPr>
        <p:spPr>
          <a:xfrm>
            <a:off x="6087496" y="2154825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6" name="Google Shape;126;p23"/>
          <p:cNvSpPr txBox="1">
            <a:spLocks noGrp="1"/>
          </p:cNvSpPr>
          <p:nvPr>
            <p:ph type="subTitle" idx="6"/>
          </p:nvPr>
        </p:nvSpPr>
        <p:spPr>
          <a:xfrm>
            <a:off x="6087600" y="2577766"/>
            <a:ext cx="2336400" cy="16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06ED4C-64E2-036B-8306-1690D3AC7A3F}"/>
              </a:ext>
            </a:extLst>
          </p:cNvPr>
          <p:cNvSpPr txBox="1"/>
          <p:nvPr userDrawn="1"/>
        </p:nvSpPr>
        <p:spPr>
          <a:xfrm>
            <a:off x="8044019" y="4756323"/>
            <a:ext cx="9845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rPr>
              <a:t>Slide </a:t>
            </a:r>
            <a:fld id="{9D6535BC-A630-1741-B9B0-74D90400E189}" type="slidenum">
              <a:rPr lang="en-AE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rPr>
              <a:t>‹#›</a:t>
            </a:fld>
            <a:r>
              <a:rPr lang="en-A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rPr>
              <a:t>/15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5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1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5"/>
          <p:cNvSpPr txBox="1">
            <a:spLocks noGrp="1"/>
          </p:cNvSpPr>
          <p:nvPr>
            <p:ph type="title" idx="2"/>
          </p:nvPr>
        </p:nvSpPr>
        <p:spPr>
          <a:xfrm>
            <a:off x="720000" y="1416150"/>
            <a:ext cx="2493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subTitle" idx="1"/>
          </p:nvPr>
        </p:nvSpPr>
        <p:spPr>
          <a:xfrm>
            <a:off x="720000" y="1840750"/>
            <a:ext cx="2493000" cy="109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5"/>
          <p:cNvSpPr txBox="1">
            <a:spLocks noGrp="1"/>
          </p:cNvSpPr>
          <p:nvPr>
            <p:ph type="title" idx="3"/>
          </p:nvPr>
        </p:nvSpPr>
        <p:spPr>
          <a:xfrm>
            <a:off x="3325485" y="1416150"/>
            <a:ext cx="2493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5" name="Google Shape;145;p25"/>
          <p:cNvSpPr txBox="1">
            <a:spLocks noGrp="1"/>
          </p:cNvSpPr>
          <p:nvPr>
            <p:ph type="subTitle" idx="4"/>
          </p:nvPr>
        </p:nvSpPr>
        <p:spPr>
          <a:xfrm>
            <a:off x="3325485" y="1840750"/>
            <a:ext cx="2493000" cy="109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 idx="5"/>
          </p:nvPr>
        </p:nvSpPr>
        <p:spPr>
          <a:xfrm>
            <a:off x="720000" y="3224525"/>
            <a:ext cx="2493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7" name="Google Shape;147;p25"/>
          <p:cNvSpPr txBox="1">
            <a:spLocks noGrp="1"/>
          </p:cNvSpPr>
          <p:nvPr>
            <p:ph type="subTitle" idx="6"/>
          </p:nvPr>
        </p:nvSpPr>
        <p:spPr>
          <a:xfrm>
            <a:off x="720000" y="3649125"/>
            <a:ext cx="2493000" cy="8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5"/>
          <p:cNvSpPr txBox="1">
            <a:spLocks noGrp="1"/>
          </p:cNvSpPr>
          <p:nvPr>
            <p:ph type="title" idx="7"/>
          </p:nvPr>
        </p:nvSpPr>
        <p:spPr>
          <a:xfrm>
            <a:off x="3325485" y="3224525"/>
            <a:ext cx="2493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9" name="Google Shape;149;p25"/>
          <p:cNvSpPr txBox="1">
            <a:spLocks noGrp="1"/>
          </p:cNvSpPr>
          <p:nvPr>
            <p:ph type="subTitle" idx="8"/>
          </p:nvPr>
        </p:nvSpPr>
        <p:spPr>
          <a:xfrm>
            <a:off x="3325486" y="3649125"/>
            <a:ext cx="2493000" cy="8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5"/>
          <p:cNvSpPr txBox="1">
            <a:spLocks noGrp="1"/>
          </p:cNvSpPr>
          <p:nvPr>
            <p:ph type="title" idx="9"/>
          </p:nvPr>
        </p:nvSpPr>
        <p:spPr>
          <a:xfrm>
            <a:off x="5930951" y="1416150"/>
            <a:ext cx="2493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51" name="Google Shape;151;p25"/>
          <p:cNvSpPr txBox="1">
            <a:spLocks noGrp="1"/>
          </p:cNvSpPr>
          <p:nvPr>
            <p:ph type="subTitle" idx="13"/>
          </p:nvPr>
        </p:nvSpPr>
        <p:spPr>
          <a:xfrm>
            <a:off x="5930952" y="1840750"/>
            <a:ext cx="2493000" cy="109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5"/>
          <p:cNvSpPr txBox="1">
            <a:spLocks noGrp="1"/>
          </p:cNvSpPr>
          <p:nvPr>
            <p:ph type="title" idx="14"/>
          </p:nvPr>
        </p:nvSpPr>
        <p:spPr>
          <a:xfrm>
            <a:off x="5930951" y="3224525"/>
            <a:ext cx="2493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53" name="Google Shape;153;p25"/>
          <p:cNvSpPr txBox="1">
            <a:spLocks noGrp="1"/>
          </p:cNvSpPr>
          <p:nvPr>
            <p:ph type="subTitle" idx="15"/>
          </p:nvPr>
        </p:nvSpPr>
        <p:spPr>
          <a:xfrm>
            <a:off x="5930953" y="3649125"/>
            <a:ext cx="2493000" cy="8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5"/>
          <p:cNvSpPr/>
          <p:nvPr/>
        </p:nvSpPr>
        <p:spPr>
          <a:xfrm>
            <a:off x="7400925" y="0"/>
            <a:ext cx="642900" cy="15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DA7003-8A57-9B46-0AF7-CCF17371E439}"/>
              </a:ext>
            </a:extLst>
          </p:cNvPr>
          <p:cNvSpPr txBox="1"/>
          <p:nvPr userDrawn="1"/>
        </p:nvSpPr>
        <p:spPr>
          <a:xfrm>
            <a:off x="8044019" y="4756323"/>
            <a:ext cx="9845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rPr>
              <a:t>Slide </a:t>
            </a:r>
            <a:fld id="{9D6535BC-A630-1741-B9B0-74D90400E189}" type="slidenum">
              <a:rPr lang="en-AE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rPr>
              <a:t>‹#›</a:t>
            </a:fld>
            <a:r>
              <a:rPr lang="en-A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rPr>
              <a:t>/15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8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335672-B8EB-2D79-B6E7-B1F4145E7C39}"/>
              </a:ext>
            </a:extLst>
          </p:cNvPr>
          <p:cNvSpPr txBox="1"/>
          <p:nvPr userDrawn="1"/>
        </p:nvSpPr>
        <p:spPr>
          <a:xfrm>
            <a:off x="8044019" y="4756323"/>
            <a:ext cx="9845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rPr>
              <a:t>Slide </a:t>
            </a:r>
            <a:fld id="{9D6535BC-A630-1741-B9B0-74D90400E189}" type="slidenum">
              <a:rPr lang="en-AE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rPr>
              <a:t>‹#›</a:t>
            </a:fld>
            <a:r>
              <a:rPr lang="en-A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rPr>
              <a:t>/15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9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9"/>
          <p:cNvSpPr/>
          <p:nvPr/>
        </p:nvSpPr>
        <p:spPr>
          <a:xfrm>
            <a:off x="0" y="0"/>
            <a:ext cx="1124100" cy="15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CB718C-D9F5-7282-E098-BC6AB59F9E15}"/>
              </a:ext>
            </a:extLst>
          </p:cNvPr>
          <p:cNvSpPr txBox="1"/>
          <p:nvPr userDrawn="1"/>
        </p:nvSpPr>
        <p:spPr>
          <a:xfrm>
            <a:off x="8044019" y="4756323"/>
            <a:ext cx="9845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rPr>
              <a:t>Slide </a:t>
            </a:r>
            <a:fld id="{9D6535BC-A630-1741-B9B0-74D90400E189}" type="slidenum">
              <a:rPr lang="en-AE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rPr>
              <a:t>‹#›</a:t>
            </a:fld>
            <a:r>
              <a:rPr lang="en-A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rPr>
              <a:t>/15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Ubuntu Condensed"/>
              <a:buNone/>
              <a:defRPr sz="3500" b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Ubuntu Condensed"/>
              <a:buNone/>
              <a:defRPr sz="3100" b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Ubuntu Condensed"/>
              <a:buNone/>
              <a:defRPr sz="3100" b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Ubuntu Condensed"/>
              <a:buNone/>
              <a:defRPr sz="3100" b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Ubuntu Condensed"/>
              <a:buNone/>
              <a:defRPr sz="3100" b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Ubuntu Condensed"/>
              <a:buNone/>
              <a:defRPr sz="3100" b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Ubuntu Condensed"/>
              <a:buNone/>
              <a:defRPr sz="3100" b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Ubuntu Condensed"/>
              <a:buNone/>
              <a:defRPr sz="3100" b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Ubuntu Condensed"/>
              <a:buNone/>
              <a:defRPr sz="3100" b="1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iro"/>
              <a:buChar char="■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5" r:id="rId4"/>
    <p:sldLayoutId id="2147483656" r:id="rId5"/>
    <p:sldLayoutId id="2147483658" r:id="rId6"/>
    <p:sldLayoutId id="2147483660" r:id="rId7"/>
    <p:sldLayoutId id="2147483669" r:id="rId8"/>
    <p:sldLayoutId id="2147483671" r:id="rId9"/>
    <p:sldLayoutId id="2147483674" r:id="rId10"/>
    <p:sldLayoutId id="2147483675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pos="454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06">
          <p15:clr>
            <a:srgbClr val="EA4335"/>
          </p15:clr>
        </p15:guide>
        <p15:guide id="5" orient="horz" pos="1620">
          <p15:clr>
            <a:srgbClr val="EA4335"/>
          </p15:clr>
        </p15:guide>
        <p15:guide id="6" pos="288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>
            <a:spLocks noGrp="1"/>
          </p:cNvSpPr>
          <p:nvPr>
            <p:ph type="ctrTitle"/>
          </p:nvPr>
        </p:nvSpPr>
        <p:spPr>
          <a:xfrm>
            <a:off x="720000" y="829550"/>
            <a:ext cx="4666800" cy="239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600" b="1" dirty="0">
                <a:solidFill>
                  <a:srgbClr val="00ADEF"/>
                </a:solidFill>
              </a:rPr>
              <a:t>CourseGenie</a:t>
            </a:r>
            <a:r>
              <a:rPr lang="en" sz="4600" b="1" dirty="0">
                <a:solidFill>
                  <a:srgbClr val="FFC000"/>
                </a:solidFill>
              </a:rPr>
              <a:t>+</a:t>
            </a:r>
            <a:r>
              <a:rPr lang="en" sz="4600" b="1" dirty="0">
                <a:solidFill>
                  <a:schemeClr val="tx1"/>
                </a:solidFill>
              </a:rPr>
              <a:t>:</a:t>
            </a:r>
            <a:r>
              <a:rPr lang="en" sz="4600" b="1" dirty="0">
                <a:solidFill>
                  <a:srgbClr val="00ADEF"/>
                </a:solidFill>
              </a:rPr>
              <a:t> </a:t>
            </a:r>
            <a:r>
              <a:rPr lang="en" sz="3800" dirty="0">
                <a:solidFill>
                  <a:schemeClr val="tx1"/>
                </a:solidFill>
              </a:rPr>
              <a:t>Centralized Academic Workflow Automation</a:t>
            </a:r>
            <a:endParaRPr sz="3800" dirty="0">
              <a:solidFill>
                <a:schemeClr val="tx1"/>
              </a:solidFill>
            </a:endParaRPr>
          </a:p>
        </p:txBody>
      </p:sp>
      <p:cxnSp>
        <p:nvCxnSpPr>
          <p:cNvPr id="189" name="Google Shape;189;p33"/>
          <p:cNvCxnSpPr/>
          <p:nvPr/>
        </p:nvCxnSpPr>
        <p:spPr>
          <a:xfrm>
            <a:off x="0" y="33972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BFD7B-C8ED-D57F-24B5-F859B4B0C2E3}"/>
              </a:ext>
            </a:extLst>
          </p:cNvPr>
          <p:cNvSpPr txBox="1"/>
          <p:nvPr/>
        </p:nvSpPr>
        <p:spPr>
          <a:xfrm>
            <a:off x="720000" y="3144399"/>
            <a:ext cx="352697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dirty="0">
                <a:solidFill>
                  <a:schemeClr val="dk1"/>
                </a:solidFill>
                <a:latin typeface="Ubuntu" panose="020B0506030602030204" pitchFamily="34" charset="0"/>
                <a:cs typeface="Cairo"/>
              </a:rPr>
              <a:t>Team Members: Jeeda Kotob, Ryma Ait Tayeb, Ibraheem Mustafa</a:t>
            </a:r>
          </a:p>
          <a:p>
            <a:r>
              <a:rPr lang="en-AE" dirty="0">
                <a:solidFill>
                  <a:schemeClr val="dk1"/>
                </a:solidFill>
                <a:latin typeface="Ubuntu" panose="020B0506030602030204" pitchFamily="34" charset="0"/>
                <a:cs typeface="Cairo"/>
              </a:rPr>
              <a:t>Deliverable 1</a:t>
            </a:r>
          </a:p>
          <a:p>
            <a:r>
              <a:rPr lang="en-AE" dirty="0">
                <a:solidFill>
                  <a:schemeClr val="dk1"/>
                </a:solidFill>
                <a:latin typeface="Ubuntu" panose="020B0506030602030204" pitchFamily="34" charset="0"/>
                <a:cs typeface="Cairo"/>
              </a:rPr>
              <a:t>Mentors: Dr. Ali Assi &amp; Mr.Qusai Hassan</a:t>
            </a:r>
          </a:p>
          <a:p>
            <a:r>
              <a:rPr lang="en-AE" dirty="0">
                <a:solidFill>
                  <a:schemeClr val="dk1"/>
                </a:solidFill>
                <a:latin typeface="Ubuntu" panose="020B0506030602030204" pitchFamily="34" charset="0"/>
                <a:cs typeface="Cairo"/>
              </a:rPr>
              <a:t>October 2025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6E71D2-508B-6468-0DD9-8A5806A2A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800" y="1236083"/>
            <a:ext cx="2660233" cy="26602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8C1C7-9EF1-32F0-076B-386E38ED6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95BA-1F00-7285-17B6-859D8A590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>
                <a:solidFill>
                  <a:schemeClr val="tx2"/>
                </a:solidFill>
              </a:rPr>
              <a:t>Motivation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B99FF-DFE0-CD1B-543D-520D435EF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374727"/>
            <a:ext cx="7704000" cy="3366300"/>
          </a:xfrm>
        </p:spPr>
        <p:txBody>
          <a:bodyPr/>
          <a:lstStyle/>
          <a:p>
            <a:pPr marL="139700" indent="0">
              <a:lnSpc>
                <a:spcPct val="20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Ubuntu" panose="020B0504030602030204" pitchFamily="34" charset="0"/>
              </a:rPr>
              <a:t>Faculty and administrators spend significant time on repetitive academic tasks such as:</a:t>
            </a:r>
          </a:p>
          <a:p>
            <a:pPr lvl="1">
              <a:lnSpc>
                <a:spcPct val="200000"/>
              </a:lnSpc>
              <a:buClr>
                <a:schemeClr val="dk1"/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tx1"/>
                </a:solidFill>
                <a:latin typeface="Ubuntu" panose="020B0504030602030204" pitchFamily="34" charset="0"/>
              </a:rPr>
              <a:t>Preparing Course Assessment Reports (CAR)</a:t>
            </a:r>
          </a:p>
          <a:p>
            <a:pPr lvl="1">
              <a:lnSpc>
                <a:spcPct val="200000"/>
              </a:lnSpc>
              <a:buClr>
                <a:schemeClr val="dk1"/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tx1"/>
                </a:solidFill>
                <a:latin typeface="Ubuntu" panose="020B0504030602030204" pitchFamily="34" charset="0"/>
              </a:rPr>
              <a:t>Extracting and analyzing student grade statistics</a:t>
            </a:r>
          </a:p>
          <a:p>
            <a:pPr lvl="1">
              <a:lnSpc>
                <a:spcPct val="200000"/>
              </a:lnSpc>
              <a:buClr>
                <a:schemeClr val="dk1"/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tx1"/>
                </a:solidFill>
                <a:latin typeface="Ubuntu" panose="020B0504030602030204" pitchFamily="34" charset="0"/>
              </a:rPr>
              <a:t>Preparing course peer-review reports.  </a:t>
            </a:r>
          </a:p>
          <a:p>
            <a:pPr marL="139700" indent="0">
              <a:lnSpc>
                <a:spcPct val="20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Ubuntu" panose="020B0504030602030204" pitchFamily="34" charset="0"/>
              </a:rPr>
              <a:t>Because these tasks are done manually, they reduce valuable time for teaching and research. CourseGenie+ streamlines these processes through automation and centralized dashboards, improving efficiency across the academic workflow.</a:t>
            </a:r>
            <a:endParaRPr lang="en-AE" dirty="0">
              <a:solidFill>
                <a:schemeClr val="tx1"/>
              </a:solidFill>
              <a:latin typeface="Ubuntu" panose="020B0504030602030204" pitchFamily="34" charset="0"/>
            </a:endParaRPr>
          </a:p>
        </p:txBody>
      </p:sp>
      <p:sp>
        <p:nvSpPr>
          <p:cNvPr id="4" name="Google Shape;377;p39">
            <a:extLst>
              <a:ext uri="{FF2B5EF4-FFF2-40B4-BE49-F238E27FC236}">
                <a16:creationId xmlns:a16="http://schemas.microsoft.com/office/drawing/2014/main" id="{5E53C265-7579-5037-978F-EC1EA69B0CB6}"/>
              </a:ext>
            </a:extLst>
          </p:cNvPr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769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</a:rPr>
              <a:t>Problem Statement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377" name="Google Shape;377;p39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3F50AC8-C454-0C56-DCA3-632C28DFAB40}"/>
              </a:ext>
            </a:extLst>
          </p:cNvPr>
          <p:cNvSpPr txBox="1">
            <a:spLocks/>
          </p:cNvSpPr>
          <p:nvPr/>
        </p:nvSpPr>
        <p:spPr>
          <a:xfrm>
            <a:off x="720000" y="1237075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4254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Ubuntu" panose="020B0504030602030204" pitchFamily="34" charset="0"/>
              </a:rPr>
              <a:t>Current LMS (MyCourses) lack automation and reporting features</a:t>
            </a:r>
            <a:endParaRPr lang="en-US" sz="1400" dirty="0">
              <a:latin typeface="Ubuntu" panose="020B0504030602030204" pitchFamily="34" charset="0"/>
            </a:endParaRPr>
          </a:p>
          <a:p>
            <a:pPr marL="4254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Ubuntu" panose="020B0504030602030204" pitchFamily="34" charset="0"/>
              </a:rPr>
              <a:t>Faculty and admins face repetitive, manual tasks (syllabus, CARs, rubrics, CLO-PLO mapping, exam logistics)</a:t>
            </a:r>
          </a:p>
          <a:p>
            <a:pPr marL="4254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Ubuntu" panose="020B0504030602030204" pitchFamily="34" charset="0"/>
              </a:rPr>
              <a:t>Current methods rely on emails, spreadsheets and other external tools.</a:t>
            </a:r>
          </a:p>
          <a:p>
            <a:pPr marL="4254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Ubuntu" panose="020B0504030602030204" pitchFamily="34" charset="0"/>
              </a:rPr>
              <a:t>Result: delays, inefficiencies, and reporting difficulties.</a:t>
            </a:r>
          </a:p>
          <a:p>
            <a:pPr marL="4254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Ubuntu" panose="020B0504030602030204" pitchFamily="34" charset="0"/>
              </a:rPr>
              <a:t>Need: A centralized, automated platform to streamline academic workflows.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>
          <a:extLst>
            <a:ext uri="{FF2B5EF4-FFF2-40B4-BE49-F238E27FC236}">
              <a16:creationId xmlns:a16="http://schemas.microsoft.com/office/drawing/2014/main" id="{D5BB12FD-906E-3E2B-2B35-24B72CDE5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9">
            <a:extLst>
              <a:ext uri="{FF2B5EF4-FFF2-40B4-BE49-F238E27FC236}">
                <a16:creationId xmlns:a16="http://schemas.microsoft.com/office/drawing/2014/main" id="{960F7EF0-ECE5-D9A5-ECCD-3FE0730722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</a:rPr>
              <a:t>Project Objectives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377" name="Google Shape;377;p39">
            <a:extLst>
              <a:ext uri="{FF2B5EF4-FFF2-40B4-BE49-F238E27FC236}">
                <a16:creationId xmlns:a16="http://schemas.microsoft.com/office/drawing/2014/main" id="{037CBC4A-E4A2-304E-785A-6B4B292CAD1F}"/>
              </a:ext>
            </a:extLst>
          </p:cNvPr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EB47CC5-A8E1-9FE0-5888-32B44A790851}"/>
              </a:ext>
            </a:extLst>
          </p:cNvPr>
          <p:cNvSpPr txBox="1">
            <a:spLocks/>
          </p:cNvSpPr>
          <p:nvPr/>
        </p:nvSpPr>
        <p:spPr>
          <a:xfrm>
            <a:off x="720000" y="1237075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4254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Ubuntu" panose="020B0504030602030204" pitchFamily="34" charset="0"/>
              </a:rPr>
              <a:t>Automate and centralize repetitive academic tasks</a:t>
            </a:r>
          </a:p>
          <a:p>
            <a:pPr marL="4254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Ubuntu" panose="020B0504030602030204" pitchFamily="34" charset="0"/>
              </a:rPr>
              <a:t>Provide professor dashboards for course management, assessments, rubrics, CAR files, syllabus generation, etc.</a:t>
            </a:r>
          </a:p>
          <a:p>
            <a:pPr marL="4254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Ubuntu" panose="020B0504030602030204" pitchFamily="34" charset="0"/>
              </a:rPr>
              <a:t>Provide admin dashboard for course section management, CAR file collection, syllabus management, etc.</a:t>
            </a:r>
          </a:p>
          <a:p>
            <a:pPr marL="4254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Ubuntu" panose="020B0504030602030204" pitchFamily="34" charset="0"/>
              </a:rPr>
              <a:t>Enhance analytics and visualizations of statistics.</a:t>
            </a:r>
          </a:p>
          <a:p>
            <a:pPr marL="139700" indent="0">
              <a:lnSpc>
                <a:spcPct val="200000"/>
              </a:lnSpc>
            </a:pPr>
            <a:endParaRPr lang="en-US" sz="1400" dirty="0">
              <a:solidFill>
                <a:schemeClr val="tx1"/>
              </a:solidFill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867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</a:rPr>
              <a:t>Literature Review Themes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396" name="Google Shape;396;p41"/>
          <p:cNvSpPr txBox="1">
            <a:spLocks noGrp="1"/>
          </p:cNvSpPr>
          <p:nvPr>
            <p:ph type="title" idx="2"/>
          </p:nvPr>
        </p:nvSpPr>
        <p:spPr>
          <a:xfrm>
            <a:off x="480164" y="1344838"/>
            <a:ext cx="3852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D69535"/>
                </a:solidFill>
                <a:latin typeface="Ubuntu" panose="020B0504030602030204" pitchFamily="34" charset="0"/>
              </a:rPr>
              <a:t>Core Features &amp; Comparisons</a:t>
            </a:r>
            <a:endParaRPr dirty="0">
              <a:solidFill>
                <a:srgbClr val="D69535"/>
              </a:solidFill>
              <a:latin typeface="Ubuntu" panose="020B0504030602030204" pitchFamily="34" charset="0"/>
            </a:endParaRPr>
          </a:p>
        </p:txBody>
      </p:sp>
      <p:sp>
        <p:nvSpPr>
          <p:cNvPr id="397" name="Google Shape;397;p41"/>
          <p:cNvSpPr txBox="1">
            <a:spLocks noGrp="1"/>
          </p:cNvSpPr>
          <p:nvPr>
            <p:ph type="subTitle" idx="1"/>
          </p:nvPr>
        </p:nvSpPr>
        <p:spPr>
          <a:xfrm>
            <a:off x="720000" y="1840750"/>
            <a:ext cx="3230208" cy="109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Ubuntu" panose="020B0504030602030204" pitchFamily="34" charset="0"/>
              </a:rPr>
              <a:t>Most LMSs share a toolkit of common features, but differ in usability and workflows</a:t>
            </a:r>
            <a:endParaRPr dirty="0">
              <a:latin typeface="Ubuntu" panose="020B0504030602030204" pitchFamily="34" charset="0"/>
            </a:endParaRPr>
          </a:p>
        </p:txBody>
      </p:sp>
      <p:sp>
        <p:nvSpPr>
          <p:cNvPr id="398" name="Google Shape;398;p41"/>
          <p:cNvSpPr txBox="1">
            <a:spLocks noGrp="1"/>
          </p:cNvSpPr>
          <p:nvPr>
            <p:ph type="title" idx="3"/>
          </p:nvPr>
        </p:nvSpPr>
        <p:spPr>
          <a:xfrm>
            <a:off x="6131161" y="2973576"/>
            <a:ext cx="2493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D69535"/>
                </a:solidFill>
                <a:latin typeface="Ubuntu" panose="020B0504030602030204" pitchFamily="34" charset="0"/>
              </a:rPr>
              <a:t>Gaps &amp; Limitations</a:t>
            </a:r>
            <a:endParaRPr dirty="0">
              <a:solidFill>
                <a:srgbClr val="D69535"/>
              </a:solidFill>
              <a:latin typeface="Ubuntu" panose="020B0504030602030204" pitchFamily="34" charset="0"/>
            </a:endParaRPr>
          </a:p>
        </p:txBody>
      </p:sp>
      <p:sp>
        <p:nvSpPr>
          <p:cNvPr id="399" name="Google Shape;399;p41"/>
          <p:cNvSpPr txBox="1">
            <a:spLocks noGrp="1"/>
          </p:cNvSpPr>
          <p:nvPr>
            <p:ph type="subTitle" idx="4"/>
          </p:nvPr>
        </p:nvSpPr>
        <p:spPr>
          <a:xfrm>
            <a:off x="6027822" y="3546525"/>
            <a:ext cx="2699678" cy="109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Ubuntu" panose="020B0504030602030204" pitchFamily="34" charset="0"/>
              </a:rPr>
              <a:t>Advanced features are often underutilized, either due to poor fit with teaching practices or usage </a:t>
            </a:r>
            <a:r>
              <a:rPr lang="en-US" dirty="0">
                <a:latin typeface="Ubuntu" panose="020B0504030602030204" pitchFamily="34" charset="0"/>
              </a:rPr>
              <a:t>complexity.</a:t>
            </a:r>
            <a:endParaRPr dirty="0">
              <a:latin typeface="Ubuntu" panose="020B0504030602030204" pitchFamily="34" charset="0"/>
            </a:endParaRPr>
          </a:p>
        </p:txBody>
      </p:sp>
      <p:sp>
        <p:nvSpPr>
          <p:cNvPr id="400" name="Google Shape;400;p41"/>
          <p:cNvSpPr txBox="1">
            <a:spLocks noGrp="1"/>
          </p:cNvSpPr>
          <p:nvPr>
            <p:ph type="title" idx="5"/>
          </p:nvPr>
        </p:nvSpPr>
        <p:spPr>
          <a:xfrm>
            <a:off x="153374" y="2972225"/>
            <a:ext cx="314658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D69535"/>
                </a:solidFill>
                <a:latin typeface="Ubuntu" panose="020B0504030602030204" pitchFamily="34" charset="0"/>
              </a:rPr>
              <a:t>Accreditation</a:t>
            </a:r>
            <a:endParaRPr dirty="0">
              <a:solidFill>
                <a:srgbClr val="D69535"/>
              </a:solidFill>
              <a:latin typeface="Ubuntu" panose="020B0504030602030204" pitchFamily="34" charset="0"/>
            </a:endParaRPr>
          </a:p>
        </p:txBody>
      </p:sp>
      <p:sp>
        <p:nvSpPr>
          <p:cNvPr id="401" name="Google Shape;401;p41"/>
          <p:cNvSpPr txBox="1">
            <a:spLocks noGrp="1"/>
          </p:cNvSpPr>
          <p:nvPr>
            <p:ph type="subTitle" idx="6"/>
          </p:nvPr>
        </p:nvSpPr>
        <p:spPr>
          <a:xfrm>
            <a:off x="480164" y="3546525"/>
            <a:ext cx="2493000" cy="8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Ubuntu" panose="020B0504030602030204" pitchFamily="34" charset="0"/>
              </a:rPr>
              <a:t>Manual reporting slows compliance, which requires automation work.</a:t>
            </a:r>
            <a:endParaRPr dirty="0">
              <a:latin typeface="Ubuntu" panose="020B0504030602030204" pitchFamily="34" charset="0"/>
            </a:endParaRPr>
          </a:p>
        </p:txBody>
      </p:sp>
      <p:sp>
        <p:nvSpPr>
          <p:cNvPr id="402" name="Google Shape;402;p41"/>
          <p:cNvSpPr txBox="1">
            <a:spLocks noGrp="1"/>
          </p:cNvSpPr>
          <p:nvPr>
            <p:ph type="title" idx="7"/>
          </p:nvPr>
        </p:nvSpPr>
        <p:spPr>
          <a:xfrm>
            <a:off x="3253993" y="2954879"/>
            <a:ext cx="2493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D69535"/>
                </a:solidFill>
                <a:latin typeface="Ubuntu" panose="020B0504030602030204" pitchFamily="34" charset="0"/>
              </a:rPr>
              <a:t>Peer Review</a:t>
            </a:r>
            <a:endParaRPr dirty="0">
              <a:solidFill>
                <a:srgbClr val="D69535"/>
              </a:solidFill>
              <a:latin typeface="Ubuntu" panose="020B0504030602030204" pitchFamily="34" charset="0"/>
            </a:endParaRPr>
          </a:p>
        </p:txBody>
      </p:sp>
      <p:sp>
        <p:nvSpPr>
          <p:cNvPr id="403" name="Google Shape;403;p41"/>
          <p:cNvSpPr txBox="1">
            <a:spLocks noGrp="1"/>
          </p:cNvSpPr>
          <p:nvPr>
            <p:ph type="subTitle" idx="8"/>
          </p:nvPr>
        </p:nvSpPr>
        <p:spPr>
          <a:xfrm>
            <a:off x="3253993" y="3538500"/>
            <a:ext cx="2493000" cy="8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Ubuntu" panose="020B0504030602030204" pitchFamily="34" charset="0"/>
              </a:rPr>
              <a:t>No </a:t>
            </a:r>
            <a:r>
              <a:rPr lang="en-US" dirty="0">
                <a:latin typeface="Ubuntu" panose="020B0504030602030204" pitchFamily="34" charset="0"/>
              </a:rPr>
              <a:t>standardization in review forms and processes, digital tools can improve quality and ensure consistency.</a:t>
            </a:r>
            <a:endParaRPr dirty="0">
              <a:latin typeface="Ubuntu" panose="020B0504030602030204" pitchFamily="34" charset="0"/>
            </a:endParaRPr>
          </a:p>
        </p:txBody>
      </p:sp>
      <p:sp>
        <p:nvSpPr>
          <p:cNvPr id="404" name="Google Shape;404;p41"/>
          <p:cNvSpPr txBox="1">
            <a:spLocks noGrp="1"/>
          </p:cNvSpPr>
          <p:nvPr>
            <p:ph type="title" idx="9"/>
          </p:nvPr>
        </p:nvSpPr>
        <p:spPr>
          <a:xfrm>
            <a:off x="5081454" y="1344838"/>
            <a:ext cx="3646046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D69535"/>
                </a:solidFill>
                <a:latin typeface="Ubuntu" panose="020B0504030602030204" pitchFamily="34" charset="0"/>
              </a:rPr>
              <a:t>Visualizations and Analytics</a:t>
            </a:r>
            <a:endParaRPr dirty="0">
              <a:solidFill>
                <a:srgbClr val="D69535"/>
              </a:solidFill>
              <a:latin typeface="Ubuntu" panose="020B0504030602030204" pitchFamily="34" charset="0"/>
            </a:endParaRPr>
          </a:p>
        </p:txBody>
      </p:sp>
      <p:sp>
        <p:nvSpPr>
          <p:cNvPr id="405" name="Google Shape;405;p41"/>
          <p:cNvSpPr txBox="1">
            <a:spLocks noGrp="1"/>
          </p:cNvSpPr>
          <p:nvPr>
            <p:ph type="subTitle" idx="13"/>
          </p:nvPr>
        </p:nvSpPr>
        <p:spPr>
          <a:xfrm>
            <a:off x="5289373" y="1872538"/>
            <a:ext cx="3230208" cy="8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Ubuntu" panose="020B0504030602030204" pitchFamily="34" charset="0"/>
              </a:rPr>
              <a:t>Dashboards are needed but often too complex and unutilized</a:t>
            </a:r>
            <a:endParaRPr dirty="0">
              <a:latin typeface="Ubuntu" panose="020B0504030602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>
          <a:extLst>
            <a:ext uri="{FF2B5EF4-FFF2-40B4-BE49-F238E27FC236}">
              <a16:creationId xmlns:a16="http://schemas.microsoft.com/office/drawing/2014/main" id="{AF854119-C5C4-08F3-9B2C-D369B11B6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9">
            <a:extLst>
              <a:ext uri="{FF2B5EF4-FFF2-40B4-BE49-F238E27FC236}">
                <a16:creationId xmlns:a16="http://schemas.microsoft.com/office/drawing/2014/main" id="{253E6147-12AA-757C-78E0-0CA9693ACB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</a:rPr>
              <a:t>Requirements Elicitation Methods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377" name="Google Shape;377;p39">
            <a:extLst>
              <a:ext uri="{FF2B5EF4-FFF2-40B4-BE49-F238E27FC236}">
                <a16:creationId xmlns:a16="http://schemas.microsoft.com/office/drawing/2014/main" id="{DBF1EC40-9870-F586-5D58-08F780880723}"/>
              </a:ext>
            </a:extLst>
          </p:cNvPr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C8AAEB4-F58E-6E26-4A9C-CEA2789BCCE9}"/>
              </a:ext>
            </a:extLst>
          </p:cNvPr>
          <p:cNvSpPr txBox="1">
            <a:spLocks/>
          </p:cNvSpPr>
          <p:nvPr/>
        </p:nvSpPr>
        <p:spPr>
          <a:xfrm>
            <a:off x="720000" y="1237075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4254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Ubuntu" panose="020B0504030602030204" pitchFamily="34" charset="0"/>
              </a:rPr>
              <a:t>Brainstorming with team and mentors.</a:t>
            </a:r>
          </a:p>
          <a:p>
            <a:pPr marL="4254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Ubuntu" panose="020B0504030602030204" pitchFamily="34" charset="0"/>
              </a:rPr>
              <a:t>Interviews with professors and admin staff.</a:t>
            </a:r>
          </a:p>
          <a:p>
            <a:pPr marL="4254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Ubuntu" panose="020B0504030602030204" pitchFamily="34" charset="0"/>
              </a:rPr>
              <a:t>Observation of CourseGenie phase1 and MyCourses workflows</a:t>
            </a:r>
          </a:p>
          <a:p>
            <a:pPr marL="139700" indent="0">
              <a:lnSpc>
                <a:spcPct val="200000"/>
              </a:lnSpc>
            </a:pPr>
            <a:endParaRPr lang="en-US" sz="1400" dirty="0">
              <a:solidFill>
                <a:schemeClr val="tx1"/>
              </a:solidFill>
              <a:latin typeface="Ubuntu" panose="020B0504030602030204" pitchFamily="34" charset="0"/>
            </a:endParaRPr>
          </a:p>
          <a:p>
            <a:pPr marL="139700" indent="0">
              <a:lnSpc>
                <a:spcPct val="200000"/>
              </a:lnSpc>
            </a:pPr>
            <a:endParaRPr lang="en-US" sz="1400" dirty="0">
              <a:solidFill>
                <a:schemeClr val="tx1"/>
              </a:solidFill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133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40">
          <a:extLst>
            <a:ext uri="{FF2B5EF4-FFF2-40B4-BE49-F238E27FC236}">
              <a16:creationId xmlns:a16="http://schemas.microsoft.com/office/drawing/2014/main" id="{3A3841C8-CC62-0445-EE62-A6C683250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5">
            <a:extLst>
              <a:ext uri="{FF2B5EF4-FFF2-40B4-BE49-F238E27FC236}">
                <a16:creationId xmlns:a16="http://schemas.microsoft.com/office/drawing/2014/main" id="{B822A3E1-8E53-992F-7848-8AE630ECE8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>
                <a:solidFill>
                  <a:schemeClr val="tx2"/>
                </a:solidFill>
              </a:rPr>
              <a:t>Requirements Elicitation Methods (Cont.)</a:t>
            </a:r>
            <a:endParaRPr dirty="0">
              <a:solidFill>
                <a:schemeClr val="tx2"/>
              </a:solidFill>
            </a:endParaRPr>
          </a:p>
        </p:txBody>
      </p:sp>
      <p:graphicFrame>
        <p:nvGraphicFramePr>
          <p:cNvPr id="442" name="Google Shape;442;p45">
            <a:extLst>
              <a:ext uri="{FF2B5EF4-FFF2-40B4-BE49-F238E27FC236}">
                <a16:creationId xmlns:a16="http://schemas.microsoft.com/office/drawing/2014/main" id="{38541C93-AC25-C98F-A40C-1DF4C50D86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5178708"/>
              </p:ext>
            </p:extLst>
          </p:nvPr>
        </p:nvGraphicFramePr>
        <p:xfrm>
          <a:off x="719962" y="1313535"/>
          <a:ext cx="7797873" cy="2850961"/>
        </p:xfrm>
        <a:graphic>
          <a:graphicData uri="http://schemas.openxmlformats.org/drawingml/2006/table">
            <a:tbl>
              <a:tblPr>
                <a:noFill/>
                <a:tableStyleId>{6C814C40-6234-4B4D-BC92-BC2D0D53636F}</a:tableStyleId>
              </a:tblPr>
              <a:tblGrid>
                <a:gridCol w="2261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6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898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Ubuntu" panose="020B0504030602030204" pitchFamily="34" charset="0"/>
                          <a:ea typeface="Ubuntu Condensed"/>
                          <a:cs typeface="Ubuntu Condensed"/>
                          <a:sym typeface="Ubuntu Condensed"/>
                        </a:rPr>
                        <a:t>Interviewees</a:t>
                      </a:r>
                      <a:endParaRPr sz="1800" b="1" dirty="0">
                        <a:solidFill>
                          <a:schemeClr val="dk1"/>
                        </a:solidFill>
                        <a:latin typeface="Ubuntu" panose="020B0504030602030204" pitchFamily="34" charset="0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Ubuntu" panose="020B0504030602030204" pitchFamily="34" charset="0"/>
                          <a:ea typeface="Ubuntu Condensed"/>
                          <a:cs typeface="Ubuntu Condensed"/>
                          <a:sym typeface="Ubuntu Condensed"/>
                        </a:rPr>
                        <a:t>Description</a:t>
                      </a:r>
                      <a:endParaRPr sz="1800" b="1" dirty="0">
                        <a:solidFill>
                          <a:schemeClr val="dk1"/>
                        </a:solidFill>
                        <a:latin typeface="Ubuntu" panose="020B0504030602030204" pitchFamily="34" charset="0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552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D69535"/>
                          </a:solidFill>
                          <a:latin typeface="Ubuntu" panose="020B0504030602030204" pitchFamily="34" charset="0"/>
                          <a:cs typeface="Ubuntu Condensed"/>
                          <a:sym typeface="Arial"/>
                        </a:rPr>
                        <a:t>Professors</a:t>
                      </a:r>
                      <a:endParaRPr sz="1400" b="1" i="0" u="none" strike="noStrike" cap="none" dirty="0">
                        <a:solidFill>
                          <a:srgbClr val="D69535"/>
                        </a:solidFill>
                        <a:latin typeface="Ubuntu" panose="020B0504030602030204" pitchFamily="34" charset="0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3970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latin typeface="Ubuntu" panose="020B0504030602030204" pitchFamily="34" charset="0"/>
                        </a:rPr>
                        <a:t>Weekly mentor interviews identified MyCourses limitations and suggested professor-focused enhancements.</a:t>
                      </a:r>
                      <a:endParaRPr lang="en-AE" sz="1200" b="0" i="0" u="none" strike="noStrike" cap="none" dirty="0">
                        <a:solidFill>
                          <a:schemeClr val="tx1"/>
                        </a:solidFill>
                        <a:latin typeface="Ubuntu" panose="020B0504030602030204" pitchFamily="34" charset="0"/>
                        <a:cs typeface="Cairo"/>
                        <a:sym typeface="Arial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645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AE" sz="1400" b="1" i="0" u="none" strike="noStrike" cap="none" dirty="0">
                          <a:solidFill>
                            <a:srgbClr val="D69535"/>
                          </a:solidFill>
                          <a:latin typeface="Ubuntu" panose="020B0504030602030204" pitchFamily="34" charset="0"/>
                          <a:ea typeface="Arial"/>
                          <a:cs typeface="Ubuntu Condensed"/>
                          <a:sym typeface="Arial"/>
                        </a:rPr>
                        <a:t>Institutional Effectiveness Manager</a:t>
                      </a:r>
                      <a:r>
                        <a:rPr lang="en-AE" sz="1400" b="1" i="0" u="none" strike="noStrike" cap="none" dirty="0">
                          <a:solidFill>
                            <a:srgbClr val="D69535"/>
                          </a:solidFill>
                          <a:latin typeface="Ubuntu" panose="020B0504030602030204" pitchFamily="34" charset="0"/>
                          <a:cs typeface="Ubuntu Condensed"/>
                          <a:sym typeface="Arial"/>
                        </a:rPr>
                        <a:t> </a:t>
                      </a:r>
                      <a:endParaRPr sz="1400" b="1" i="0" u="none" strike="noStrike" cap="none" dirty="0">
                        <a:solidFill>
                          <a:srgbClr val="D69535"/>
                        </a:solidFill>
                        <a:latin typeface="Ubuntu" panose="020B0504030602030204" pitchFamily="34" charset="0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3970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latin typeface="Ubuntu" panose="020B0504030602030204" pitchFamily="34" charset="0"/>
                        </a:rPr>
                        <a:t>Interview with Ms. Castelino emphasized need for admin dashboard, syllabus tracking, CAR files management, and peer review process tracking.</a:t>
                      </a:r>
                      <a:endParaRPr sz="1200" b="0" i="0" u="none" strike="noStrike" cap="none" dirty="0">
                        <a:solidFill>
                          <a:schemeClr val="tx1"/>
                        </a:solidFill>
                        <a:latin typeface="Ubuntu" panose="020B0504030602030204" pitchFamily="34" charset="0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7378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7DE14-3B97-E73B-6F8F-A9887793A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>
                <a:solidFill>
                  <a:schemeClr val="tx2"/>
                </a:solidFill>
              </a:rPr>
              <a:t>Project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F54F7-02D5-F42A-31C7-41F1C6DBE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237200"/>
            <a:ext cx="3852000" cy="3366300"/>
          </a:xfrm>
        </p:spPr>
        <p:txBody>
          <a:bodyPr/>
          <a:lstStyle/>
          <a:p>
            <a:pPr marL="139700" indent="0">
              <a:buNone/>
            </a:pPr>
            <a:r>
              <a:rPr kumimoji="0" lang="en-AE" sz="18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Ubuntu" panose="020B0504030602030204" pitchFamily="34" charset="0"/>
                <a:cs typeface="Ubuntu Condensed"/>
                <a:sym typeface="Ubuntu Condensed"/>
              </a:rPr>
              <a:t>Included Scope</a:t>
            </a:r>
          </a:p>
          <a:p>
            <a:pPr marL="139700" indent="0">
              <a:buNone/>
            </a:pPr>
            <a:endParaRPr lang="en-AE" sz="800" dirty="0">
              <a:solidFill>
                <a:schemeClr val="bg2"/>
              </a:solidFill>
              <a:latin typeface="Ubuntu" panose="020B0504030602030204" pitchFamily="34" charset="0"/>
            </a:endParaRPr>
          </a:p>
          <a:p>
            <a:pPr>
              <a:lnSpc>
                <a:spcPct val="200000"/>
              </a:lnSpc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32325"/>
                </a:solidFill>
                <a:effectLst/>
                <a:uLnTx/>
                <a:uFillTx/>
                <a:latin typeface="Ubuntu" panose="020B0504030602030204" pitchFamily="34" charset="0"/>
                <a:cs typeface="Arial"/>
                <a:sym typeface="Arial"/>
              </a:rPr>
              <a:t>Professor dashboards (syllabus, rubric, CAR files, grade analytics, course peer-review).</a:t>
            </a:r>
          </a:p>
          <a:p>
            <a:pPr>
              <a:lnSpc>
                <a:spcPct val="200000"/>
              </a:lnSpc>
            </a:pPr>
            <a:r>
              <a:rPr lang="en-US" sz="1400" dirty="0">
                <a:solidFill>
                  <a:srgbClr val="232325"/>
                </a:solidFill>
                <a:latin typeface="Ubuntu" panose="020B0504030602030204" pitchFamily="34" charset="0"/>
                <a:cs typeface="Arial"/>
                <a:sym typeface="Arial"/>
              </a:rPr>
              <a:t>Admin dashboards (syllabus collection, CAR tracking, exam logistics, oversight).</a:t>
            </a:r>
          </a:p>
          <a:p>
            <a:pPr>
              <a:lnSpc>
                <a:spcPct val="200000"/>
              </a:lnSpc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32325"/>
                </a:solidFill>
                <a:effectLst/>
                <a:uLnTx/>
                <a:uFillTx/>
                <a:latin typeface="Ubuntu" panose="020B0504030602030204" pitchFamily="34" charset="0"/>
                <a:cs typeface="Arial"/>
                <a:sym typeface="Arial"/>
              </a:rPr>
              <a:t>Analytics and reporting</a:t>
            </a:r>
            <a:r>
              <a:rPr lang="en-US" sz="1400" dirty="0">
                <a:solidFill>
                  <a:srgbClr val="232325"/>
                </a:solidFill>
                <a:latin typeface="Ubuntu" panose="020B0504030602030204" pitchFamily="34" charset="0"/>
                <a:cs typeface="Arial"/>
                <a:sym typeface="Arial"/>
              </a:rPr>
              <a:t> tools.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232325"/>
              </a:solidFill>
              <a:effectLst/>
              <a:uLnTx/>
              <a:uFillTx/>
              <a:latin typeface="Ubuntu" panose="020B0504030602030204" pitchFamily="34" charset="0"/>
              <a:cs typeface="Arial"/>
              <a:sym typeface="Arial"/>
            </a:endParaRPr>
          </a:p>
          <a:p>
            <a:endParaRPr lang="en-AE" sz="800" dirty="0">
              <a:solidFill>
                <a:schemeClr val="bg2"/>
              </a:solidFill>
              <a:latin typeface="Ubuntu" panose="020B0504030602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FCAE0-2E60-1E84-1473-CCCA9A5D55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0" y="1214829"/>
            <a:ext cx="3852000" cy="3366300"/>
          </a:xfrm>
        </p:spPr>
        <p:txBody>
          <a:bodyPr/>
          <a:lstStyle/>
          <a:p>
            <a:pPr marL="1397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iro"/>
              <a:buNone/>
              <a:tabLst/>
              <a:defRPr/>
            </a:pPr>
            <a:r>
              <a:rPr kumimoji="0" lang="en-AE" sz="1800" b="1" i="0" u="none" strike="noStrike" kern="0" cap="none" spc="0" normalizeH="0" baseline="0" noProof="0" dirty="0">
                <a:ln>
                  <a:noFill/>
                </a:ln>
                <a:solidFill>
                  <a:srgbClr val="FDB040"/>
                </a:solidFill>
                <a:effectLst/>
                <a:uLnTx/>
                <a:uFillTx/>
                <a:latin typeface="Ubuntu" panose="020B0504030602030204" pitchFamily="34" charset="0"/>
                <a:cs typeface="Ubuntu Condensed"/>
                <a:sym typeface="Ubuntu Condensed"/>
              </a:rPr>
              <a:t>Excluded Scope</a:t>
            </a:r>
            <a:endParaRPr kumimoji="0" lang="en-AE" sz="800" b="0" i="0" u="none" strike="noStrike" kern="0" cap="none" spc="0" normalizeH="0" baseline="0" noProof="0" dirty="0">
              <a:ln>
                <a:noFill/>
              </a:ln>
              <a:solidFill>
                <a:srgbClr val="FDB040"/>
              </a:solidFill>
              <a:effectLst/>
              <a:uLnTx/>
              <a:uFillTx/>
              <a:latin typeface="Ubuntu" panose="020B0504030602030204" pitchFamily="34" charset="0"/>
              <a:sym typeface="Cairo"/>
            </a:endParaRPr>
          </a:p>
          <a:p>
            <a:pPr marL="139700" indent="0" algn="just">
              <a:buNone/>
            </a:pPr>
            <a:endParaRPr lang="en-AE" dirty="0">
              <a:latin typeface="Ubuntu" panose="020B050403060203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1400" dirty="0">
                <a:solidFill>
                  <a:srgbClr val="232325"/>
                </a:solidFill>
                <a:latin typeface="Ubuntu" panose="020B0504030602030204" pitchFamily="34" charset="0"/>
                <a:cs typeface="Arial"/>
                <a:sym typeface="Arial"/>
              </a:rPr>
              <a:t>Student-side features (assignment submission, attendance, course content, etc.)</a:t>
            </a:r>
          </a:p>
          <a:p>
            <a:pPr>
              <a:lnSpc>
                <a:spcPct val="200000"/>
              </a:lnSpc>
            </a:pPr>
            <a:r>
              <a:rPr lang="en-US" sz="1400" dirty="0">
                <a:solidFill>
                  <a:srgbClr val="232325"/>
                </a:solidFill>
                <a:latin typeface="Ubuntu" panose="020B0504030602030204" pitchFamily="34" charset="0"/>
                <a:cs typeface="Arial"/>
                <a:sym typeface="Arial"/>
              </a:rPr>
              <a:t>Integration with MyCourses and university database (due to restricted access).</a:t>
            </a:r>
          </a:p>
          <a:p>
            <a:pPr marL="139700" indent="0" algn="just">
              <a:buNone/>
            </a:pPr>
            <a:endParaRPr lang="en-AE" dirty="0"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41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>
          <a:extLst>
            <a:ext uri="{FF2B5EF4-FFF2-40B4-BE49-F238E27FC236}">
              <a16:creationId xmlns:a16="http://schemas.microsoft.com/office/drawing/2014/main" id="{9EFFD6D0-4402-7AEA-2722-A12D44A50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9">
            <a:extLst>
              <a:ext uri="{FF2B5EF4-FFF2-40B4-BE49-F238E27FC236}">
                <a16:creationId xmlns:a16="http://schemas.microsoft.com/office/drawing/2014/main" id="{C9033587-7C94-0311-8772-9A5814DBD7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</a:rPr>
              <a:t>Expected Project Risks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377" name="Google Shape;377;p39">
            <a:extLst>
              <a:ext uri="{FF2B5EF4-FFF2-40B4-BE49-F238E27FC236}">
                <a16:creationId xmlns:a16="http://schemas.microsoft.com/office/drawing/2014/main" id="{804975D1-69B5-F924-C6D5-4FB17F557257}"/>
              </a:ext>
            </a:extLst>
          </p:cNvPr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221A975-8DC8-ACC9-EFC0-9BBD295E6C6E}"/>
              </a:ext>
            </a:extLst>
          </p:cNvPr>
          <p:cNvSpPr txBox="1">
            <a:spLocks/>
          </p:cNvSpPr>
          <p:nvPr/>
        </p:nvSpPr>
        <p:spPr>
          <a:xfrm>
            <a:off x="720000" y="1237075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4254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Ubuntu" panose="020B0504030602030204" pitchFamily="34" charset="0"/>
              </a:rPr>
              <a:t>Technical Skills: Limited prior knowledge and experience with Spring Boot.</a:t>
            </a:r>
          </a:p>
          <a:p>
            <a:pPr marL="4254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Ubuntu" panose="020B0504030602030204" pitchFamily="34" charset="0"/>
              </a:rPr>
              <a:t>Time: Strict capstone deadlines along with academic workload.</a:t>
            </a:r>
          </a:p>
          <a:p>
            <a:pPr marL="4254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Ubuntu" panose="020B0504030602030204" pitchFamily="34" charset="0"/>
              </a:rPr>
              <a:t>Access: No integration with MyCourses data.</a:t>
            </a:r>
          </a:p>
          <a:p>
            <a:pPr marL="4254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Ubuntu" panose="020B0504030602030204" pitchFamily="34" charset="0"/>
              </a:rPr>
              <a:t>Learning curve: Adapting to Agile + new tools as a team.</a:t>
            </a:r>
          </a:p>
          <a:p>
            <a:pPr marL="139700" indent="0">
              <a:lnSpc>
                <a:spcPct val="200000"/>
              </a:lnSpc>
            </a:pPr>
            <a:endParaRPr lang="en-US" sz="1400" dirty="0">
              <a:solidFill>
                <a:schemeClr val="tx1"/>
              </a:solidFill>
              <a:latin typeface="Ubuntu" panose="020B0504030602030204" pitchFamily="34" charset="0"/>
            </a:endParaRPr>
          </a:p>
          <a:p>
            <a:pPr marL="139700" indent="0">
              <a:lnSpc>
                <a:spcPct val="200000"/>
              </a:lnSpc>
            </a:pPr>
            <a:endParaRPr lang="en-US" sz="1400" dirty="0">
              <a:solidFill>
                <a:schemeClr val="tx1"/>
              </a:solidFill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732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>
          <a:extLst>
            <a:ext uri="{FF2B5EF4-FFF2-40B4-BE49-F238E27FC236}">
              <a16:creationId xmlns:a16="http://schemas.microsoft.com/office/drawing/2014/main" id="{22CDF5E2-7ED1-52CD-6253-2ACB464DA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9">
            <a:extLst>
              <a:ext uri="{FF2B5EF4-FFF2-40B4-BE49-F238E27FC236}">
                <a16:creationId xmlns:a16="http://schemas.microsoft.com/office/drawing/2014/main" id="{0A318BBA-BBCC-D843-8ED9-D756CB5DCA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</a:rPr>
              <a:t>Development Methodology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377" name="Google Shape;377;p39">
            <a:extLst>
              <a:ext uri="{FF2B5EF4-FFF2-40B4-BE49-F238E27FC236}">
                <a16:creationId xmlns:a16="http://schemas.microsoft.com/office/drawing/2014/main" id="{22778EAC-3BF8-E5EF-5510-18F9B6218AF9}"/>
              </a:ext>
            </a:extLst>
          </p:cNvPr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1660DC3-9696-BBA4-031C-2A9DAFD84FDF}"/>
              </a:ext>
            </a:extLst>
          </p:cNvPr>
          <p:cNvSpPr txBox="1">
            <a:spLocks/>
          </p:cNvSpPr>
          <p:nvPr/>
        </p:nvSpPr>
        <p:spPr>
          <a:xfrm>
            <a:off x="720000" y="1237075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4254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Ubuntu" panose="020B0504030602030204" pitchFamily="34" charset="0"/>
              </a:rPr>
              <a:t>Agile Scrum approach.</a:t>
            </a:r>
          </a:p>
          <a:p>
            <a:pPr marL="4254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Ubuntu" panose="020B0504030602030204" pitchFamily="34" charset="0"/>
              </a:rPr>
              <a:t>Work divided into sprints (approx. 1 month each) with clear milestones.</a:t>
            </a:r>
          </a:p>
          <a:p>
            <a:pPr marL="4254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Ubuntu" panose="020B0504030602030204" pitchFamily="34" charset="0"/>
              </a:rPr>
              <a:t>Weekly team meetings with mentor feedback.</a:t>
            </a:r>
          </a:p>
          <a:p>
            <a:pPr marL="4254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Ubuntu" panose="020B0504030602030204" pitchFamily="34" charset="0"/>
              </a:rPr>
              <a:t>Incremental feature delivery with testing at finalization of each sprint.</a:t>
            </a:r>
          </a:p>
          <a:p>
            <a:pPr marL="139700" indent="0">
              <a:lnSpc>
                <a:spcPct val="200000"/>
              </a:lnSpc>
            </a:pPr>
            <a:endParaRPr lang="en-US" sz="1400" dirty="0">
              <a:solidFill>
                <a:schemeClr val="tx1"/>
              </a:solidFill>
              <a:latin typeface="Ubuntu" panose="020B0504030602030204" pitchFamily="34" charset="0"/>
            </a:endParaRPr>
          </a:p>
          <a:p>
            <a:pPr marL="139700" indent="0">
              <a:lnSpc>
                <a:spcPct val="200000"/>
              </a:lnSpc>
            </a:pPr>
            <a:endParaRPr lang="en-US" sz="1400" dirty="0">
              <a:solidFill>
                <a:schemeClr val="tx1"/>
              </a:solidFill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666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>
          <a:extLst>
            <a:ext uri="{FF2B5EF4-FFF2-40B4-BE49-F238E27FC236}">
              <a16:creationId xmlns:a16="http://schemas.microsoft.com/office/drawing/2014/main" id="{225C8C8C-57A5-EFC5-A5BD-0DFD1B29A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5">
            <a:extLst>
              <a:ext uri="{FF2B5EF4-FFF2-40B4-BE49-F238E27FC236}">
                <a16:creationId xmlns:a16="http://schemas.microsoft.com/office/drawing/2014/main" id="{3A92CE79-D157-934C-1A83-6CF88F2D2C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</a:rPr>
              <a:t>Stakeholders</a:t>
            </a:r>
            <a:endParaRPr dirty="0">
              <a:solidFill>
                <a:schemeClr val="tx2"/>
              </a:solidFill>
            </a:endParaRPr>
          </a:p>
        </p:txBody>
      </p:sp>
      <p:graphicFrame>
        <p:nvGraphicFramePr>
          <p:cNvPr id="442" name="Google Shape;442;p45">
            <a:extLst>
              <a:ext uri="{FF2B5EF4-FFF2-40B4-BE49-F238E27FC236}">
                <a16:creationId xmlns:a16="http://schemas.microsoft.com/office/drawing/2014/main" id="{0B51DAF1-05D7-10A7-C9E4-96FEFDFB3D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0038321"/>
              </p:ext>
            </p:extLst>
          </p:nvPr>
        </p:nvGraphicFramePr>
        <p:xfrm>
          <a:off x="719962" y="1313534"/>
          <a:ext cx="8040580" cy="3058130"/>
        </p:xfrm>
        <a:graphic>
          <a:graphicData uri="http://schemas.openxmlformats.org/drawingml/2006/table">
            <a:tbl>
              <a:tblPr>
                <a:noFill/>
                <a:tableStyleId>{6C814C40-6234-4B4D-BC92-BC2D0D53636F}</a:tableStyleId>
              </a:tblPr>
              <a:tblGrid>
                <a:gridCol w="2332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8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967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chemeClr val="dk1"/>
                          </a:solidFill>
                          <a:latin typeface="Ubuntu" panose="020B0504030602030204" pitchFamily="34" charset="0"/>
                          <a:ea typeface="Ubuntu Condensed"/>
                          <a:cs typeface="Ubuntu Condensed"/>
                          <a:sym typeface="Ubuntu Condensed"/>
                        </a:rPr>
                        <a:t>Stakeholder</a:t>
                      </a:r>
                      <a:endParaRPr sz="1200" b="1" dirty="0">
                        <a:solidFill>
                          <a:schemeClr val="dk1"/>
                        </a:solidFill>
                        <a:latin typeface="Ubuntu" panose="020B0504030602030204" pitchFamily="34" charset="0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chemeClr val="dk1"/>
                          </a:solidFill>
                          <a:latin typeface="Ubuntu" panose="020B0504030602030204" pitchFamily="34" charset="0"/>
                          <a:ea typeface="Ubuntu Condensed"/>
                          <a:cs typeface="Ubuntu Condensed"/>
                          <a:sym typeface="Ubuntu Condensed"/>
                        </a:rPr>
                        <a:t>Interest</a:t>
                      </a:r>
                      <a:endParaRPr sz="1200" b="1" dirty="0">
                        <a:solidFill>
                          <a:schemeClr val="dk1"/>
                        </a:solidFill>
                        <a:latin typeface="Ubuntu" panose="020B0504030602030204" pitchFamily="34" charset="0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68575" marB="6857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717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Ubuntu" panose="020B0504030602030204" pitchFamily="34" charset="0"/>
                          <a:ea typeface="Ubuntu Condensed"/>
                          <a:cs typeface="Ubuntu Condensed"/>
                          <a:sym typeface="Ubuntu Condensed"/>
                        </a:rPr>
                        <a:t>Primary Stakeholders</a:t>
                      </a:r>
                      <a:endParaRPr sz="1200" b="1" dirty="0">
                        <a:solidFill>
                          <a:schemeClr val="tx2"/>
                        </a:solidFill>
                        <a:latin typeface="Ubuntu" panose="020B0504030602030204" pitchFamily="34" charset="0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dirty="0">
                        <a:solidFill>
                          <a:schemeClr val="dk1"/>
                        </a:solidFill>
                        <a:latin typeface="Ubuntu" panose="020B0504030602030204" pitchFamily="34" charset="0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68575" marB="6857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6713"/>
                  </a:ext>
                </a:extLst>
              </a:tr>
              <a:tr h="58010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D69535"/>
                          </a:solidFill>
                          <a:latin typeface="Ubuntu" panose="020B0504030602030204" pitchFamily="34" charset="0"/>
                          <a:cs typeface="Ubuntu Condensed"/>
                          <a:sym typeface="Arial"/>
                        </a:rPr>
                        <a:t>Professors</a:t>
                      </a:r>
                      <a:endParaRPr sz="1200" b="1" i="0" u="none" strike="noStrike" cap="none" dirty="0">
                        <a:solidFill>
                          <a:srgbClr val="D69535"/>
                        </a:solidFill>
                        <a:latin typeface="Ubuntu" panose="020B0504030602030204" pitchFamily="34" charset="0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39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 panose="020B0604020202020204" pitchFamily="34" charset="0"/>
                        <a:buNone/>
                      </a:pPr>
                      <a:r>
                        <a:rPr lang="en-AE" sz="1200" b="0" i="0" u="none" strike="noStrike" cap="none" dirty="0">
                          <a:solidFill>
                            <a:srgbClr val="000000"/>
                          </a:solidFill>
                          <a:latin typeface="Ubuntu" panose="020B0504030602030204" pitchFamily="34" charset="0"/>
                          <a:cs typeface="Arial"/>
                          <a:sym typeface="Arial"/>
                        </a:rPr>
                        <a:t>Use dashbaords for task automations (syllabus, CAR files, assessment  generations, etc.)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07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rgbClr val="D69535"/>
                          </a:solidFill>
                          <a:latin typeface="Ubuntu" panose="020B0504030602030204" pitchFamily="34" charset="0"/>
                          <a:ea typeface="Ubuntu Condensed"/>
                          <a:cs typeface="Ubuntu Condensed"/>
                          <a:sym typeface="Ubuntu Condensed"/>
                        </a:rPr>
                        <a:t>Administrators</a:t>
                      </a:r>
                      <a:endParaRPr sz="1200" b="1" dirty="0">
                        <a:solidFill>
                          <a:srgbClr val="D69535"/>
                        </a:solidFill>
                        <a:latin typeface="Ubuntu" panose="020B0504030602030204" pitchFamily="34" charset="0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39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 panose="020B0604020202020204" pitchFamily="34" charset="0"/>
                        <a:buNone/>
                      </a:pPr>
                      <a:r>
                        <a:rPr lang="en-AE" sz="1200" b="0" i="0" u="none" strike="noStrike" cap="none" dirty="0">
                          <a:solidFill>
                            <a:srgbClr val="000000"/>
                          </a:solidFill>
                          <a:latin typeface="Ubuntu" panose="020B0504030602030204" pitchFamily="34" charset="0"/>
                          <a:cs typeface="Arial"/>
                          <a:sym typeface="Arial"/>
                        </a:rPr>
                        <a:t>Track submissions, manage sections, collect files, and other tasks through dashbaord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Ubuntu" panose="020B0504030602030204" pitchFamily="34" charset="0"/>
                        <a:ea typeface="Cairo"/>
                        <a:cs typeface="Arial"/>
                        <a:sym typeface="Cairo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317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i="0" u="none" strike="noStrike" cap="none" dirty="0">
                          <a:solidFill>
                            <a:schemeClr val="tx2"/>
                          </a:solidFill>
                          <a:latin typeface="Ubuntu" panose="020B0504030602030204" pitchFamily="34" charset="0"/>
                          <a:ea typeface="Ubuntu Condensed"/>
                          <a:cs typeface="Ubuntu Condensed"/>
                          <a:sym typeface="Ubuntu Condensed"/>
                        </a:rPr>
                        <a:t>Primary Stakeholders</a:t>
                      </a: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3970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 panose="020B0604020202020204" pitchFamily="34" charset="0"/>
                        <a:buNone/>
                      </a:pP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Ubuntu" panose="020B0504030602030204" pitchFamily="34" charset="0"/>
                        <a:ea typeface="Cairo"/>
                        <a:cs typeface="Arial"/>
                        <a:sym typeface="Cairo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444014"/>
                  </a:ext>
                </a:extLst>
              </a:tr>
              <a:tr h="6452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AE" sz="1200" b="1" i="0" u="none" strike="noStrike" cap="none" dirty="0">
                          <a:solidFill>
                            <a:srgbClr val="D69535"/>
                          </a:solidFill>
                          <a:latin typeface="Ubuntu" panose="020B0504030602030204" pitchFamily="34" charset="0"/>
                          <a:cs typeface="Ubuntu Condensed"/>
                          <a:sym typeface="Arial"/>
                        </a:rPr>
                        <a:t>Accreditation Bodies (e.g., KHDA)</a:t>
                      </a: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39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 panose="020B0604020202020204" pitchFamily="34" charset="0"/>
                        <a:buNone/>
                      </a:pPr>
                      <a:r>
                        <a:rPr lang="en-AE" sz="1200" b="0" i="0" u="none" strike="noStrike" cap="none" dirty="0">
                          <a:solidFill>
                            <a:srgbClr val="000000"/>
                          </a:solidFill>
                          <a:latin typeface="Ubuntu" panose="020B0504030602030204" pitchFamily="34" charset="0"/>
                          <a:cs typeface="Arial"/>
                          <a:sym typeface="Arial"/>
                        </a:rPr>
                        <a:t>Requirement of more accurate and transparent reportings.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811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11D46-1196-6FC0-076A-F7065BF3F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5A0A7-34C7-ED7C-08A7-B357731A6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>
                <a:solidFill>
                  <a:schemeClr val="tx2"/>
                </a:solidFill>
              </a:rPr>
              <a:t>Requirements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04ACC-C5C8-B02F-A6CE-56842A0E1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kumimoji="0" lang="en-AE" sz="18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Ubuntu" panose="020B0504030602030204" pitchFamily="34" charset="0"/>
                <a:cs typeface="Ubuntu Condensed"/>
                <a:sym typeface="Ubuntu Condensed"/>
              </a:rPr>
              <a:t>Functional </a:t>
            </a:r>
          </a:p>
          <a:p>
            <a:pPr marL="139700" indent="0">
              <a:buNone/>
            </a:pPr>
            <a:endParaRPr lang="en-AE" sz="800" dirty="0">
              <a:solidFill>
                <a:schemeClr val="bg2"/>
              </a:solidFill>
              <a:latin typeface="Ubuntu" panose="020B0504030602030204" pitchFamily="34" charset="0"/>
            </a:endParaRPr>
          </a:p>
          <a:p>
            <a:pPr>
              <a:lnSpc>
                <a:spcPct val="200000"/>
              </a:lnSpc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32325"/>
                </a:solidFill>
                <a:effectLst/>
                <a:uLnTx/>
                <a:uFillTx/>
                <a:latin typeface="Ubuntu" panose="020B0504030602030204" pitchFamily="34" charset="0"/>
                <a:cs typeface="Arial"/>
                <a:sym typeface="Arial"/>
              </a:rPr>
              <a:t>Syllabus tracking</a:t>
            </a:r>
          </a:p>
          <a:p>
            <a:pPr>
              <a:lnSpc>
                <a:spcPct val="200000"/>
              </a:lnSpc>
            </a:pPr>
            <a:r>
              <a:rPr lang="en-US" sz="1400" dirty="0">
                <a:solidFill>
                  <a:srgbClr val="232325"/>
                </a:solidFill>
                <a:latin typeface="Ubuntu" panose="020B0504030602030204" pitchFamily="34" charset="0"/>
                <a:cs typeface="Arial"/>
                <a:sym typeface="Arial"/>
              </a:rPr>
              <a:t>Assessment/rubric management</a:t>
            </a:r>
          </a:p>
          <a:p>
            <a:pPr>
              <a:lnSpc>
                <a:spcPct val="200000"/>
              </a:lnSpc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32325"/>
                </a:solidFill>
                <a:effectLst/>
                <a:uLnTx/>
                <a:uFillTx/>
                <a:latin typeface="Ubuntu" panose="020B0504030602030204" pitchFamily="34" charset="0"/>
                <a:cs typeface="Arial"/>
                <a:sym typeface="Arial"/>
              </a:rPr>
              <a:t>CAR file generation</a:t>
            </a:r>
          </a:p>
          <a:p>
            <a:pPr>
              <a:lnSpc>
                <a:spcPct val="200000"/>
              </a:lnSpc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32325"/>
                </a:solidFill>
                <a:effectLst/>
                <a:uLnTx/>
                <a:uFillTx/>
                <a:latin typeface="Ubuntu" panose="020B0504030602030204" pitchFamily="34" charset="0"/>
                <a:cs typeface="Arial"/>
                <a:sym typeface="Arial"/>
              </a:rPr>
              <a:t>Exam scheduling &amp; room assignment</a:t>
            </a:r>
          </a:p>
          <a:p>
            <a:pPr>
              <a:lnSpc>
                <a:spcPct val="200000"/>
              </a:lnSpc>
            </a:pPr>
            <a:r>
              <a:rPr lang="en-US" sz="1400" dirty="0">
                <a:solidFill>
                  <a:srgbClr val="232325"/>
                </a:solidFill>
                <a:latin typeface="Ubuntu" panose="020B0504030602030204" pitchFamily="34" charset="0"/>
                <a:cs typeface="Arial"/>
                <a:sym typeface="Arial"/>
              </a:rPr>
              <a:t>Analytics Dashboard</a:t>
            </a:r>
          </a:p>
          <a:p>
            <a:pPr>
              <a:lnSpc>
                <a:spcPct val="200000"/>
              </a:lnSpc>
            </a:pPr>
            <a:r>
              <a:rPr lang="en-US" sz="1400" dirty="0">
                <a:solidFill>
                  <a:srgbClr val="232325"/>
                </a:solidFill>
                <a:latin typeface="Ubuntu" panose="020B0504030602030204" pitchFamily="34" charset="0"/>
                <a:cs typeface="Arial"/>
                <a:sym typeface="Arial"/>
              </a:rPr>
              <a:t>Course and sections management</a:t>
            </a:r>
          </a:p>
          <a:p>
            <a:pPr>
              <a:lnSpc>
                <a:spcPct val="200000"/>
              </a:lnSpc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32325"/>
                </a:solidFill>
                <a:effectLst/>
                <a:uLnTx/>
                <a:uFillTx/>
                <a:latin typeface="Ubuntu" panose="020B0504030602030204" pitchFamily="34" charset="0"/>
                <a:cs typeface="Arial"/>
                <a:sym typeface="Arial"/>
              </a:rPr>
              <a:t>Course </a:t>
            </a:r>
            <a:r>
              <a:rPr lang="en-US" sz="1400" dirty="0">
                <a:solidFill>
                  <a:srgbClr val="232325"/>
                </a:solidFill>
                <a:latin typeface="Ubuntu" panose="020B0504030602030204" pitchFamily="34" charset="0"/>
                <a:cs typeface="Arial"/>
                <a:sym typeface="Arial"/>
              </a:rPr>
              <a:t>peer review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232325"/>
              </a:solidFill>
              <a:effectLst/>
              <a:uLnTx/>
              <a:uFillTx/>
              <a:latin typeface="Ubuntu" panose="020B0504030602030204" pitchFamily="34" charset="0"/>
              <a:cs typeface="Arial"/>
              <a:sym typeface="Arial"/>
            </a:endParaRPr>
          </a:p>
          <a:p>
            <a:endParaRPr lang="en-AE" sz="800" dirty="0">
              <a:solidFill>
                <a:schemeClr val="bg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B7524-8BCD-99D6-D498-D17E6692FAA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39700" lvl="0" indent="0" defTabSz="914400" eaLnBrk="1" fontAlgn="auto" latinLnBrk="0" hangingPunct="1">
              <a:buNone/>
              <a:tabLst/>
              <a:defRPr/>
            </a:pPr>
            <a:r>
              <a:rPr lang="en-AE" sz="1800" b="1" dirty="0">
                <a:solidFill>
                  <a:schemeClr val="bg2"/>
                </a:solidFill>
                <a:latin typeface="Ubuntu" panose="020B0504030602030204" pitchFamily="34" charset="0"/>
                <a:cs typeface="Ubuntu Condensed"/>
                <a:sym typeface="Ubuntu Condensed"/>
              </a:rPr>
              <a:t>Non-Functional</a:t>
            </a:r>
            <a:endParaRPr lang="en-AE" sz="1800" b="1" dirty="0">
              <a:solidFill>
                <a:schemeClr val="bg2"/>
              </a:solidFill>
              <a:latin typeface="Ubuntu" panose="020B0504030602030204" pitchFamily="34" charset="0"/>
              <a:cs typeface="Ubuntu Condensed"/>
            </a:endParaRPr>
          </a:p>
          <a:p>
            <a:pPr>
              <a:lnSpc>
                <a:spcPct val="200000"/>
              </a:lnSpc>
            </a:pPr>
            <a:r>
              <a:rPr lang="en-US" sz="1400" dirty="0">
                <a:solidFill>
                  <a:srgbClr val="232325"/>
                </a:solidFill>
                <a:latin typeface="Ubuntu" panose="020B0504030602030204" pitchFamily="34" charset="0"/>
                <a:cs typeface="Arial"/>
                <a:sym typeface="Arial"/>
              </a:rPr>
              <a:t>Usability and accessibility</a:t>
            </a:r>
          </a:p>
          <a:p>
            <a:pPr>
              <a:lnSpc>
                <a:spcPct val="200000"/>
              </a:lnSpc>
            </a:pPr>
            <a:r>
              <a:rPr lang="en-US" sz="1400" dirty="0">
                <a:solidFill>
                  <a:srgbClr val="232325"/>
                </a:solidFill>
                <a:latin typeface="Ubuntu" panose="020B0504030602030204" pitchFamily="34" charset="0"/>
                <a:cs typeface="Arial"/>
                <a:sym typeface="Arial"/>
              </a:rPr>
              <a:t>Security of academic data</a:t>
            </a:r>
          </a:p>
          <a:p>
            <a:pPr>
              <a:lnSpc>
                <a:spcPct val="200000"/>
              </a:lnSpc>
            </a:pPr>
            <a:r>
              <a:rPr lang="en-US" sz="1400" dirty="0">
                <a:solidFill>
                  <a:srgbClr val="232325"/>
                </a:solidFill>
                <a:latin typeface="Ubuntu" panose="020B0504030602030204" pitchFamily="34" charset="0"/>
                <a:cs typeface="Arial"/>
                <a:sym typeface="Arial"/>
              </a:rPr>
              <a:t>System performance and reliability</a:t>
            </a:r>
          </a:p>
          <a:p>
            <a:pPr>
              <a:lnSpc>
                <a:spcPct val="200000"/>
              </a:lnSpc>
            </a:pPr>
            <a:r>
              <a:rPr lang="en-US" sz="1400" dirty="0">
                <a:solidFill>
                  <a:srgbClr val="232325"/>
                </a:solidFill>
                <a:latin typeface="Ubuntu" panose="020B0504030602030204" pitchFamily="34" charset="0"/>
                <a:cs typeface="Arial"/>
                <a:sym typeface="Arial"/>
              </a:rPr>
              <a:t>Scalability for future use</a:t>
            </a:r>
          </a:p>
          <a:p>
            <a:pPr marL="139700" indent="0">
              <a:buNone/>
            </a:pPr>
            <a:endParaRPr lang="en-AE" dirty="0"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951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</a:rPr>
              <a:t>Milestones</a:t>
            </a:r>
            <a:endParaRPr dirty="0">
              <a:solidFill>
                <a:schemeClr val="tx2"/>
              </a:solidFill>
            </a:endParaRPr>
          </a:p>
        </p:txBody>
      </p:sp>
      <p:graphicFrame>
        <p:nvGraphicFramePr>
          <p:cNvPr id="442" name="Google Shape;442;p45"/>
          <p:cNvGraphicFramePr/>
          <p:nvPr>
            <p:extLst>
              <p:ext uri="{D42A27DB-BD31-4B8C-83A1-F6EECF244321}">
                <p14:modId xmlns:p14="http://schemas.microsoft.com/office/powerpoint/2010/main" val="1349045094"/>
              </p:ext>
            </p:extLst>
          </p:nvPr>
        </p:nvGraphicFramePr>
        <p:xfrm>
          <a:off x="719963" y="1313535"/>
          <a:ext cx="7703999" cy="3244435"/>
        </p:xfrm>
        <a:graphic>
          <a:graphicData uri="http://schemas.openxmlformats.org/drawingml/2006/table">
            <a:tbl>
              <a:tblPr>
                <a:noFill/>
                <a:tableStyleId>{6C814C40-6234-4B4D-BC92-BC2D0D53636F}</a:tableStyleId>
              </a:tblPr>
              <a:tblGrid>
                <a:gridCol w="4824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8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1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9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Milestone</a:t>
                      </a:r>
                      <a:endParaRPr sz="1800" b="1" dirty="0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Start date</a:t>
                      </a:r>
                      <a:endParaRPr sz="1800" b="1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End date</a:t>
                      </a:r>
                      <a:endParaRPr sz="1800" b="1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98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D69535"/>
                          </a:solidFill>
                          <a:latin typeface="Ubuntu Condensed"/>
                          <a:cs typeface="Ubuntu Condensed"/>
                          <a:sym typeface="Arial"/>
                        </a:rPr>
                        <a:t>Review system, gather requirements, literature review</a:t>
                      </a:r>
                      <a:endParaRPr sz="1400" b="1" i="0" u="none" strike="noStrike" cap="none" dirty="0">
                        <a:solidFill>
                          <a:srgbClr val="D69535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Week 1</a:t>
                      </a:r>
                      <a:endParaRPr sz="1200" dirty="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Week 6</a:t>
                      </a:r>
                      <a:endParaRPr sz="1200" dirty="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98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Assessment + syllabus modules</a:t>
                      </a:r>
                      <a:endParaRPr b="1" dirty="0">
                        <a:solidFill>
                          <a:srgbClr val="D69535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Week 7</a:t>
                      </a:r>
                      <a:endParaRPr sz="1200" dirty="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Week 9</a:t>
                      </a:r>
                      <a:endParaRPr sz="1200" dirty="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07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CAR File generation</a:t>
                      </a:r>
                      <a:endParaRPr b="1" dirty="0">
                        <a:solidFill>
                          <a:srgbClr val="D69535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Week 10</a:t>
                      </a:r>
                      <a:endParaRPr sz="1200" dirty="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Week 12</a:t>
                      </a:r>
                      <a:endParaRPr sz="1200" dirty="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98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Admin dashboard view</a:t>
                      </a:r>
                      <a:endParaRPr b="1" dirty="0">
                        <a:solidFill>
                          <a:srgbClr val="D69535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Week 13</a:t>
                      </a:r>
                      <a:endParaRPr sz="1200" dirty="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Week 15</a:t>
                      </a:r>
                      <a:endParaRPr sz="1200" dirty="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98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Exam Scheduling + Collaboration features</a:t>
                      </a:r>
                      <a:endParaRPr b="1" dirty="0">
                        <a:solidFill>
                          <a:srgbClr val="D69535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Week 16</a:t>
                      </a:r>
                      <a:endParaRPr sz="1200" dirty="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Week 19</a:t>
                      </a:r>
                      <a:endParaRPr sz="1200" dirty="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98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Grade analytics view</a:t>
                      </a:r>
                      <a:endParaRPr b="1" dirty="0">
                        <a:solidFill>
                          <a:srgbClr val="D69535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Week 20</a:t>
                      </a:r>
                      <a:endParaRPr sz="1200" dirty="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Week 23</a:t>
                      </a:r>
                      <a:endParaRPr sz="1200" dirty="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98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Final Testing and debugging</a:t>
                      </a:r>
                      <a:endParaRPr b="1" dirty="0">
                        <a:solidFill>
                          <a:srgbClr val="D69535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Week 24</a:t>
                      </a:r>
                      <a:endParaRPr sz="1200" dirty="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Week 27</a:t>
                      </a:r>
                      <a:endParaRPr sz="1200" dirty="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746563"/>
                  </a:ext>
                </a:extLst>
              </a:tr>
              <a:tr h="35498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Final report and presentation</a:t>
                      </a:r>
                      <a:endParaRPr b="1" dirty="0">
                        <a:solidFill>
                          <a:srgbClr val="D69535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Week 28</a:t>
                      </a:r>
                      <a:endParaRPr sz="1200" dirty="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Week 30</a:t>
                      </a:r>
                      <a:endParaRPr sz="1200" dirty="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4536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>
          <a:extLst>
            <a:ext uri="{FF2B5EF4-FFF2-40B4-BE49-F238E27FC236}">
              <a16:creationId xmlns:a16="http://schemas.microsoft.com/office/drawing/2014/main" id="{017A9F56-70B3-759D-53AB-32F22B138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5">
            <a:extLst>
              <a:ext uri="{FF2B5EF4-FFF2-40B4-BE49-F238E27FC236}">
                <a16:creationId xmlns:a16="http://schemas.microsoft.com/office/drawing/2014/main" id="{EA66D4D7-A4CE-B27E-3F44-93CF92AE1D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</a:rPr>
              <a:t>Roles and Responsibilities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031D28-FD65-C365-5CA2-D8C80A8D7C1B}"/>
              </a:ext>
            </a:extLst>
          </p:cNvPr>
          <p:cNvSpPr txBox="1"/>
          <p:nvPr/>
        </p:nvSpPr>
        <p:spPr>
          <a:xfrm>
            <a:off x="554636" y="1234738"/>
            <a:ext cx="837950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9700">
              <a:lnSpc>
                <a:spcPct val="200000"/>
              </a:lnSpc>
              <a:buClr>
                <a:schemeClr val="accent3"/>
              </a:buClr>
              <a:buSzPts val="1400"/>
            </a:pPr>
            <a:r>
              <a:rPr lang="en-US" b="1" dirty="0">
                <a:solidFill>
                  <a:srgbClr val="D69535"/>
                </a:solidFill>
                <a:latin typeface="Ubuntu" panose="020B0504030602030204" pitchFamily="34" charset="0"/>
                <a:sym typeface="Cairo"/>
              </a:rPr>
              <a:t>Jeeda Kotob </a:t>
            </a:r>
            <a:r>
              <a:rPr lang="en-US" b="1" dirty="0">
                <a:solidFill>
                  <a:schemeClr val="tx1"/>
                </a:solidFill>
                <a:latin typeface="Ubuntu" panose="020B0504030602030204" pitchFamily="34" charset="0"/>
                <a:sym typeface="Cairo"/>
              </a:rPr>
              <a:t>–</a:t>
            </a:r>
            <a:r>
              <a:rPr lang="en-US" b="1" dirty="0">
                <a:solidFill>
                  <a:srgbClr val="0080B0"/>
                </a:solidFill>
                <a:latin typeface="Ubuntu" panose="020B0504030602030204" pitchFamily="34" charset="0"/>
                <a:sym typeface="Cairo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Ubuntu" panose="020B0504030602030204" pitchFamily="34" charset="0"/>
                <a:sym typeface="Cairo"/>
              </a:rPr>
              <a:t>Full-Stack Developer </a:t>
            </a:r>
          </a:p>
          <a:p>
            <a:pPr marL="425450" lvl="3" indent="-285750">
              <a:lnSpc>
                <a:spcPct val="150000"/>
              </a:lnSpc>
              <a:buClr>
                <a:schemeClr val="accent3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32325"/>
                </a:solidFill>
                <a:latin typeface="Ubuntu" panose="020B0504030602030204" pitchFamily="34" charset="0"/>
                <a:sym typeface="Cairo"/>
              </a:rPr>
              <a:t>Develop and integrate backend and frontend features.</a:t>
            </a:r>
          </a:p>
          <a:p>
            <a:pPr marL="425450" lvl="3" indent="-285750">
              <a:lnSpc>
                <a:spcPct val="150000"/>
              </a:lnSpc>
              <a:buClr>
                <a:schemeClr val="accent3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32325"/>
                </a:solidFill>
                <a:latin typeface="Ubuntu" panose="020B0504030602030204" pitchFamily="34" charset="0"/>
                <a:sym typeface="Cairo"/>
              </a:rPr>
              <a:t>Manage project database and ensure reliable data handling.</a:t>
            </a:r>
          </a:p>
          <a:p>
            <a:pPr marL="139700">
              <a:lnSpc>
                <a:spcPct val="200000"/>
              </a:lnSpc>
              <a:buClr>
                <a:schemeClr val="accent3"/>
              </a:buClr>
              <a:buSzPts val="1400"/>
            </a:pPr>
            <a:r>
              <a:rPr lang="en-US" b="1" dirty="0">
                <a:solidFill>
                  <a:srgbClr val="D69535"/>
                </a:solidFill>
                <a:latin typeface="Ubuntu" panose="020B0504030602030204" pitchFamily="34" charset="0"/>
                <a:sym typeface="Cairo"/>
              </a:rPr>
              <a:t>Ryma Ait Tayeb </a:t>
            </a:r>
            <a:r>
              <a:rPr lang="en-US" b="1" dirty="0">
                <a:solidFill>
                  <a:schemeClr val="tx1"/>
                </a:solidFill>
                <a:latin typeface="Ubuntu" panose="020B0504030602030204" pitchFamily="34" charset="0"/>
                <a:sym typeface="Cairo"/>
              </a:rPr>
              <a:t>–</a:t>
            </a:r>
            <a:r>
              <a:rPr lang="en-US" b="1" dirty="0">
                <a:solidFill>
                  <a:srgbClr val="0080B0"/>
                </a:solidFill>
                <a:latin typeface="Ubuntu" panose="020B0504030602030204" pitchFamily="34" charset="0"/>
                <a:sym typeface="Cairo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Ubuntu" panose="020B0504030602030204" pitchFamily="34" charset="0"/>
                <a:sym typeface="Cairo"/>
              </a:rPr>
              <a:t>Backend Developer </a:t>
            </a:r>
          </a:p>
          <a:p>
            <a:pPr marL="425450" indent="-285750">
              <a:lnSpc>
                <a:spcPct val="150000"/>
              </a:lnSpc>
              <a:buClr>
                <a:schemeClr val="accent3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32325"/>
                </a:solidFill>
                <a:latin typeface="Ubuntu" panose="020B0504030602030204" pitchFamily="34" charset="0"/>
                <a:sym typeface="Cairo"/>
              </a:rPr>
              <a:t>Implement backend features and application logic.</a:t>
            </a:r>
          </a:p>
          <a:p>
            <a:pPr marL="425450" indent="-285750">
              <a:lnSpc>
                <a:spcPct val="150000"/>
              </a:lnSpc>
              <a:buClr>
                <a:schemeClr val="accent3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32325"/>
                </a:solidFill>
                <a:latin typeface="Ubuntu" panose="020B0504030602030204" pitchFamily="34" charset="0"/>
                <a:sym typeface="Cairo"/>
              </a:rPr>
              <a:t>Maintain APIs and support integration with database.</a:t>
            </a:r>
          </a:p>
          <a:p>
            <a:pPr marL="139700">
              <a:lnSpc>
                <a:spcPct val="200000"/>
              </a:lnSpc>
              <a:buClr>
                <a:schemeClr val="accent3"/>
              </a:buClr>
              <a:buSzPts val="1400"/>
            </a:pPr>
            <a:r>
              <a:rPr lang="en-US" b="1" dirty="0">
                <a:solidFill>
                  <a:srgbClr val="D69535"/>
                </a:solidFill>
                <a:latin typeface="Ubuntu" panose="020B0504030602030204" pitchFamily="34" charset="0"/>
                <a:sym typeface="Cairo"/>
              </a:rPr>
              <a:t>Ibraheem Mustafa </a:t>
            </a:r>
            <a:r>
              <a:rPr lang="en-US" b="1" dirty="0">
                <a:solidFill>
                  <a:schemeClr val="tx1"/>
                </a:solidFill>
                <a:latin typeface="Ubuntu" panose="020B0504030602030204" pitchFamily="34" charset="0"/>
                <a:sym typeface="Cairo"/>
              </a:rPr>
              <a:t>–</a:t>
            </a:r>
            <a:r>
              <a:rPr lang="en-US" b="1" dirty="0">
                <a:solidFill>
                  <a:srgbClr val="0080B0"/>
                </a:solidFill>
                <a:latin typeface="Ubuntu" panose="020B0504030602030204" pitchFamily="34" charset="0"/>
                <a:sym typeface="Cairo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Ubuntu" panose="020B0504030602030204" pitchFamily="34" charset="0"/>
                <a:sym typeface="Cairo"/>
              </a:rPr>
              <a:t>Frontend Developer </a:t>
            </a:r>
          </a:p>
          <a:p>
            <a:pPr marL="425450" indent="-285750">
              <a:lnSpc>
                <a:spcPct val="150000"/>
              </a:lnSpc>
              <a:buClr>
                <a:schemeClr val="accent3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32325"/>
                </a:solidFill>
                <a:latin typeface="Ubuntu" panose="020B0504030602030204" pitchFamily="34" charset="0"/>
                <a:sym typeface="Cairo"/>
              </a:rPr>
              <a:t>Implements frontend features and user interface components.</a:t>
            </a:r>
          </a:p>
          <a:p>
            <a:pPr marL="425450" indent="-285750">
              <a:lnSpc>
                <a:spcPct val="150000"/>
              </a:lnSpc>
              <a:buClr>
                <a:schemeClr val="accent3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32325"/>
                </a:solidFill>
                <a:latin typeface="Ubuntu" panose="020B0504030602030204" pitchFamily="34" charset="0"/>
                <a:sym typeface="Cairo"/>
              </a:rPr>
              <a:t>Ensure smooth integration with backend services.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362320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>
          <a:extLst>
            <a:ext uri="{FF2B5EF4-FFF2-40B4-BE49-F238E27FC236}">
              <a16:creationId xmlns:a16="http://schemas.microsoft.com/office/drawing/2014/main" id="{7DFF3794-7A3A-6429-D938-CF4D15953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9">
            <a:extLst>
              <a:ext uri="{FF2B5EF4-FFF2-40B4-BE49-F238E27FC236}">
                <a16:creationId xmlns:a16="http://schemas.microsoft.com/office/drawing/2014/main" id="{0D460693-1F49-DEE0-2BD9-A06C6D4893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</a:rPr>
              <a:t>Conclusion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377" name="Google Shape;377;p39">
            <a:extLst>
              <a:ext uri="{FF2B5EF4-FFF2-40B4-BE49-F238E27FC236}">
                <a16:creationId xmlns:a16="http://schemas.microsoft.com/office/drawing/2014/main" id="{5409F238-EA2B-2DAD-E641-41E6E1000F7C}"/>
              </a:ext>
            </a:extLst>
          </p:cNvPr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3C59209-D8E9-88BE-40E2-68890716B072}"/>
              </a:ext>
            </a:extLst>
          </p:cNvPr>
          <p:cNvSpPr txBox="1">
            <a:spLocks/>
          </p:cNvSpPr>
          <p:nvPr/>
        </p:nvSpPr>
        <p:spPr>
          <a:xfrm>
            <a:off x="720000" y="1237075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4254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Ubuntu" panose="020B0504030602030204" pitchFamily="34" charset="0"/>
              </a:rPr>
              <a:t>MyCourses serves students well but leave professors and admins underserved</a:t>
            </a:r>
            <a:r>
              <a:rPr lang="en-US" sz="1400" dirty="0">
                <a:solidFill>
                  <a:schemeClr val="tx1"/>
                </a:solidFill>
                <a:latin typeface="Ubuntu" panose="020B0504030602030204" pitchFamily="34" charset="0"/>
              </a:rPr>
              <a:t>, with manual work requirements.</a:t>
            </a:r>
          </a:p>
          <a:p>
            <a:pPr marL="4254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Ubuntu" panose="020B0504030602030204" pitchFamily="34" charset="0"/>
              </a:rPr>
              <a:t>Literature shows gaps in reporting, usability, and managing instructor tasks</a:t>
            </a:r>
          </a:p>
          <a:p>
            <a:pPr marL="4254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Ubuntu" panose="020B0504030602030204" pitchFamily="34" charset="0"/>
              </a:rPr>
              <a:t>CourseGenie+ addresses these gaps by providing role-based dashboards with automated functionalities.</a:t>
            </a:r>
          </a:p>
          <a:p>
            <a:pPr marL="4254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Ubuntu" panose="020B0504030602030204" pitchFamily="34" charset="0"/>
              </a:rPr>
              <a:t>Expected impact: reduce admin and instructor overhead, improve compliance, and enhance faculty productivity.</a:t>
            </a:r>
          </a:p>
          <a:p>
            <a:pPr marL="139700" indent="0">
              <a:lnSpc>
                <a:spcPct val="200000"/>
              </a:lnSpc>
            </a:pPr>
            <a:endParaRPr lang="en-US" sz="1400" dirty="0">
              <a:solidFill>
                <a:schemeClr val="tx1"/>
              </a:solidFill>
            </a:endParaRPr>
          </a:p>
          <a:p>
            <a:pPr marL="139700" indent="0">
              <a:lnSpc>
                <a:spcPct val="200000"/>
              </a:lnSpc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17323"/>
      </p:ext>
    </p:extLst>
  </p:cSld>
  <p:clrMapOvr>
    <a:masterClrMapping/>
  </p:clrMapOvr>
</p:sld>
</file>

<file path=ppt/theme/theme1.xml><?xml version="1.0" encoding="utf-8"?>
<a:theme xmlns:a="http://schemas.openxmlformats.org/drawingml/2006/main" name="Implementation of the 5S Technique Project Proposal by Slidesgo">
  <a:themeElements>
    <a:clrScheme name="Custom 2">
      <a:dk1>
        <a:srgbClr val="232325"/>
      </a:dk1>
      <a:lt1>
        <a:srgbClr val="EDEDED"/>
      </a:lt1>
      <a:dk2>
        <a:srgbClr val="FCB040"/>
      </a:dk2>
      <a:lt2>
        <a:srgbClr val="005475"/>
      </a:lt2>
      <a:accent1>
        <a:srgbClr val="00628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ACE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817</Words>
  <Application>Microsoft Macintosh PowerPoint</Application>
  <PresentationFormat>On-screen Show (16:9)</PresentationFormat>
  <Paragraphs>133</Paragraphs>
  <Slides>15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Ubuntu</vt:lpstr>
      <vt:lpstr>Ubuntu Condensed</vt:lpstr>
      <vt:lpstr>Courier New</vt:lpstr>
      <vt:lpstr>Cairo</vt:lpstr>
      <vt:lpstr>Arial</vt:lpstr>
      <vt:lpstr>Implementation of the 5S Technique Project Proposal by Slidesgo</vt:lpstr>
      <vt:lpstr>CourseGenie+: Centralized Academic Workflow Automation</vt:lpstr>
      <vt:lpstr>Motivation</vt:lpstr>
      <vt:lpstr>Problem Statement</vt:lpstr>
      <vt:lpstr>Project Objectives</vt:lpstr>
      <vt:lpstr>Literature Review Themes</vt:lpstr>
      <vt:lpstr>Requirements Elicitation Methods</vt:lpstr>
      <vt:lpstr>Requirements Elicitation Methods (Cont.)</vt:lpstr>
      <vt:lpstr>Project Scope</vt:lpstr>
      <vt:lpstr>Expected Project Risks</vt:lpstr>
      <vt:lpstr>Development Methodology</vt:lpstr>
      <vt:lpstr>Stakeholders</vt:lpstr>
      <vt:lpstr>Requirements</vt:lpstr>
      <vt:lpstr>Milestones</vt:lpstr>
      <vt:lpstr>Roles and Responsibilities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Jeeda Kotob</cp:lastModifiedBy>
  <cp:revision>44</cp:revision>
  <dcterms:modified xsi:type="dcterms:W3CDTF">2025-10-23T13:57:51Z</dcterms:modified>
</cp:coreProperties>
</file>