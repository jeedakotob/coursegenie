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y="5143500" cx="9144000"/>
  <p:notesSz cx="6858000" cy="9144000"/>
  <p:embeddedFontLst>
    <p:embeddedFont>
      <p:font typeface="Ubuntu"/>
      <p:regular r:id="rId36"/>
      <p:bold r:id="rId37"/>
      <p:italic r:id="rId38"/>
      <p:boldItalic r:id="rId39"/>
    </p:embeddedFont>
    <p:embeddedFont>
      <p:font typeface="Ubuntu Condensed"/>
      <p:regular r:id="rId40"/>
    </p:embeddedFont>
    <p:embeddedFont>
      <p:font typeface="Cairo"/>
      <p:regular r:id="rId41"/>
      <p:bold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6D4ECC-2E9A-4D92-8BDE-3A10419CA156}">
  <a:tblStyle styleId="{726D4ECC-2E9A-4D92-8BDE-3A10419CA1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FE487423-8152-41B6-B0DC-3F3956A23978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A75029E4-43CB-49BD-968D-FCFBB625835D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UbuntuCondensed-regular.fntdata"/><Relationship Id="rId20" Type="http://schemas.openxmlformats.org/officeDocument/2006/relationships/slide" Target="slides/slide15.xml"/><Relationship Id="rId42" Type="http://schemas.openxmlformats.org/officeDocument/2006/relationships/font" Target="fonts/Cairo-bold.fntdata"/><Relationship Id="rId41" Type="http://schemas.openxmlformats.org/officeDocument/2006/relationships/font" Target="fonts/Cairo-regular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Ubuntu-bold.fntdata"/><Relationship Id="rId14" Type="http://schemas.openxmlformats.org/officeDocument/2006/relationships/slide" Target="slides/slide9.xml"/><Relationship Id="rId36" Type="http://schemas.openxmlformats.org/officeDocument/2006/relationships/font" Target="fonts/Ubuntu-regular.fntdata"/><Relationship Id="rId17" Type="http://schemas.openxmlformats.org/officeDocument/2006/relationships/slide" Target="slides/slide12.xml"/><Relationship Id="rId39" Type="http://schemas.openxmlformats.org/officeDocument/2006/relationships/font" Target="fonts/Ubuntu-boldItalic.fntdata"/><Relationship Id="rId16" Type="http://schemas.openxmlformats.org/officeDocument/2006/relationships/slide" Target="slides/slide11.xml"/><Relationship Id="rId38" Type="http://schemas.openxmlformats.org/officeDocument/2006/relationships/font" Target="fonts/Ubuntu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0" name="Google Shape;32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 amt="15000"/>
          </a:blip>
          <a:srcRect b="0" l="0" r="0" t="0"/>
          <a:stretch/>
        </p:blipFill>
        <p:spPr>
          <a:xfrm>
            <a:off x="0" y="26517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idx="1" type="subTitle"/>
          </p:nvPr>
        </p:nvSpPr>
        <p:spPr>
          <a:xfrm rot="-628">
            <a:off x="719999" y="3269922"/>
            <a:ext cx="3286200" cy="4263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/>
          <p:nvPr>
            <p:ph idx="2" type="pic"/>
          </p:nvPr>
        </p:nvSpPr>
        <p:spPr>
          <a:xfrm>
            <a:off x="5767925" y="431200"/>
            <a:ext cx="2931600" cy="17409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2"/>
          <p:cNvSpPr/>
          <p:nvPr>
            <p:ph idx="3" type="pic"/>
          </p:nvPr>
        </p:nvSpPr>
        <p:spPr>
          <a:xfrm>
            <a:off x="5767925" y="2362725"/>
            <a:ext cx="2931600" cy="23496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" name="Google Shape;14;p2"/>
          <p:cNvSpPr/>
          <p:nvPr/>
        </p:nvSpPr>
        <p:spPr>
          <a:xfrm>
            <a:off x="0" y="4984750"/>
            <a:ext cx="857400" cy="15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3"/>
          <p:cNvPicPr preferRelativeResize="0"/>
          <p:nvPr/>
        </p:nvPicPr>
        <p:blipFill rotWithShape="1">
          <a:blip r:embed="rId2">
            <a:alphaModFix amt="14000"/>
          </a:blip>
          <a:srcRect b="0" l="0" r="0" t="0"/>
          <a:stretch/>
        </p:blipFill>
        <p:spPr>
          <a:xfrm>
            <a:off x="0" y="27432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" type="body"/>
          </p:nvPr>
        </p:nvSpPr>
        <p:spPr>
          <a:xfrm>
            <a:off x="720000" y="1237075"/>
            <a:ext cx="3852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200">
                <a:solidFill>
                  <a:srgbClr val="434343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2" type="body"/>
          </p:nvPr>
        </p:nvSpPr>
        <p:spPr>
          <a:xfrm>
            <a:off x="4572000" y="1237075"/>
            <a:ext cx="3852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200">
                <a:solidFill>
                  <a:srgbClr val="434343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/15</a:t>
            </a:r>
            <a:endParaRPr/>
          </a:p>
        </p:txBody>
      </p:sp>
      <p:sp>
        <p:nvSpPr>
          <p:cNvPr id="23" name="Google Shape;23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434343"/>
                </a:solidFill>
              </a:defRPr>
            </a:lvl1pPr>
            <a:lvl2pPr lvl="1">
              <a:buNone/>
              <a:defRPr>
                <a:solidFill>
                  <a:srgbClr val="434343"/>
                </a:solidFill>
              </a:defRPr>
            </a:lvl2pPr>
            <a:lvl3pPr lvl="2">
              <a:buNone/>
              <a:defRPr>
                <a:solidFill>
                  <a:srgbClr val="434343"/>
                </a:solidFill>
              </a:defRPr>
            </a:lvl3pPr>
            <a:lvl4pPr lvl="3">
              <a:buNone/>
              <a:defRPr>
                <a:solidFill>
                  <a:srgbClr val="434343"/>
                </a:solidFill>
              </a:defRPr>
            </a:lvl4pPr>
            <a:lvl5pPr lvl="4">
              <a:buNone/>
              <a:defRPr>
                <a:solidFill>
                  <a:srgbClr val="434343"/>
                </a:solidFill>
              </a:defRPr>
            </a:lvl5pPr>
            <a:lvl6pPr lvl="5">
              <a:buNone/>
              <a:defRPr>
                <a:solidFill>
                  <a:srgbClr val="434343"/>
                </a:solidFill>
              </a:defRPr>
            </a:lvl6pPr>
            <a:lvl7pPr lvl="6">
              <a:buNone/>
              <a:defRPr>
                <a:solidFill>
                  <a:srgbClr val="434343"/>
                </a:solidFill>
              </a:defRPr>
            </a:lvl7pPr>
            <a:lvl8pPr lvl="7">
              <a:buNone/>
              <a:defRPr>
                <a:solidFill>
                  <a:srgbClr val="434343"/>
                </a:solidFill>
              </a:defRPr>
            </a:lvl8pPr>
            <a:lvl9pPr lvl="8">
              <a:buNone/>
              <a:defRPr>
                <a:solidFill>
                  <a:srgbClr val="43434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4"/>
          <p:cNvPicPr preferRelativeResize="0"/>
          <p:nvPr/>
        </p:nvPicPr>
        <p:blipFill rotWithShape="1">
          <a:blip r:embed="rId2">
            <a:alphaModFix amt="15000"/>
          </a:blip>
          <a:srcRect b="0" l="0" r="0" t="0"/>
          <a:stretch/>
        </p:blipFill>
        <p:spPr>
          <a:xfrm>
            <a:off x="4750" y="-467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2" type="title"/>
          </p:nvPr>
        </p:nvSpPr>
        <p:spPr>
          <a:xfrm>
            <a:off x="720000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720000" y="2577766"/>
            <a:ext cx="23364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3" type="title"/>
          </p:nvPr>
        </p:nvSpPr>
        <p:spPr>
          <a:xfrm>
            <a:off x="3403748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4"/>
          <p:cNvSpPr txBox="1"/>
          <p:nvPr>
            <p:ph idx="4" type="subTitle"/>
          </p:nvPr>
        </p:nvSpPr>
        <p:spPr>
          <a:xfrm>
            <a:off x="3403800" y="2577766"/>
            <a:ext cx="23364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5" type="title"/>
          </p:nvPr>
        </p:nvSpPr>
        <p:spPr>
          <a:xfrm>
            <a:off x="6087496" y="2154825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4"/>
          <p:cNvSpPr txBox="1"/>
          <p:nvPr>
            <p:ph idx="6" type="subTitle"/>
          </p:nvPr>
        </p:nvSpPr>
        <p:spPr>
          <a:xfrm>
            <a:off x="6087600" y="2577766"/>
            <a:ext cx="23364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/15</a:t>
            </a:r>
            <a:endParaRPr/>
          </a:p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5"/>
          <p:cNvPicPr preferRelativeResize="0"/>
          <p:nvPr/>
        </p:nvPicPr>
        <p:blipFill rotWithShape="1">
          <a:blip r:embed="rId2">
            <a:alphaModFix amt="15000"/>
          </a:blip>
          <a:srcRect b="0" l="0" r="0" t="0"/>
          <a:stretch/>
        </p:blipFill>
        <p:spPr>
          <a:xfrm>
            <a:off x="0" y="15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5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title"/>
          </p:nvPr>
        </p:nvSpPr>
        <p:spPr>
          <a:xfrm>
            <a:off x="720000" y="1416150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5"/>
          <p:cNvSpPr txBox="1"/>
          <p:nvPr>
            <p:ph idx="1" type="subTitle"/>
          </p:nvPr>
        </p:nvSpPr>
        <p:spPr>
          <a:xfrm>
            <a:off x="720000" y="1840750"/>
            <a:ext cx="2493000" cy="10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3" type="title"/>
          </p:nvPr>
        </p:nvSpPr>
        <p:spPr>
          <a:xfrm>
            <a:off x="3325485" y="1416150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1" name="Google Shape;41;p5"/>
          <p:cNvSpPr txBox="1"/>
          <p:nvPr>
            <p:ph idx="4" type="subTitle"/>
          </p:nvPr>
        </p:nvSpPr>
        <p:spPr>
          <a:xfrm>
            <a:off x="3325485" y="1840750"/>
            <a:ext cx="2493000" cy="10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5" type="title"/>
          </p:nvPr>
        </p:nvSpPr>
        <p:spPr>
          <a:xfrm>
            <a:off x="720000" y="3224525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3" name="Google Shape;43;p5"/>
          <p:cNvSpPr txBox="1"/>
          <p:nvPr>
            <p:ph idx="6" type="subTitle"/>
          </p:nvPr>
        </p:nvSpPr>
        <p:spPr>
          <a:xfrm>
            <a:off x="720000" y="3649125"/>
            <a:ext cx="24930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7" type="title"/>
          </p:nvPr>
        </p:nvSpPr>
        <p:spPr>
          <a:xfrm>
            <a:off x="3325485" y="3224525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5" name="Google Shape;45;p5"/>
          <p:cNvSpPr txBox="1"/>
          <p:nvPr>
            <p:ph idx="8" type="subTitle"/>
          </p:nvPr>
        </p:nvSpPr>
        <p:spPr>
          <a:xfrm>
            <a:off x="3325486" y="3649125"/>
            <a:ext cx="24930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9" type="title"/>
          </p:nvPr>
        </p:nvSpPr>
        <p:spPr>
          <a:xfrm>
            <a:off x="5930951" y="1416150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7" name="Google Shape;47;p5"/>
          <p:cNvSpPr txBox="1"/>
          <p:nvPr>
            <p:ph idx="13" type="subTitle"/>
          </p:nvPr>
        </p:nvSpPr>
        <p:spPr>
          <a:xfrm>
            <a:off x="5930952" y="1840750"/>
            <a:ext cx="2493000" cy="10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idx="14" type="title"/>
          </p:nvPr>
        </p:nvSpPr>
        <p:spPr>
          <a:xfrm>
            <a:off x="5930951" y="3224525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9" name="Google Shape;49;p5"/>
          <p:cNvSpPr txBox="1"/>
          <p:nvPr>
            <p:ph idx="15" type="subTitle"/>
          </p:nvPr>
        </p:nvSpPr>
        <p:spPr>
          <a:xfrm>
            <a:off x="5930953" y="3649125"/>
            <a:ext cx="24930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"/>
          <p:cNvSpPr/>
          <p:nvPr/>
        </p:nvSpPr>
        <p:spPr>
          <a:xfrm>
            <a:off x="7400925" y="0"/>
            <a:ext cx="642900" cy="15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5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/15</a:t>
            </a:r>
            <a:endParaRPr/>
          </a:p>
        </p:txBody>
      </p:sp>
      <p:sp>
        <p:nvSpPr>
          <p:cNvPr id="52" name="Google Shape;52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6"/>
          <p:cNvPicPr preferRelativeResize="0"/>
          <p:nvPr/>
        </p:nvPicPr>
        <p:blipFill rotWithShape="1">
          <a:blip r:embed="rId2">
            <a:alphaModFix amt="15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6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/15</a:t>
            </a:r>
            <a:endParaRPr/>
          </a:p>
        </p:txBody>
      </p:sp>
      <p:sp>
        <p:nvSpPr>
          <p:cNvPr id="57" name="Google Shape;57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"/>
          <p:cNvSpPr txBox="1"/>
          <p:nvPr>
            <p:ph type="title"/>
          </p:nvPr>
        </p:nvSpPr>
        <p:spPr>
          <a:xfrm>
            <a:off x="1789200" y="919200"/>
            <a:ext cx="5565600" cy="136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60" name="Google Shape;60;p7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/15</a:t>
            </a:r>
            <a:endParaRPr/>
          </a:p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type="title"/>
          </p:nvPr>
        </p:nvSpPr>
        <p:spPr>
          <a:xfrm>
            <a:off x="1131850" y="1294750"/>
            <a:ext cx="4162800" cy="11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8"/>
          <p:cNvSpPr txBox="1"/>
          <p:nvPr>
            <p:ph idx="1" type="subTitle"/>
          </p:nvPr>
        </p:nvSpPr>
        <p:spPr>
          <a:xfrm>
            <a:off x="1442600" y="2589925"/>
            <a:ext cx="3541200" cy="12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/>
          <p:nvPr>
            <p:ph idx="2" type="pic"/>
          </p:nvPr>
        </p:nvSpPr>
        <p:spPr>
          <a:xfrm>
            <a:off x="-7650" y="-7650"/>
            <a:ext cx="9159300" cy="5158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 txBox="1"/>
          <p:nvPr>
            <p:ph type="title"/>
          </p:nvPr>
        </p:nvSpPr>
        <p:spPr>
          <a:xfrm>
            <a:off x="720000" y="4000500"/>
            <a:ext cx="77040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1"/>
          <p:cNvPicPr preferRelativeResize="0"/>
          <p:nvPr/>
        </p:nvPicPr>
        <p:blipFill rotWithShape="1">
          <a:blip r:embed="rId2">
            <a:alphaModFix amt="14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1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/15</a:t>
            </a:r>
            <a:endParaRPr/>
          </a:p>
        </p:txBody>
      </p:sp>
      <p:sp>
        <p:nvSpPr>
          <p:cNvPr id="75" name="Google Shape;75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2"/>
          <p:cNvPicPr preferRelativeResize="0"/>
          <p:nvPr/>
        </p:nvPicPr>
        <p:blipFill rotWithShape="1">
          <a:blip r:embed="rId2">
            <a:alphaModFix amt="15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2"/>
          <p:cNvSpPr/>
          <p:nvPr/>
        </p:nvSpPr>
        <p:spPr>
          <a:xfrm>
            <a:off x="0" y="0"/>
            <a:ext cx="1124100" cy="15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/>
        </p:nvSpPr>
        <p:spPr>
          <a:xfrm>
            <a:off x="8044019" y="4756323"/>
            <a:ext cx="98456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Slide </a:t>
            </a:r>
            <a:fld id="{00000000-1234-1234-1234-123412341234}" type="slidenum"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‹#›</a:t>
            </a:fld>
            <a:r>
              <a:rPr b="0" i="0" lang="en-US" sz="1200" u="none" cap="none" strike="noStrike">
                <a:solidFill>
                  <a:srgbClr val="58585B"/>
                </a:solidFill>
                <a:latin typeface="Ubuntu"/>
                <a:ea typeface="Ubuntu"/>
                <a:cs typeface="Ubuntu"/>
                <a:sym typeface="Ubuntu"/>
              </a:rPr>
              <a:t>/15</a:t>
            </a:r>
            <a:endParaRPr/>
          </a:p>
        </p:txBody>
      </p:sp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Ubuntu Condensed"/>
              <a:buNone/>
              <a:defRPr b="1" i="0" sz="35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b="1" i="0" sz="31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b="1" i="0" sz="31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b="1" i="0" sz="31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b="1" i="0" sz="31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b="1" i="0" sz="31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b="1" i="0" sz="31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b="1" i="0" sz="31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Ubuntu Condensed"/>
              <a:buNone/>
              <a:defRPr b="1" i="0" sz="31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20000" y="1237083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■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■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●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Char char="○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airo"/>
              <a:buChar char="■"/>
              <a:defRPr b="0" i="0" sz="14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40">
          <p15:clr>
            <a:srgbClr val="EA4335"/>
          </p15:clr>
        </p15:guide>
        <p15:guide id="2" pos="454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06">
          <p15:clr>
            <a:srgbClr val="EA4335"/>
          </p15:clr>
        </p15:guide>
        <p15:guide id="5" orient="horz" pos="1620">
          <p15:clr>
            <a:srgbClr val="EA4335"/>
          </p15:clr>
        </p15:guide>
        <p15:guide id="6" pos="288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jpg"/><Relationship Id="rId4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8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4294967295" type="ctrTitle"/>
          </p:nvPr>
        </p:nvSpPr>
        <p:spPr>
          <a:xfrm>
            <a:off x="720000" y="829550"/>
            <a:ext cx="4666800" cy="23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4600" u="none" cap="none" strike="noStrike">
                <a:solidFill>
                  <a:srgbClr val="00ADEF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CourseGenie</a:t>
            </a:r>
            <a:r>
              <a:rPr b="1" i="0" lang="en-US" sz="4600" u="none" cap="none" strike="noStrike">
                <a:solidFill>
                  <a:srgbClr val="FFC000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+</a:t>
            </a:r>
            <a:r>
              <a:rPr b="1" i="0" lang="en-US" sz="46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:</a:t>
            </a:r>
            <a:r>
              <a:rPr b="1" i="0" lang="en-US" sz="4600" u="none" cap="none" strike="noStrike">
                <a:solidFill>
                  <a:srgbClr val="00ADEF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 </a:t>
            </a:r>
            <a:r>
              <a:rPr b="1" i="0" lang="en-US" sz="3800" u="none" cap="none" strike="noStrike">
                <a:solidFill>
                  <a:schemeClr val="dk1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Centralized Academic Workflow Automation</a:t>
            </a:r>
            <a:endParaRPr b="1" i="0" sz="3800" u="none" cap="none" strike="noStrike">
              <a:solidFill>
                <a:schemeClr val="dk1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cxnSp>
        <p:nvCxnSpPr>
          <p:cNvPr id="86" name="Google Shape;86;p13"/>
          <p:cNvCxnSpPr/>
          <p:nvPr/>
        </p:nvCxnSpPr>
        <p:spPr>
          <a:xfrm>
            <a:off x="0" y="33972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13"/>
          <p:cNvSpPr txBox="1"/>
          <p:nvPr/>
        </p:nvSpPr>
        <p:spPr>
          <a:xfrm>
            <a:off x="720000" y="3144399"/>
            <a:ext cx="3526971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Team Members: Jeeda Kotob, Ryma Ait Tayeb, Ibraheem Mustafa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Deliverable 2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Mentors: Dr. Ali Assi &amp; Mr.Qusai Hassan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November 2025</a:t>
            </a:r>
            <a:endParaRPr/>
          </a:p>
        </p:txBody>
      </p:sp>
      <p:pic>
        <p:nvPicPr>
          <p:cNvPr id="88" name="Google Shape;8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06800" y="1236083"/>
            <a:ext cx="2660233" cy="266023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Motivation</a:t>
            </a:r>
            <a:endParaRPr/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720000" y="1374727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Faculty and administrators spend significant time on repetitive academic tasks such as:</a:t>
            </a:r>
            <a:endParaRPr/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Preparing Course Assessment Reports (CAR)</a:t>
            </a:r>
            <a:endParaRPr/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Extracting and analyzing student grade statistics</a:t>
            </a:r>
            <a:endParaRPr/>
          </a:p>
          <a:p>
            <a:pPr indent="-3175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</a:pPr>
            <a:r>
              <a:rPr lang="en-US" sz="12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Preparing course peer-review reports.  </a:t>
            </a:r>
            <a:endParaRPr/>
          </a:p>
          <a:p>
            <a:pPr indent="0" lvl="0" marL="1397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Because these tasks are done manually, they reduce valuable time for teaching and research. CourseGenie+ streamlines these processes through automation and centralized dashboards, improving efficiency across the academic workflow.</a:t>
            </a:r>
            <a:endParaRPr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" name="Google Shape;9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Problem Statement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04" name="Google Shape;104;p15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Current LMS (MyCourses) lack automation and reporting features</a:t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Faculty and admins face repetitive, manual tasks (syllabus, CARs, rubrics, CLO-PLO mapping, exam logistics)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Current methods rely on emails, spreadsheets and other external tools.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Result: delays, inefficiencies, and reporting difficulties.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Need: A centralized, automated platform to streamline academic workflows.</a:t>
            </a:r>
            <a:endParaRPr/>
          </a:p>
        </p:txBody>
      </p:sp>
      <p:pic>
        <p:nvPicPr>
          <p:cNvPr id="106" name="Google Shape;10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Project Objectives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Automate and centralize repetitive academic tasks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Provide professor dashboards for course management, assessments, rubrics, CAR files, syllabus generation, etc.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Provide admin dashboard for course section management, CAR file collection, syllabus management, etc.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Enhance analytics and visualizations of statistics.</a:t>
            </a:r>
            <a:endParaRPr/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Literature Review Themes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22" name="Google Shape;122;p17"/>
          <p:cNvSpPr txBox="1"/>
          <p:nvPr>
            <p:ph idx="2" type="title"/>
          </p:nvPr>
        </p:nvSpPr>
        <p:spPr>
          <a:xfrm>
            <a:off x="480164" y="1344838"/>
            <a:ext cx="3852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>
                <a:solidFill>
                  <a:srgbClr val="D69535"/>
                </a:solidFill>
                <a:latin typeface="Ubuntu"/>
                <a:ea typeface="Ubuntu"/>
                <a:cs typeface="Ubuntu"/>
                <a:sym typeface="Ubuntu"/>
              </a:rPr>
              <a:t>Core Features &amp; Comparisons</a:t>
            </a:r>
            <a:endParaRPr>
              <a:solidFill>
                <a:srgbClr val="D69535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23" name="Google Shape;123;p17"/>
          <p:cNvSpPr txBox="1"/>
          <p:nvPr>
            <p:ph idx="1" type="subTitle"/>
          </p:nvPr>
        </p:nvSpPr>
        <p:spPr>
          <a:xfrm>
            <a:off x="720000" y="1840750"/>
            <a:ext cx="3230208" cy="10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latin typeface="Ubuntu"/>
                <a:ea typeface="Ubuntu"/>
                <a:cs typeface="Ubuntu"/>
                <a:sym typeface="Ubuntu"/>
              </a:rPr>
              <a:t>Most LMSs share a toolkit of common features, but differ in usability and workflows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24" name="Google Shape;124;p17"/>
          <p:cNvSpPr txBox="1"/>
          <p:nvPr>
            <p:ph idx="3" type="title"/>
          </p:nvPr>
        </p:nvSpPr>
        <p:spPr>
          <a:xfrm>
            <a:off x="6131161" y="2973576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>
                <a:solidFill>
                  <a:srgbClr val="D69535"/>
                </a:solidFill>
                <a:latin typeface="Ubuntu"/>
                <a:ea typeface="Ubuntu"/>
                <a:cs typeface="Ubuntu"/>
                <a:sym typeface="Ubuntu"/>
              </a:rPr>
              <a:t>Gaps &amp; Limitations</a:t>
            </a:r>
            <a:endParaRPr>
              <a:solidFill>
                <a:srgbClr val="D69535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25" name="Google Shape;125;p17"/>
          <p:cNvSpPr txBox="1"/>
          <p:nvPr>
            <p:ph idx="4" type="subTitle"/>
          </p:nvPr>
        </p:nvSpPr>
        <p:spPr>
          <a:xfrm>
            <a:off x="6027822" y="3546525"/>
            <a:ext cx="2699678" cy="10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latin typeface="Ubuntu"/>
                <a:ea typeface="Ubuntu"/>
                <a:cs typeface="Ubuntu"/>
                <a:sym typeface="Ubuntu"/>
              </a:rPr>
              <a:t>Advanced features are often underutilized, either due to poor fit with teaching practices or usage complexity.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26" name="Google Shape;126;p17"/>
          <p:cNvSpPr txBox="1"/>
          <p:nvPr>
            <p:ph idx="5" type="title"/>
          </p:nvPr>
        </p:nvSpPr>
        <p:spPr>
          <a:xfrm>
            <a:off x="153374" y="2972225"/>
            <a:ext cx="314658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-US">
                <a:solidFill>
                  <a:srgbClr val="D69535"/>
                </a:solidFill>
                <a:latin typeface="Ubuntu"/>
                <a:ea typeface="Ubuntu"/>
                <a:cs typeface="Ubuntu"/>
                <a:sym typeface="Ubuntu"/>
              </a:rPr>
              <a:t>Accreditation</a:t>
            </a:r>
            <a:endParaRPr>
              <a:solidFill>
                <a:srgbClr val="D69535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27" name="Google Shape;127;p17"/>
          <p:cNvSpPr txBox="1"/>
          <p:nvPr>
            <p:ph idx="6" type="subTitle"/>
          </p:nvPr>
        </p:nvSpPr>
        <p:spPr>
          <a:xfrm>
            <a:off x="480164" y="3546525"/>
            <a:ext cx="24930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latin typeface="Ubuntu"/>
                <a:ea typeface="Ubuntu"/>
                <a:cs typeface="Ubuntu"/>
                <a:sym typeface="Ubuntu"/>
              </a:rPr>
              <a:t>Manual reporting slows compliance, which requires automation work.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28" name="Google Shape;128;p17"/>
          <p:cNvSpPr txBox="1"/>
          <p:nvPr>
            <p:ph idx="7" type="title"/>
          </p:nvPr>
        </p:nvSpPr>
        <p:spPr>
          <a:xfrm>
            <a:off x="3253993" y="2954879"/>
            <a:ext cx="2493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-US">
                <a:solidFill>
                  <a:srgbClr val="D69535"/>
                </a:solidFill>
                <a:latin typeface="Ubuntu"/>
                <a:ea typeface="Ubuntu"/>
                <a:cs typeface="Ubuntu"/>
                <a:sym typeface="Ubuntu"/>
              </a:rPr>
              <a:t>Peer Review</a:t>
            </a:r>
            <a:endParaRPr>
              <a:solidFill>
                <a:srgbClr val="D69535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29" name="Google Shape;129;p17"/>
          <p:cNvSpPr txBox="1"/>
          <p:nvPr>
            <p:ph idx="8" type="subTitle"/>
          </p:nvPr>
        </p:nvSpPr>
        <p:spPr>
          <a:xfrm>
            <a:off x="3253993" y="3538500"/>
            <a:ext cx="24930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latin typeface="Ubuntu"/>
                <a:ea typeface="Ubuntu"/>
                <a:cs typeface="Ubuntu"/>
                <a:sym typeface="Ubuntu"/>
              </a:rPr>
              <a:t>No standardization in review forms and processes, digital tools can improve quality and ensure consistency.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30" name="Google Shape;130;p17"/>
          <p:cNvSpPr txBox="1"/>
          <p:nvPr>
            <p:ph idx="9" type="title"/>
          </p:nvPr>
        </p:nvSpPr>
        <p:spPr>
          <a:xfrm>
            <a:off x="5081454" y="1344838"/>
            <a:ext cx="3646046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-US">
                <a:solidFill>
                  <a:srgbClr val="D69535"/>
                </a:solidFill>
                <a:latin typeface="Ubuntu"/>
                <a:ea typeface="Ubuntu"/>
                <a:cs typeface="Ubuntu"/>
                <a:sym typeface="Ubuntu"/>
              </a:rPr>
              <a:t>Visualizations and Analytics</a:t>
            </a:r>
            <a:endParaRPr>
              <a:solidFill>
                <a:srgbClr val="D69535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31" name="Google Shape;131;p17"/>
          <p:cNvSpPr txBox="1"/>
          <p:nvPr>
            <p:ph idx="13" type="subTitle"/>
          </p:nvPr>
        </p:nvSpPr>
        <p:spPr>
          <a:xfrm>
            <a:off x="5289373" y="1872538"/>
            <a:ext cx="3230208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latin typeface="Ubuntu"/>
                <a:ea typeface="Ubuntu"/>
                <a:cs typeface="Ubuntu"/>
                <a:sym typeface="Ubuntu"/>
              </a:rPr>
              <a:t>Dashboards are needed but often too complex and unutilized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32" name="Google Shape;13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8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Requirements Elicitation Methods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8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Brainstorming with team and mentors.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Interviews with professors and admin staff.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Observation of CourseGenie phase1 and MyCourses workflows</a:t>
            </a:r>
            <a:endParaRPr/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41" name="Google Shape;14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Requirements Elicitation Methods (Cont.)</a:t>
            </a:r>
            <a:endParaRPr>
              <a:solidFill>
                <a:schemeClr val="lt2"/>
              </a:solidFill>
            </a:endParaRPr>
          </a:p>
        </p:txBody>
      </p:sp>
      <p:graphicFrame>
        <p:nvGraphicFramePr>
          <p:cNvPr id="148" name="Google Shape;148;p19"/>
          <p:cNvGraphicFramePr/>
          <p:nvPr/>
        </p:nvGraphicFramePr>
        <p:xfrm>
          <a:off x="719962" y="13135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261775"/>
                <a:gridCol w="5536100"/>
              </a:tblGrid>
              <a:tr h="628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Interviewees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Description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025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-US" sz="1400" u="none" cap="none" strike="noStrike">
                          <a:solidFill>
                            <a:srgbClr val="D69535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Professors</a:t>
                      </a:r>
                      <a:endParaRPr b="1" i="0" sz="1400" u="none" cap="none" strike="noStrike">
                        <a:solidFill>
                          <a:srgbClr val="D69535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139700" marR="0" rtl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Weekly mentor interviews identified MyCourses limitations and suggested professor-focused enhancements.</a:t>
                      </a:r>
                      <a:endParaRPr b="0" i="0" sz="1200" u="none" cap="none" strike="noStrike">
                        <a:solidFill>
                          <a:schemeClr val="dk1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19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-US" sz="1400" u="none" cap="none" strike="noStrike">
                          <a:solidFill>
                            <a:srgbClr val="D69535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Institutional Effectiveness Manager </a:t>
                      </a:r>
                      <a:endParaRPr b="1" i="0" sz="1400" u="none" cap="none" strike="noStrike">
                        <a:solidFill>
                          <a:srgbClr val="D69535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139700" marR="0" rtl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Interview with Ms. Castelino emphasized need for admin dashboard, syllabus tracking, CAR files management, and peer review process tracking.</a:t>
                      </a:r>
                      <a:endParaRPr b="0" i="0" sz="1200" u="none" cap="none" strike="noStrike">
                        <a:solidFill>
                          <a:schemeClr val="dk1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49" name="Google Shape;149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Project Scope</a:t>
            </a:r>
            <a:endParaRPr/>
          </a:p>
        </p:txBody>
      </p:sp>
      <p:sp>
        <p:nvSpPr>
          <p:cNvPr id="155" name="Google Shape;155;p20"/>
          <p:cNvSpPr txBox="1"/>
          <p:nvPr>
            <p:ph idx="1" type="body"/>
          </p:nvPr>
        </p:nvSpPr>
        <p:spPr>
          <a:xfrm>
            <a:off x="720000" y="1237200"/>
            <a:ext cx="3852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rPr>
              <a:t>Included Scope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800">
              <a:solidFill>
                <a:schemeClr val="dk2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Professor dashboards (syllabus, rubric, CAR files, grade analytics, course peer-review).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Admin dashboards (syllabus collection, CAR tracking, exam logistics, oversight).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Analytics and reporting</a:t>
            </a: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 tools.</a:t>
            </a:r>
            <a:endParaRPr b="0" i="0" sz="1400" u="none" cap="none" strike="noStrike">
              <a:solidFill>
                <a:srgbClr val="232325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</a:pPr>
            <a:r>
              <a:t/>
            </a:r>
            <a:endParaRPr sz="800">
              <a:solidFill>
                <a:schemeClr val="dk2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56" name="Google Shape;156;p20"/>
          <p:cNvSpPr txBox="1"/>
          <p:nvPr>
            <p:ph idx="2" type="body"/>
          </p:nvPr>
        </p:nvSpPr>
        <p:spPr>
          <a:xfrm>
            <a:off x="4572000" y="1214829"/>
            <a:ext cx="3852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iro"/>
              <a:buNone/>
            </a:pPr>
            <a:r>
              <a:rPr b="1" i="0" lang="en-US" sz="18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Excluded Scope</a:t>
            </a:r>
            <a:endParaRPr b="0" i="0" sz="8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Student-side features (assignment submission, attendance, course content, etc.)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Integration with MyCourses and university database (due to restricted access).</a:t>
            </a:r>
            <a:endParaRPr/>
          </a:p>
          <a:p>
            <a:pPr indent="0" lvl="0" marL="1397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57" name="Google Shape;15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1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Expected Project Risks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64" name="Google Shape;164;p21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1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Technical Skills: Limited prior knowledge and experience with Spring Boot.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Time: Strict capstone deadlines along with academic workload.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Access: No integration with MyCourses data.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Learning curve: Adapting to Agile + new tools as a team.</a:t>
            </a:r>
            <a:endParaRPr/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66" name="Google Shape;16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Development Methodology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73" name="Google Shape;173;p22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2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Agile Scrum approach.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Work divided into sprints (approx. 1 month each) with clear milestones.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Weekly team meetings with mentor feedback.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Incremental feature delivery with testing at finalization of each sprint.</a:t>
            </a:r>
            <a:endParaRPr/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75" name="Google Shape;17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Stakeholders</a:t>
            </a:r>
            <a:endParaRPr>
              <a:solidFill>
                <a:schemeClr val="lt2"/>
              </a:solidFill>
            </a:endParaRPr>
          </a:p>
        </p:txBody>
      </p:sp>
      <p:graphicFrame>
        <p:nvGraphicFramePr>
          <p:cNvPr id="182" name="Google Shape;182;p23"/>
          <p:cNvGraphicFramePr/>
          <p:nvPr/>
        </p:nvGraphicFramePr>
        <p:xfrm>
          <a:off x="719962" y="131353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332175"/>
                <a:gridCol w="5708400"/>
              </a:tblGrid>
              <a:tr h="499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dk1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Stakeholder</a:t>
                      </a:r>
                      <a:endParaRPr b="1" sz="1200" u="none" cap="none" strike="noStrike">
                        <a:solidFill>
                          <a:schemeClr val="dk1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dk1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Interest</a:t>
                      </a:r>
                      <a:endParaRPr b="1" sz="1200" u="none" cap="none" strike="noStrike">
                        <a:solidFill>
                          <a:schemeClr val="dk1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972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2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Primary Stakeholders</a:t>
                      </a:r>
                      <a:endParaRPr b="1" sz="1200" u="none" cap="none" strike="noStrike">
                        <a:solidFill>
                          <a:schemeClr val="lt2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580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D69535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Professors</a:t>
                      </a:r>
                      <a:endParaRPr b="1" i="0" sz="1200" u="none" cap="none" strike="noStrike">
                        <a:solidFill>
                          <a:srgbClr val="D69535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1397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Use dashbaords for task automations (syllabus, CAR files, assessment  generations, etc.)</a:t>
                      </a:r>
                      <a:endParaRPr/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02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D69535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Administrators</a:t>
                      </a:r>
                      <a:endParaRPr b="1" sz="1200" u="none" cap="none" strike="noStrike">
                        <a:solidFill>
                          <a:srgbClr val="D69535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1397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Track submissions, manage sections, collect files, and other tasks through dashbaord</a:t>
                      </a:r>
                      <a:endParaRPr b="0" i="0" sz="1200" u="none" cap="none" strike="noStrike">
                        <a:solidFill>
                          <a:srgbClr val="000000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132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2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Primary Stakeholders</a:t>
                      </a:r>
                      <a:endParaRPr/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645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D69535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Accreditation Bodies (e.g., KHDA)</a:t>
                      </a:r>
                      <a:endParaRPr/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1397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000000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Requirement of more accurate and transparent reportings.</a:t>
                      </a:r>
                      <a:endParaRPr/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pic>
        <p:nvPicPr>
          <p:cNvPr id="183" name="Google Shape;18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4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Requirements</a:t>
            </a:r>
            <a:endParaRPr/>
          </a:p>
        </p:txBody>
      </p:sp>
      <p:sp>
        <p:nvSpPr>
          <p:cNvPr id="190" name="Google Shape;190;p24"/>
          <p:cNvSpPr txBox="1"/>
          <p:nvPr>
            <p:ph idx="1" type="body"/>
          </p:nvPr>
        </p:nvSpPr>
        <p:spPr>
          <a:xfrm>
            <a:off x="720000" y="1237075"/>
            <a:ext cx="3852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i="0" lang="en-US" sz="1800" u="none" cap="none" strike="noStrik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rPr>
              <a:t>Functional 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800">
              <a:solidFill>
                <a:schemeClr val="dk2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Syllabus tracking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Assessment/rubric management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CAR file generation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Exam scheduling &amp; room assignment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Analytics Dashboard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Course and sections management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Course </a:t>
            </a: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peer review</a:t>
            </a:r>
            <a:endParaRPr b="0" i="0" sz="1400" u="none" cap="none" strike="noStrike">
              <a:solidFill>
                <a:srgbClr val="232325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</a:pPr>
            <a:r>
              <a:t/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91" name="Google Shape;191;p24"/>
          <p:cNvSpPr txBox="1"/>
          <p:nvPr>
            <p:ph idx="2" type="body"/>
          </p:nvPr>
        </p:nvSpPr>
        <p:spPr>
          <a:xfrm>
            <a:off x="4572000" y="1237075"/>
            <a:ext cx="3852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18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rPr>
              <a:t>Non-Functional</a:t>
            </a:r>
            <a:endParaRPr b="1" sz="1800">
              <a:solidFill>
                <a:schemeClr val="dk2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Usability and accessibility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Security of academic data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System performance and reliability</a:t>
            </a:r>
            <a:endParaRPr/>
          </a:p>
          <a:p>
            <a:pPr indent="-3175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Scalability for future use</a:t>
            </a:r>
            <a:endParaRPr/>
          </a:p>
          <a:p>
            <a:pPr indent="0" lvl="0" marL="139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92" name="Google Shape;19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5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Milestones</a:t>
            </a:r>
            <a:endParaRPr>
              <a:solidFill>
                <a:schemeClr val="lt2"/>
              </a:solidFill>
            </a:endParaRPr>
          </a:p>
        </p:txBody>
      </p:sp>
      <p:graphicFrame>
        <p:nvGraphicFramePr>
          <p:cNvPr id="199" name="Google Shape;199;p25"/>
          <p:cNvGraphicFramePr/>
          <p:nvPr/>
        </p:nvGraphicFramePr>
        <p:xfrm>
          <a:off x="719963" y="13135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4824800"/>
                <a:gridCol w="1498050"/>
                <a:gridCol w="1381125"/>
              </a:tblGrid>
              <a:tr h="34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Milestone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Start date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End date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Review system, gather requirements, literature review</a:t>
                      </a:r>
                      <a:endParaRPr b="1" i="0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6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Assessment + syllabus modules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7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9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8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CAR File generation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10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12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Admin dashboard view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13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15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Exam Scheduling + Collaboration features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16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19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Grade analytics view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20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23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Final Testing and debugging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24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27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Final report and presentation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28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Cairo"/>
                          <a:ea typeface="Cairo"/>
                          <a:cs typeface="Cairo"/>
                          <a:sym typeface="Cairo"/>
                        </a:rPr>
                        <a:t>Week 30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T="0" marB="0" marR="0" marL="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pic>
        <p:nvPicPr>
          <p:cNvPr id="200" name="Google Shape;20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Roles and Responsibilities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07" name="Google Shape;207;p26"/>
          <p:cNvSpPr txBox="1"/>
          <p:nvPr/>
        </p:nvSpPr>
        <p:spPr>
          <a:xfrm>
            <a:off x="554636" y="1234738"/>
            <a:ext cx="8379502" cy="353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69535"/>
                </a:solidFill>
                <a:latin typeface="Ubuntu"/>
                <a:ea typeface="Ubuntu"/>
                <a:cs typeface="Ubuntu"/>
                <a:sym typeface="Ubuntu"/>
              </a:rPr>
              <a:t>Jeeda Kotob </a:t>
            </a:r>
            <a:r>
              <a:rPr b="1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–</a:t>
            </a:r>
            <a:r>
              <a:rPr b="1" i="0" lang="en-US" sz="1400" u="none" cap="none" strike="noStrike">
                <a:solidFill>
                  <a:srgbClr val="0080B0"/>
                </a:solidFill>
                <a:latin typeface="Ubuntu"/>
                <a:ea typeface="Ubuntu"/>
                <a:cs typeface="Ubuntu"/>
                <a:sym typeface="Ubuntu"/>
              </a:rPr>
              <a:t> </a:t>
            </a:r>
            <a:r>
              <a:rPr b="1" i="0" lang="en-US" sz="1400" u="none" cap="none" strike="noStrik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rPr>
              <a:t>Full-Stack Developer </a:t>
            </a:r>
            <a:endParaRPr/>
          </a:p>
          <a:p>
            <a:pPr indent="-285750" lvl="3" marL="425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Develop and integrate backend and frontend features.</a:t>
            </a:r>
            <a:endParaRPr/>
          </a:p>
          <a:p>
            <a:pPr indent="-285750" lvl="3" marL="425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Manage project database and ensure reliable data handling.</a:t>
            </a:r>
            <a:endParaRPr/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69535"/>
                </a:solidFill>
                <a:latin typeface="Ubuntu"/>
                <a:ea typeface="Ubuntu"/>
                <a:cs typeface="Ubuntu"/>
                <a:sym typeface="Ubuntu"/>
              </a:rPr>
              <a:t>Ryma Ait Tayeb </a:t>
            </a:r>
            <a:r>
              <a:rPr b="1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–</a:t>
            </a:r>
            <a:r>
              <a:rPr b="1" i="0" lang="en-US" sz="1400" u="none" cap="none" strike="noStrike">
                <a:solidFill>
                  <a:srgbClr val="0080B0"/>
                </a:solidFill>
                <a:latin typeface="Ubuntu"/>
                <a:ea typeface="Ubuntu"/>
                <a:cs typeface="Ubuntu"/>
                <a:sym typeface="Ubuntu"/>
              </a:rPr>
              <a:t> </a:t>
            </a:r>
            <a:r>
              <a:rPr b="1" i="0" lang="en-US" sz="1400" u="none" cap="none" strike="noStrik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rPr>
              <a:t>Backend Developer </a:t>
            </a:r>
            <a:endParaRPr/>
          </a:p>
          <a:p>
            <a:pPr indent="-285750" lvl="0" marL="425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Implement backend features and application logic.</a:t>
            </a:r>
            <a:endParaRPr/>
          </a:p>
          <a:p>
            <a:pPr indent="-285750" lvl="0" marL="425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Maintain APIs and support integration with database.</a:t>
            </a:r>
            <a:endParaRPr/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69535"/>
                </a:solidFill>
                <a:latin typeface="Ubuntu"/>
                <a:ea typeface="Ubuntu"/>
                <a:cs typeface="Ubuntu"/>
                <a:sym typeface="Ubuntu"/>
              </a:rPr>
              <a:t>Ibraheem Mustafa </a:t>
            </a:r>
            <a:r>
              <a:rPr b="1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–</a:t>
            </a:r>
            <a:r>
              <a:rPr b="1" i="0" lang="en-US" sz="1400" u="none" cap="none" strike="noStrike">
                <a:solidFill>
                  <a:srgbClr val="0080B0"/>
                </a:solidFill>
                <a:latin typeface="Ubuntu"/>
                <a:ea typeface="Ubuntu"/>
                <a:cs typeface="Ubuntu"/>
                <a:sym typeface="Ubuntu"/>
              </a:rPr>
              <a:t> </a:t>
            </a:r>
            <a:r>
              <a:rPr b="1" i="0" lang="en-US" sz="1400" u="none" cap="none" strike="noStrik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rPr>
              <a:t>Frontend Developer </a:t>
            </a:r>
            <a:endParaRPr/>
          </a:p>
          <a:p>
            <a:pPr indent="-285750" lvl="0" marL="425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Implements frontend features and user interface components.</a:t>
            </a:r>
            <a:endParaRPr/>
          </a:p>
          <a:p>
            <a:pPr indent="-285750" lvl="0" marL="425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232325"/>
                </a:solidFill>
                <a:latin typeface="Ubuntu"/>
                <a:ea typeface="Ubuntu"/>
                <a:cs typeface="Ubuntu"/>
                <a:sym typeface="Ubuntu"/>
              </a:rPr>
              <a:t>Ensure smooth integration with backend services.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Conclusion 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15" name="Google Shape;215;p27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7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MyCourses serves students well but leave professors and admins underserved, with manual work requirements.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Literature shows gaps in reporting, usability, and managing instructor tasks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CourseGenie+ addresses these gaps by providing role-based dashboards with automated functionalities.</a:t>
            </a:r>
            <a:endParaRPr/>
          </a:p>
          <a:p>
            <a:pPr indent="-2857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Expected impact: reduce admin and instructor overhead, improve compliance, and enhance faculty productivity.</a:t>
            </a:r>
            <a:endParaRPr/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iro"/>
              <a:ea typeface="Cairo"/>
              <a:cs typeface="Cairo"/>
              <a:sym typeface="Cairo"/>
            </a:endParaRPr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iro"/>
              <a:ea typeface="Cairo"/>
              <a:cs typeface="Cairo"/>
              <a:sym typeface="Cairo"/>
            </a:endParaRPr>
          </a:p>
        </p:txBody>
      </p:sp>
      <p:pic>
        <p:nvPicPr>
          <p:cNvPr id="217" name="Google Shape;217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8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User Stories (1/3) - Professor Features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24" name="Google Shape;224;p28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8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graphicFrame>
        <p:nvGraphicFramePr>
          <p:cNvPr id="226" name="Google Shape;226;p28"/>
          <p:cNvGraphicFramePr/>
          <p:nvPr/>
        </p:nvGraphicFramePr>
        <p:xfrm>
          <a:off x="719963" y="13135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893025"/>
                <a:gridCol w="3429825"/>
              </a:tblGrid>
              <a:tr h="343000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 a Professor, the system features should allow me to: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Log in to the correct dashboard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Manage course calendar (drag &amp; drop assessments)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Generate and edit syllabus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professors teaching same course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8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Submit syllabus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Assign exam rooms to students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gradebook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Send automatic exam notifications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Grade color-highlighting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Download exam room assignment report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class performance statistics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Edit profile info (office hours, email, room)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Auto-generate CAR report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Map CLO–PLO 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pic>
        <p:nvPicPr>
          <p:cNvPr id="227" name="Google Shape;22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9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User Stories (2/3) - Administrator Features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9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graphicFrame>
        <p:nvGraphicFramePr>
          <p:cNvPr id="236" name="Google Shape;236;p29"/>
          <p:cNvGraphicFramePr/>
          <p:nvPr/>
        </p:nvGraphicFramePr>
        <p:xfrm>
          <a:off x="719963" y="13135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893025"/>
                <a:gridCol w="3429825"/>
              </a:tblGrid>
              <a:tr h="343000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 an Administrator, the system features should allow me to: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Admin dashboard access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Assign reviewer to reviewee and vice versa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Track syllabus submissions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Track peer review progress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8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Preview + download syllabus files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Initiate peer review workflow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Track CAR submissions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Automatic reminder emails (syllabus + CAR)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Preview + download CAR files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Create + configure course sections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pic>
        <p:nvPicPr>
          <p:cNvPr id="237" name="Google Shape;23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0"/>
          <p:cNvSpPr txBox="1"/>
          <p:nvPr>
            <p:ph type="title"/>
          </p:nvPr>
        </p:nvSpPr>
        <p:spPr>
          <a:xfrm>
            <a:off x="720000" y="540000"/>
            <a:ext cx="829762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User Stories (3/3) - Reviewer &amp; Reviewee Features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44" name="Google Shape;244;p30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0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graphicFrame>
        <p:nvGraphicFramePr>
          <p:cNvPr id="246" name="Google Shape;246;p30"/>
          <p:cNvGraphicFramePr/>
          <p:nvPr/>
        </p:nvGraphicFramePr>
        <p:xfrm>
          <a:off x="719963" y="13135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893025"/>
              </a:tblGrid>
              <a:tr h="34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 a Reviewer, the system features should allow me to: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assigned review tasks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Complete evaluation forms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8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Submit structured feedback</a:t>
                      </a:r>
                      <a:endParaRPr/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7" name="Google Shape;247;p30"/>
          <p:cNvGraphicFramePr/>
          <p:nvPr/>
        </p:nvGraphicFramePr>
        <p:xfrm>
          <a:off x="4571981" y="13135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2893025"/>
              </a:tblGrid>
              <a:tr h="34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As a Reviewee, the system features should allow me to: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5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View received feedback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69535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Submit reflection response</a:t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48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 sz="1400" u="none" cap="none" strike="noStrike">
                        <a:solidFill>
                          <a:srgbClr val="D69535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0" marB="0" marR="68575" marL="6857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pic>
        <p:nvPicPr>
          <p:cNvPr id="248" name="Google Shape;24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1"/>
          <p:cNvSpPr txBox="1"/>
          <p:nvPr>
            <p:ph type="title"/>
          </p:nvPr>
        </p:nvSpPr>
        <p:spPr>
          <a:xfrm>
            <a:off x="720000" y="540000"/>
            <a:ext cx="8713932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 Case: UC01 - User Login &amp; Dashboard Selection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55" name="Google Shape;255;p31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1"/>
          <p:cNvSpPr txBox="1"/>
          <p:nvPr/>
        </p:nvSpPr>
        <p:spPr>
          <a:xfrm>
            <a:off x="720000" y="1237200"/>
            <a:ext cx="7704000" cy="390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6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Goal:</a:t>
            </a:r>
            <a:endParaRPr b="0" i="0" sz="16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Direct user to correct dashboard based on role(s)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6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Actors:</a:t>
            </a:r>
            <a:endParaRPr b="0" i="0" sz="16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Professor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Admin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System (Authentication)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6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Main Flow:</a:t>
            </a:r>
            <a:endParaRPr b="0" i="0" sz="16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User enters credentials → System verifies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System checks user role(s)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If </a:t>
            </a:r>
            <a:r>
              <a:rPr b="1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one</a:t>
            </a: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 role → go directly to dashboard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If </a:t>
            </a:r>
            <a:r>
              <a:rPr b="1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multiple roles</a:t>
            </a: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 → show role selection popup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User chooses role → go to selected dashboard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6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Alternate / Exceptions:</a:t>
            </a:r>
            <a:endParaRPr b="0" i="0" sz="16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Invalid credentials will show an error message</a:t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257" name="Google Shape;25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 txBox="1"/>
          <p:nvPr>
            <p:ph type="title"/>
          </p:nvPr>
        </p:nvSpPr>
        <p:spPr>
          <a:xfrm>
            <a:off x="720000" y="540000"/>
            <a:ext cx="8713932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 Case: UC02 - CAR Preview &amp; Submission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64" name="Google Shape;264;p32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2"/>
          <p:cNvSpPr txBox="1"/>
          <p:nvPr/>
        </p:nvSpPr>
        <p:spPr>
          <a:xfrm>
            <a:off x="720000" y="1237200"/>
            <a:ext cx="7704000" cy="390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6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Goal:</a:t>
            </a:r>
            <a:endParaRPr b="0" i="0" sz="16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Allow professor to view, download, and submit auto-generated CAR)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6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Actors:</a:t>
            </a:r>
            <a:endParaRPr b="0" i="0" sz="16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Professor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System (Database)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6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Main Flow:</a:t>
            </a:r>
            <a:endParaRPr b="0" i="0" sz="16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Professor opens course section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Opens CAR Report tab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System generates CAR preview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Professor reviews preview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6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Alternate / Exceptions:</a:t>
            </a:r>
            <a:endParaRPr b="0" i="0" sz="16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If required data missing → system disables Submit and  shows error message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 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1397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266" name="Google Shape;26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3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Use Case Diagram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73" name="Google Shape;273;p33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3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descr="A diagram of a diagram&#10;&#10;AI-generated content may be incorrect." id="275" name="Google Shape;2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0000" y="1334375"/>
            <a:ext cx="5527255" cy="3673584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76" name="Google Shape;276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4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Gant Chart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83" name="Google Shape;283;p34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descr="A screenshot of a computer&#10;&#10;AI-generated content may be incorrect." id="285" name="Google Shape;28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1424" y="1261585"/>
            <a:ext cx="6615195" cy="3881915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86" name="Google Shape;286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8221638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5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Work Breakdown Structure (WBS)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93" name="Google Shape;293;p35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5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descr="A diagram with text and boxes&#10;&#10;AI-generated content may be incorrect." id="295" name="Google Shape;295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616" y="1334375"/>
            <a:ext cx="7411844" cy="3517394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96" name="Google Shape;296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6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RACI Matrix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03" name="Google Shape;303;p36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6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305" name="Google Shape;305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1387" y="1285343"/>
            <a:ext cx="7704000" cy="3747028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06" name="Google Shape;306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7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Risk Matrix (5×5)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13" name="Google Shape;313;p37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4" name="Google Shape;314;p37"/>
          <p:cNvGraphicFramePr/>
          <p:nvPr/>
        </p:nvGraphicFramePr>
        <p:xfrm>
          <a:off x="720000" y="132977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{FE487423-8152-41B6-B0DC-3F3956A23978}</a:tableStyleId>
              </a:tblPr>
              <a:tblGrid>
                <a:gridCol w="717225"/>
                <a:gridCol w="927100"/>
                <a:gridCol w="792150"/>
                <a:gridCol w="785175"/>
                <a:gridCol w="785175"/>
                <a:gridCol w="641725"/>
                <a:gridCol w="863800"/>
              </a:tblGrid>
              <a:tr h="365400">
                <a:tc gridSpan="7"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DB040"/>
                          </a:solidFill>
                          <a:latin typeface="Ubuntu"/>
                          <a:ea typeface="Ubuntu"/>
                          <a:cs typeface="Ubuntu"/>
                          <a:sym typeface="Ubuntu"/>
                        </a:rPr>
                        <a:t>Impact</a:t>
                      </a:r>
                      <a:endParaRPr b="1" sz="1200" u="none" cap="none" strike="noStrike">
                        <a:solidFill>
                          <a:srgbClr val="FDB040"/>
                        </a:solidFill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 hMerge="1"/>
                <a:tc hMerge="1"/>
                <a:tc hMerge="1"/>
                <a:tc hMerge="1"/>
                <a:tc hMerge="1"/>
                <a:tc hMerge="1"/>
              </a:tr>
              <a:tr h="612600">
                <a:tc rowSpan="6"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600"/>
                        <a:buFont typeface="Arial"/>
                        <a:buNone/>
                      </a:pPr>
                      <a:r>
                        <a:rPr lang="en-US" sz="6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</a:t>
                      </a:r>
                      <a:endParaRPr/>
                    </a:p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600"/>
                        <a:buFont typeface="Arial"/>
                        <a:buNone/>
                      </a:pPr>
                      <a:r>
                        <a:rPr lang="en-US" sz="6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</a:t>
                      </a:r>
                      <a:endParaRPr/>
                    </a:p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600"/>
                        <a:buFont typeface="Arial"/>
                        <a:buNone/>
                      </a:pPr>
                      <a:r>
                        <a:rPr lang="en-US" sz="6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</a:t>
                      </a:r>
                      <a:endParaRPr/>
                    </a:p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600"/>
                        <a:buFont typeface="Arial"/>
                        <a:buNone/>
                      </a:pPr>
                      <a:r>
                        <a:rPr lang="en-US" sz="6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</a:t>
                      </a:r>
                      <a:endParaRPr/>
                    </a:p>
                    <a:p>
                      <a:pPr indent="0" lvl="0" marL="88900" marR="88900" rtl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600"/>
                        <a:buFont typeface="Arial"/>
                        <a:buNone/>
                      </a:pPr>
                      <a:r>
                        <a:rPr lang="en-US" sz="6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</a:t>
                      </a:r>
                      <a:endParaRPr/>
                    </a:p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600"/>
                        <a:buFont typeface="Arial"/>
                        <a:buNone/>
                      </a:pPr>
                      <a:r>
                        <a:t/>
                      </a:r>
                      <a:endParaRPr b="1" sz="6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600"/>
                        <a:buFont typeface="Arial"/>
                        <a:buNone/>
                      </a:pPr>
                      <a:r>
                        <a:rPr lang="en-US" sz="6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 </a:t>
                      </a:r>
                      <a:endParaRPr sz="6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1 (Insignificant)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2</a:t>
                      </a:r>
                      <a:b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</a:b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(Minor)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3</a:t>
                      </a:r>
                      <a:b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</a:b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(Noticeable)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4</a:t>
                      </a:r>
                      <a:b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</a:b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(Major)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5</a:t>
                      </a:r>
                      <a:b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</a:b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(Critical)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</a:tr>
              <a:tr h="483025">
                <a:tc vMerge="1"/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5</a:t>
                      </a:r>
                      <a:b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</a:b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(Very High)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High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E98C0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High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E98C0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Critical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Critical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0000"/>
                    </a:solidFill>
                  </a:tcPr>
                </a:tc>
              </a:tr>
              <a:tr h="483025">
                <a:tc vMerge="1"/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4</a:t>
                      </a:r>
                      <a:b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</a:b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(High)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High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E98C0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High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E98C0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Critical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0000"/>
                    </a:solidFill>
                  </a:tcPr>
                </a:tc>
              </a:tr>
              <a:tr h="483025">
                <a:tc vMerge="1"/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3 </a:t>
                      </a:r>
                      <a:endParaRPr/>
                    </a:p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(Moderate)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Low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High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E98C0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High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E98C03"/>
                    </a:solidFill>
                  </a:tcPr>
                </a:tc>
              </a:tr>
              <a:tr h="483025">
                <a:tc vMerge="1"/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2</a:t>
                      </a:r>
                      <a:b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</a:b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 (Low)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Low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Low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High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E98C03"/>
                    </a:solidFill>
                  </a:tcPr>
                </a:tc>
              </a:tr>
              <a:tr h="456200">
                <a:tc vMerge="1"/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1</a:t>
                      </a:r>
                      <a:b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</a:br>
                      <a:r>
                        <a:rPr b="1" lang="en-US" sz="7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 (Very Low)</a:t>
                      </a:r>
                      <a:endParaRPr b="1" sz="7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/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Negligible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Low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Low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88900" marR="88900" rt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latin typeface="Ubuntu"/>
                          <a:ea typeface="Ubuntu"/>
                          <a:cs typeface="Ubuntu"/>
                          <a:sym typeface="Ubuntu"/>
                        </a:rPr>
                        <a:t>Medium</a:t>
                      </a:r>
                      <a:endParaRPr sz="800" u="none" cap="none" strike="noStrike">
                        <a:latin typeface="Ubuntu"/>
                        <a:ea typeface="Ubuntu"/>
                        <a:cs typeface="Ubuntu"/>
                        <a:sym typeface="Ubuntu"/>
                      </a:endParaRPr>
                    </a:p>
                  </a:txBody>
                  <a:tcPr marT="5725" marB="5725" marR="5725" marL="5725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37"/>
          <p:cNvSpPr txBox="1"/>
          <p:nvPr/>
        </p:nvSpPr>
        <p:spPr>
          <a:xfrm rot="-5400000">
            <a:off x="594777" y="2933899"/>
            <a:ext cx="100129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Likelihood</a:t>
            </a:r>
            <a:endParaRPr b="0" i="0" sz="1400" u="none" cap="none" strike="noStrike">
              <a:solidFill>
                <a:srgbClr val="FDB04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6" name="Google Shape;31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8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Project Risk Register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23" name="Google Shape;323;p38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8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96850" lvl="0" marL="4254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graphicFrame>
        <p:nvGraphicFramePr>
          <p:cNvPr id="325" name="Google Shape;325;p38"/>
          <p:cNvGraphicFramePr/>
          <p:nvPr/>
        </p:nvGraphicFramePr>
        <p:xfrm>
          <a:off x="355728" y="13150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{726D4ECC-2E9A-4D92-8BDE-3A10419CA156}</a:tableStyleId>
              </a:tblPr>
              <a:tblGrid>
                <a:gridCol w="3227575"/>
                <a:gridCol w="1449650"/>
                <a:gridCol w="3026775"/>
              </a:tblGrid>
              <a:tr h="28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Risk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Impact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Mitigation</a:t>
                      </a:r>
                      <a:endParaRPr/>
                    </a:p>
                  </a:txBody>
                  <a:tcPr marT="45725" marB="45725" marR="91450" marL="91450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0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Learning curve in Spring Boot / Angular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High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Learning sprints, pair programming, small prototype modules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0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Time constraints due to other courses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en-US" sz="14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Critical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Strict weekly sprint schedule; prioritize MVP features first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0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No access to MyCourses data/API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High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Run CourseGenie+ as standalone platform and allow manual import/export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0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Adoption resistance from professors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High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Simple UI, short training videos, early feedback loops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0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UI complexity causing confusion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Medium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Consistent layouts, tooltips, user testing with mentors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0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Data entry or selection errors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Medium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Validation fields, warnings, clear form guidance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0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Learning curve in Spring Boot / Angular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High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Learning sprints, pair programming, small prototype modules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Time constraints due to other courses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lang="en-US" sz="14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Critical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cap="none" strike="noStrike"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Strict weekly sprint schedule; prioritize MVP features first</a:t>
                      </a:r>
                      <a:endParaRPr/>
                    </a:p>
                  </a:txBody>
                  <a:tcPr marT="9525" marB="9525" marR="9525" marL="9525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pic>
        <p:nvPicPr>
          <p:cNvPr id="326" name="Google Shape;32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9"/>
          <p:cNvSpPr txBox="1"/>
          <p:nvPr/>
        </p:nvSpPr>
        <p:spPr>
          <a:xfrm>
            <a:off x="4539600" y="1366500"/>
            <a:ext cx="4604400" cy="2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Technical Resources</a:t>
            </a:r>
            <a:endParaRPr b="1" i="0" sz="1200" u="none" cap="none" strike="noStrike">
              <a:solidFill>
                <a:schemeClr val="dk2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Spring Boot – backend framework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Angular – frontend dashboards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MySQL – data storage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GitHub – version control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VS Code / IntelliJ / PlantUML – dev &amp; documentation tools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196850" lvl="0" marL="425450" marR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sp>
        <p:nvSpPr>
          <p:cNvPr id="333" name="Google Shape;333;p39"/>
          <p:cNvSpPr txBox="1"/>
          <p:nvPr/>
        </p:nvSpPr>
        <p:spPr>
          <a:xfrm>
            <a:off x="240775" y="1366500"/>
            <a:ext cx="4604400" cy="18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Human Resources</a:t>
            </a:r>
            <a:endParaRPr b="1" i="0" sz="1200" u="none" cap="none" strike="noStrike">
              <a:solidFill>
                <a:schemeClr val="dk2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Jeeda Kotob – Full-Stack (backend–frontend integration, DB)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Ryma Ait Tayeb – Backend (APIs, Spring Boot)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Ibraheem Mustafa – Frontend (Angular dashboards)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Mentors: Dr. Ali Assi &amp; Mr. Qusai Hasan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Stakeholder: Ms. Dezzil Castelino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Weekly mentor reviews &amp; sprint meetings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196850" lvl="0" marL="425450" marR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sp>
        <p:nvSpPr>
          <p:cNvPr id="334" name="Google Shape;334;p39"/>
          <p:cNvSpPr txBox="1"/>
          <p:nvPr/>
        </p:nvSpPr>
        <p:spPr>
          <a:xfrm>
            <a:off x="2890000" y="3255000"/>
            <a:ext cx="4604400" cy="18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Logistical Resources</a:t>
            </a:r>
            <a:endParaRPr b="1" i="0" sz="1200" u="none" cap="none" strike="noStrike">
              <a:solidFill>
                <a:schemeClr val="dk2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Personal / RIT laptops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Campus labs &amp; meeting rooms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Google Drive &amp; GitHub for collaboration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Ubuntu Condensed"/>
              <a:buChar char="●"/>
            </a:pPr>
            <a:r>
              <a:rPr b="0" i="0" lang="en-US" sz="12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Mentor feedback sessions</a:t>
            </a:r>
            <a:endParaRPr b="0" i="0" sz="12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0" lvl="0" marL="228600" marR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1" i="0" sz="11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sp>
        <p:nvSpPr>
          <p:cNvPr id="335" name="Google Shape;335;p39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Resource Planning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36" name="Google Shape;336;p39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7" name="Google Shape;33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0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Budget Overview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44" name="Google Shape;344;p40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40"/>
          <p:cNvSpPr txBox="1"/>
          <p:nvPr/>
        </p:nvSpPr>
        <p:spPr>
          <a:xfrm>
            <a:off x="720000" y="139582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Ubuntu Condensed"/>
              <a:buChar char="●"/>
            </a:pPr>
            <a:r>
              <a:rPr b="0" i="0" lang="en-US" sz="14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All tools = open-source or academic licenses</a:t>
            </a:r>
            <a:br>
              <a:rPr b="0" i="0" lang="en-US" sz="14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</a:br>
            <a:endParaRPr b="0" i="0" sz="14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Ubuntu Condensed"/>
              <a:buChar char="●"/>
            </a:pPr>
            <a:r>
              <a:rPr b="0" i="0" lang="en-US" sz="14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Infrastructure &amp; hosting = RIT provided</a:t>
            </a:r>
            <a:br>
              <a:rPr b="0" i="0" lang="en-US" sz="14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</a:br>
            <a:endParaRPr b="0" i="0" sz="14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Ubuntu Condensed"/>
              <a:buChar char="●"/>
            </a:pPr>
            <a:r>
              <a:rPr b="0" i="0" lang="en-US" sz="1400" u="none" cap="none" strike="noStrike">
                <a:solidFill>
                  <a:schemeClr val="hlink"/>
                </a:solidFill>
                <a:latin typeface="Ubuntu Condensed"/>
                <a:ea typeface="Ubuntu Condensed"/>
                <a:cs typeface="Ubuntu Condensed"/>
                <a:sym typeface="Ubuntu Condensed"/>
              </a:rPr>
              <a:t>Total Cost = 0 AED (University-supported)</a:t>
            </a:r>
            <a:endParaRPr b="0" i="0" sz="1400" u="none" cap="none" strike="noStrike">
              <a:solidFill>
                <a:schemeClr val="hlink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  <a:p>
            <a:pPr indent="0" lvl="0" marL="139700" marR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 Condensed"/>
              <a:ea typeface="Ubuntu Condensed"/>
              <a:cs typeface="Ubuntu Condensed"/>
              <a:sym typeface="Ubuntu Condensed"/>
            </a:endParaRPr>
          </a:p>
        </p:txBody>
      </p:sp>
      <p:pic>
        <p:nvPicPr>
          <p:cNvPr id="346" name="Google Shape;346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4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1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>
                <a:solidFill>
                  <a:schemeClr val="lt2"/>
                </a:solidFill>
              </a:rPr>
              <a:t>Initial Bill of Materials (BoM)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53" name="Google Shape;353;p41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4" name="Google Shape;354;p41"/>
          <p:cNvGraphicFramePr/>
          <p:nvPr/>
        </p:nvGraphicFramePr>
        <p:xfrm>
          <a:off x="47625" y="153923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{A75029E4-43CB-49BD-968D-FCFBB625835D}</a:tableStyleId>
              </a:tblPr>
              <a:tblGrid>
                <a:gridCol w="1809750"/>
                <a:gridCol w="1809750"/>
                <a:gridCol w="1809750"/>
                <a:gridCol w="1809750"/>
                <a:gridCol w="1809750"/>
              </a:tblGrid>
              <a:tr h="228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Category</a:t>
                      </a:r>
                      <a:endParaRPr b="1" sz="1800" u="none" cap="none" strike="noStrik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Component</a:t>
                      </a:r>
                      <a:endParaRPr b="1" sz="1800" u="none" cap="none" strike="noStrik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Source</a:t>
                      </a:r>
                      <a:endParaRPr b="1" sz="1800" u="none" cap="none" strike="noStrik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Purpose</a:t>
                      </a:r>
                      <a:endParaRPr b="1" sz="1800" u="none" cap="none" strike="noStrik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2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Cost</a:t>
                      </a:r>
                      <a:endParaRPr b="1" sz="1800" u="none" cap="none" strike="noStrike">
                        <a:solidFill>
                          <a:schemeClr val="lt2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Hardware</a:t>
                      </a:r>
                      <a:endParaRPr b="1" sz="1400" u="none" cap="none" strike="noStrik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Developer Laptops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Personal / RIT Dubai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Development &amp; testing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Provided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Software</a:t>
                      </a:r>
                      <a:endParaRPr b="1" sz="1400" u="none" cap="none" strike="noStrik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Spring Boot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Open Source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Backend framework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Software</a:t>
                      </a:r>
                      <a:endParaRPr b="1" sz="1400" u="none" cap="none" strike="noStrik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Angular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Open Source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Frontend UI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Database</a:t>
                      </a:r>
                      <a:endParaRPr b="1" sz="1400" u="none" cap="none" strike="noStrik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MySQL Server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Oracle Community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Data storage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Version Control</a:t>
                      </a:r>
                      <a:endParaRPr b="1" sz="1400" u="none" cap="none" strike="noStrik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GitHub (Education)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GitHub Education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Collaboration &amp; tracking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DB040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Design Tools</a:t>
                      </a:r>
                      <a:endParaRPr b="1" sz="1400" u="none" cap="none" strike="noStrike">
                        <a:solidFill>
                          <a:srgbClr val="FDB040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PlantUML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Open Source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Diagrams &amp; docs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>
                          <a:solidFill>
                            <a:schemeClr val="dk1"/>
                          </a:solidFill>
                          <a:latin typeface="Ubuntu Condensed"/>
                          <a:ea typeface="Ubuntu Condensed"/>
                          <a:cs typeface="Ubuntu Condensed"/>
                          <a:sym typeface="Ubuntu Condensed"/>
                        </a:rPr>
                        <a:t>Free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Ubuntu Condensed"/>
                        <a:ea typeface="Ubuntu Condensed"/>
                        <a:cs typeface="Ubuntu Condensed"/>
                        <a:sym typeface="Ubuntu Condensed"/>
                      </a:endParaRPr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355" name="Google Shape;35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4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2"/>
          <p:cNvSpPr txBox="1"/>
          <p:nvPr>
            <p:ph type="title"/>
          </p:nvPr>
        </p:nvSpPr>
        <p:spPr>
          <a:xfrm>
            <a:off x="720000" y="540000"/>
            <a:ext cx="77040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/>
              <a:t>Test Plan 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62" name="Google Shape;362;p42"/>
          <p:cNvSpPr/>
          <p:nvPr/>
        </p:nvSpPr>
        <p:spPr>
          <a:xfrm>
            <a:off x="805225" y="1148800"/>
            <a:ext cx="857400" cy="52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2"/>
          <p:cNvSpPr txBox="1"/>
          <p:nvPr/>
        </p:nvSpPr>
        <p:spPr>
          <a:xfrm>
            <a:off x="720000" y="1237075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4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Objective:</a:t>
            </a:r>
            <a:endParaRPr>
              <a:solidFill>
                <a:srgbClr val="FDB040"/>
              </a:solidFill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Verify that system features function correctly for both Professors and Admins.</a:t>
            </a:r>
            <a:endParaRPr/>
          </a:p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4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Testing Focus Areas:</a:t>
            </a:r>
            <a:endParaRPr b="0" i="0" sz="14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Login &amp; Authentication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Syllabus Generation &amp; Submission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CAR Report Generation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CLO–PLO Mapping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Peer Review Workflow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Exam Room Assignment &amp; Notifications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Gradebook &amp; Statistics Display</a:t>
            </a:r>
            <a:endParaRPr/>
          </a:p>
          <a:p>
            <a:pPr indent="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iro"/>
              <a:buNone/>
            </a:pPr>
            <a:r>
              <a:rPr b="1" i="0" lang="en-US" sz="1400" u="none" cap="none" strike="noStrike">
                <a:solidFill>
                  <a:srgbClr val="FDB040"/>
                </a:solidFill>
                <a:latin typeface="Ubuntu"/>
                <a:ea typeface="Ubuntu"/>
                <a:cs typeface="Ubuntu"/>
                <a:sym typeface="Ubuntu"/>
              </a:rPr>
              <a:t>Testing Method:</a:t>
            </a:r>
            <a:endParaRPr b="0" i="0" sz="1400" u="none" cap="none" strike="noStrike">
              <a:solidFill>
                <a:srgbClr val="FDB040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Manual functional testing per implemented feature</a:t>
            </a:r>
            <a:endParaRPr/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Pass/Fail tracking in structured test sheets</a:t>
            </a:r>
            <a:endParaRPr/>
          </a:p>
        </p:txBody>
      </p:sp>
      <p:pic>
        <p:nvPicPr>
          <p:cNvPr id="364" name="Google Shape;36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206275" y="4396325"/>
            <a:ext cx="618350" cy="8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4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mplementation of the 5S Technique Project Proposal by Slidesgo">
  <a:themeElements>
    <a:clrScheme name="Custom 2">
      <a:dk1>
        <a:srgbClr val="232325"/>
      </a:dk1>
      <a:lt1>
        <a:srgbClr val="EDEDED"/>
      </a:lt1>
      <a:dk2>
        <a:srgbClr val="FCB040"/>
      </a:dk2>
      <a:lt2>
        <a:srgbClr val="005475"/>
      </a:lt2>
      <a:accent1>
        <a:srgbClr val="00628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ACE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